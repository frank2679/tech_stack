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301" r:id="rId3"/>
    <p:sldId id="302" r:id="rId4"/>
    <p:sldId id="280" r:id="rId5"/>
    <p:sldId id="295" r:id="rId6"/>
    <p:sldId id="263" r:id="rId7"/>
    <p:sldId id="283" r:id="rId8"/>
    <p:sldId id="294" r:id="rId9"/>
    <p:sldId id="259" r:id="rId10"/>
    <p:sldId id="264" r:id="rId11"/>
    <p:sldId id="269" r:id="rId12"/>
    <p:sldId id="305" r:id="rId13"/>
    <p:sldId id="306" r:id="rId14"/>
    <p:sldId id="257" r:id="rId15"/>
    <p:sldId id="258" r:id="rId16"/>
    <p:sldId id="261" r:id="rId17"/>
    <p:sldId id="290" r:id="rId18"/>
    <p:sldId id="281" r:id="rId19"/>
    <p:sldId id="265" r:id="rId20"/>
    <p:sldId id="297" r:id="rId21"/>
    <p:sldId id="300" r:id="rId22"/>
    <p:sldId id="268" r:id="rId23"/>
    <p:sldId id="271" r:id="rId24"/>
    <p:sldId id="266" r:id="rId25"/>
    <p:sldId id="298" r:id="rId26"/>
    <p:sldId id="272" r:id="rId27"/>
    <p:sldId id="267" r:id="rId28"/>
    <p:sldId id="299" r:id="rId29"/>
    <p:sldId id="304" r:id="rId30"/>
    <p:sldId id="273" r:id="rId31"/>
    <p:sldId id="293" r:id="rId32"/>
    <p:sldId id="296" r:id="rId33"/>
    <p:sldId id="282" r:id="rId34"/>
    <p:sldId id="284" r:id="rId35"/>
    <p:sldId id="288" r:id="rId36"/>
    <p:sldId id="311" r:id="rId37"/>
    <p:sldId id="286" r:id="rId38"/>
    <p:sldId id="262" r:id="rId39"/>
    <p:sldId id="308" r:id="rId40"/>
    <p:sldId id="315" r:id="rId41"/>
    <p:sldId id="310" r:id="rId42"/>
    <p:sldId id="314" r:id="rId43"/>
    <p:sldId id="291" r:id="rId44"/>
    <p:sldId id="303" r:id="rId45"/>
    <p:sldId id="289"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854CF-062D-56E4-5C64-9BC2FA5CA9BA}" v="3312" dt="2020-07-24T06:55:46.428"/>
    <p1510:client id="{214508E4-180A-D72E-DD27-7D0B8F05C1DC}" v="141" dt="2020-07-21T01:31:29.876"/>
    <p1510:client id="{320BAFDA-0782-C2B4-1D0C-056AB058BD56}" v="8" dt="2020-07-20T09:10:34.356"/>
    <p1510:client id="{5698120B-D303-80A0-ADBC-C6C35A281792}" v="790" dt="2020-07-17T06:22:56.034"/>
    <p1510:client id="{61A8779B-CC0E-DEF4-B2F3-3782DFE8B5FB}" v="2497" dt="2020-07-21T07:50:25.662"/>
    <p1510:client id="{73875296-9359-204E-B356-1AB5BE3F3332}" v="1046" dt="2020-07-16T08:00:51.670"/>
    <p1510:client id="{99743286-5F3C-449E-2E8B-DA7304DEB485}" v="2701" dt="2020-07-21T06:31:47.693"/>
    <p1510:client id="{C6DFE912-9A69-86D2-A334-C7B0C93530B9}" v="1820" dt="2020-07-17T11:22:47.611"/>
    <p1510:client id="{D14D7149-4B19-7361-1ED7-E3DB92749546}" v="2407" dt="2020-07-17T09:46:29.808"/>
    <p1510:client id="{DB6FF2E2-77C8-3993-08B6-648BE8A2948B}" v="184" dt="2020-07-20T12:50:53.802"/>
    <p1510:client id="{E5215A61-7284-432E-FF20-D50D334D3F7E}" v="540" dt="2020-07-20T09:09:57.934"/>
    <p1510:client id="{EDE17BD8-538A-4CF6-B877-0A58A59D9D1D}" v="3" dt="2020-07-15T12:47:45.082"/>
    <p1510:client id="{FB9E46F4-7F4A-DAC9-D340-39B74D8B2294}" v="1809" dt="2020-07-16T10:26:00.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536985-3094-46D5-9E4D-46A569A69767}" type="datetimeFigureOut">
              <a:rPr lang="en-US" altLang="zh-CN"/>
              <a:t>7/23/2020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8E9CA-D5A5-443D-9B5F-0BBFD3A6A9A1}" type="slidenum">
              <a:rPr lang="en-US" altLang="zh-CN"/>
              <a:t>‹#›</a:t>
            </a:fld>
            <a:endParaRPr lang="zh-CN" altLang="en-US"/>
          </a:p>
        </p:txBody>
      </p:sp>
    </p:spTree>
    <p:extLst>
      <p:ext uri="{BB962C8B-B14F-4D97-AF65-F5344CB8AC3E}">
        <p14:creationId xmlns:p14="http://schemas.microsoft.com/office/powerpoint/2010/main" val="394052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atin typeface="Calibri"/>
                <a:cs typeface="Calibri"/>
              </a:rPr>
              <a:t>Without looking at specific MLPs and embeddings.</a:t>
            </a:r>
            <a:endParaRPr lang="en-US" altLang="zh-CN">
              <a:latin typeface="Calibri"/>
              <a:cs typeface="Calibri"/>
            </a:endParaRPr>
          </a:p>
        </p:txBody>
      </p:sp>
      <p:sp>
        <p:nvSpPr>
          <p:cNvPr id="4" name="灯片编号占位符 3"/>
          <p:cNvSpPr>
            <a:spLocks noGrp="1"/>
          </p:cNvSpPr>
          <p:nvPr>
            <p:ph type="sldNum" sz="quarter" idx="5"/>
          </p:nvPr>
        </p:nvSpPr>
        <p:spPr/>
        <p:txBody>
          <a:bodyPr/>
          <a:lstStyle/>
          <a:p>
            <a:fld id="{05D8E9CA-D5A5-443D-9B5F-0BBFD3A6A9A1}" type="slidenum">
              <a:rPr lang="en-US" altLang="zh-CN"/>
              <a:t>5</a:t>
            </a:fld>
            <a:endParaRPr lang="zh-CN" altLang="en-US"/>
          </a:p>
        </p:txBody>
      </p:sp>
    </p:spTree>
    <p:extLst>
      <p:ext uri="{BB962C8B-B14F-4D97-AF65-F5344CB8AC3E}">
        <p14:creationId xmlns:p14="http://schemas.microsoft.com/office/powerpoint/2010/main" val="1026038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6</a:t>
            </a:fld>
            <a:endParaRPr lang="zh-CN" altLang="en-US"/>
          </a:p>
        </p:txBody>
      </p:sp>
    </p:spTree>
    <p:extLst>
      <p:ext uri="{BB962C8B-B14F-4D97-AF65-F5344CB8AC3E}">
        <p14:creationId xmlns:p14="http://schemas.microsoft.com/office/powerpoint/2010/main" val="641721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7</a:t>
            </a:fld>
            <a:endParaRPr lang="zh-CN" altLang="en-US"/>
          </a:p>
        </p:txBody>
      </p:sp>
    </p:spTree>
    <p:extLst>
      <p:ext uri="{BB962C8B-B14F-4D97-AF65-F5344CB8AC3E}">
        <p14:creationId xmlns:p14="http://schemas.microsoft.com/office/powerpoint/2010/main" val="645948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8</a:t>
            </a:fld>
            <a:endParaRPr lang="zh-CN" altLang="en-US"/>
          </a:p>
        </p:txBody>
      </p:sp>
    </p:spTree>
    <p:extLst>
      <p:ext uri="{BB962C8B-B14F-4D97-AF65-F5344CB8AC3E}">
        <p14:creationId xmlns:p14="http://schemas.microsoft.com/office/powerpoint/2010/main" val="437827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atin typeface="Calibri"/>
                <a:cs typeface="Calibri"/>
              </a:rPr>
              <a:t>Continuous = dense, categorical = sparse</a:t>
            </a:r>
          </a:p>
        </p:txBody>
      </p:sp>
      <p:sp>
        <p:nvSpPr>
          <p:cNvPr id="4" name="灯片编号占位符 3"/>
          <p:cNvSpPr>
            <a:spLocks noGrp="1"/>
          </p:cNvSpPr>
          <p:nvPr>
            <p:ph type="sldNum" sz="quarter" idx="5"/>
          </p:nvPr>
        </p:nvSpPr>
        <p:spPr/>
        <p:txBody>
          <a:bodyPr/>
          <a:lstStyle/>
          <a:p>
            <a:fld id="{05D8E9CA-D5A5-443D-9B5F-0BBFD3A6A9A1}" type="slidenum">
              <a:rPr lang="en-US" altLang="zh-CN"/>
              <a:t>9</a:t>
            </a:fld>
            <a:endParaRPr lang="zh-CN" altLang="en-US"/>
          </a:p>
        </p:txBody>
      </p:sp>
    </p:spTree>
    <p:extLst>
      <p:ext uri="{BB962C8B-B14F-4D97-AF65-F5344CB8AC3E}">
        <p14:creationId xmlns:p14="http://schemas.microsoft.com/office/powerpoint/2010/main" val="3375828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atin typeface="Calibri"/>
                <a:cs typeface="Calibri"/>
              </a:rPr>
              <a:t>Replicating MLPs for each device</a:t>
            </a:r>
            <a:endParaRPr lang="en-US" altLang="zh-CN">
              <a:latin typeface="Calibri"/>
              <a:cs typeface="Calibri"/>
            </a:endParaRPr>
          </a:p>
        </p:txBody>
      </p:sp>
      <p:sp>
        <p:nvSpPr>
          <p:cNvPr id="4" name="灯片编号占位符 3"/>
          <p:cNvSpPr>
            <a:spLocks noGrp="1"/>
          </p:cNvSpPr>
          <p:nvPr>
            <p:ph type="sldNum" sz="quarter" idx="5"/>
          </p:nvPr>
        </p:nvSpPr>
        <p:spPr/>
        <p:txBody>
          <a:bodyPr/>
          <a:lstStyle/>
          <a:p>
            <a:fld id="{05D8E9CA-D5A5-443D-9B5F-0BBFD3A6A9A1}" type="slidenum">
              <a:rPr lang="en-US" altLang="zh-CN"/>
              <a:t>14</a:t>
            </a:fld>
            <a:endParaRPr lang="zh-CN" altLang="en-US"/>
          </a:p>
        </p:txBody>
      </p:sp>
    </p:spTree>
    <p:extLst>
      <p:ext uri="{BB962C8B-B14F-4D97-AF65-F5344CB8AC3E}">
        <p14:creationId xmlns:p14="http://schemas.microsoft.com/office/powerpoint/2010/main" val="2725222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atin typeface="Calibri"/>
                <a:cs typeface="Calibri"/>
              </a:rPr>
              <a:t>Each device has the entire MLP model</a:t>
            </a:r>
            <a:endParaRPr lang="en-US" altLang="zh-CN">
              <a:latin typeface="Calibri"/>
              <a:cs typeface="Calibri"/>
            </a:endParaRPr>
          </a:p>
        </p:txBody>
      </p:sp>
      <p:sp>
        <p:nvSpPr>
          <p:cNvPr id="4" name="灯片编号占位符 3"/>
          <p:cNvSpPr>
            <a:spLocks noGrp="1"/>
          </p:cNvSpPr>
          <p:nvPr>
            <p:ph type="sldNum" sz="quarter" idx="5"/>
          </p:nvPr>
        </p:nvSpPr>
        <p:spPr/>
        <p:txBody>
          <a:bodyPr/>
          <a:lstStyle/>
          <a:p>
            <a:fld id="{05D8E9CA-D5A5-443D-9B5F-0BBFD3A6A9A1}" type="slidenum">
              <a:rPr lang="en-US" altLang="zh-CN"/>
              <a:t>16</a:t>
            </a:fld>
            <a:endParaRPr lang="zh-CN" altLang="en-US"/>
          </a:p>
        </p:txBody>
      </p:sp>
    </p:spTree>
    <p:extLst>
      <p:ext uri="{BB962C8B-B14F-4D97-AF65-F5344CB8AC3E}">
        <p14:creationId xmlns:p14="http://schemas.microsoft.com/office/powerpoint/2010/main" val="3794745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17</a:t>
            </a:fld>
            <a:endParaRPr lang="zh-CN" altLang="en-US"/>
          </a:p>
        </p:txBody>
      </p:sp>
    </p:spTree>
    <p:extLst>
      <p:ext uri="{BB962C8B-B14F-4D97-AF65-F5344CB8AC3E}">
        <p14:creationId xmlns:p14="http://schemas.microsoft.com/office/powerpoint/2010/main" val="1138614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18</a:t>
            </a:fld>
            <a:endParaRPr lang="zh-CN" altLang="en-US"/>
          </a:p>
        </p:txBody>
      </p:sp>
    </p:spTree>
    <p:extLst>
      <p:ext uri="{BB962C8B-B14F-4D97-AF65-F5344CB8AC3E}">
        <p14:creationId xmlns:p14="http://schemas.microsoft.com/office/powerpoint/2010/main" val="33758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err="1">
                <a:latin typeface="Calibri"/>
                <a:cs typeface="Calibri"/>
              </a:rPr>
              <a:t>i</a:t>
            </a:r>
            <a:r>
              <a:rPr lang="en-US">
                <a:latin typeface="Calibri"/>
                <a:cs typeface="Calibri"/>
              </a:rPr>
              <a:t> in [0, </a:t>
            </a:r>
            <a:r>
              <a:rPr lang="en-US" err="1">
                <a:latin typeface="Calibri"/>
                <a:cs typeface="Calibri"/>
              </a:rPr>
              <a:t>numEmbedding</a:t>
            </a:r>
            <a:r>
              <a:rPr lang="en-US">
                <a:latin typeface="Calibri"/>
                <a:cs typeface="Calibri"/>
              </a:rPr>
              <a:t>), get </a:t>
            </a:r>
            <a:r>
              <a:rPr lang="en-US" err="1">
                <a:latin typeface="Calibri"/>
                <a:cs typeface="Calibri"/>
              </a:rPr>
              <a:t>embedding_dim</a:t>
            </a:r>
            <a:r>
              <a:rPr lang="en-US">
                <a:latin typeface="Calibri"/>
                <a:cs typeface="Calibri"/>
              </a:rPr>
              <a:t> size vector</a:t>
            </a:r>
            <a:endParaRPr lang="en-US" altLang="zh-CN">
              <a:latin typeface="Calibri"/>
              <a:cs typeface="Calibri"/>
            </a:endParaRPr>
          </a:p>
        </p:txBody>
      </p:sp>
      <p:sp>
        <p:nvSpPr>
          <p:cNvPr id="4" name="灯片编号占位符 3"/>
          <p:cNvSpPr>
            <a:spLocks noGrp="1"/>
          </p:cNvSpPr>
          <p:nvPr>
            <p:ph type="sldNum" sz="quarter" idx="5"/>
          </p:nvPr>
        </p:nvSpPr>
        <p:spPr/>
        <p:txBody>
          <a:bodyPr/>
          <a:lstStyle/>
          <a:p>
            <a:fld id="{05D8E9CA-D5A5-443D-9B5F-0BBFD3A6A9A1}" type="slidenum">
              <a:rPr lang="en-US" altLang="zh-CN"/>
              <a:t>19</a:t>
            </a:fld>
            <a:endParaRPr lang="zh-CN" altLang="en-US"/>
          </a:p>
        </p:txBody>
      </p:sp>
    </p:spTree>
    <p:extLst>
      <p:ext uri="{BB962C8B-B14F-4D97-AF65-F5344CB8AC3E}">
        <p14:creationId xmlns:p14="http://schemas.microsoft.com/office/powerpoint/2010/main" val="406848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ea typeface="等线"/>
              </a:rPr>
              <a:t> </a:t>
            </a:r>
            <a:r>
              <a:rPr lang="en-US" err="1"/>
              <a:t>i</a:t>
            </a:r>
            <a:r>
              <a:rPr lang="en-US"/>
              <a:t> in [0, </a:t>
            </a:r>
            <a:r>
              <a:rPr lang="en-US" err="1"/>
              <a:t>numEmbedding</a:t>
            </a:r>
            <a:r>
              <a:rPr lang="en-US"/>
              <a:t>), get </a:t>
            </a:r>
            <a:r>
              <a:rPr lang="en-US" err="1"/>
              <a:t>embedding_dim</a:t>
            </a:r>
            <a:r>
              <a:rPr lang="en-US"/>
              <a:t> size vector, no Flag</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22</a:t>
            </a:fld>
            <a:endParaRPr lang="zh-CN" altLang="en-US"/>
          </a:p>
        </p:txBody>
      </p:sp>
    </p:spTree>
    <p:extLst>
      <p:ext uri="{BB962C8B-B14F-4D97-AF65-F5344CB8AC3E}">
        <p14:creationId xmlns:p14="http://schemas.microsoft.com/office/powerpoint/2010/main" val="1637737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err="1"/>
              <a:t>i</a:t>
            </a:r>
            <a:r>
              <a:rPr lang="en-US"/>
              <a:t> in [0, </a:t>
            </a:r>
            <a:r>
              <a:rPr lang="en-US" err="1"/>
              <a:t>numEmbedding</a:t>
            </a:r>
            <a:r>
              <a:rPr lang="en-US"/>
              <a:t>), get </a:t>
            </a:r>
            <a:r>
              <a:rPr lang="en-US" err="1"/>
              <a:t>embedding_dim</a:t>
            </a:r>
            <a:r>
              <a:rPr lang="en-US"/>
              <a:t> size vector</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23</a:t>
            </a:fld>
            <a:endParaRPr lang="zh-CN" altLang="en-US"/>
          </a:p>
        </p:txBody>
      </p:sp>
    </p:spTree>
    <p:extLst>
      <p:ext uri="{BB962C8B-B14F-4D97-AF65-F5344CB8AC3E}">
        <p14:creationId xmlns:p14="http://schemas.microsoft.com/office/powerpoint/2010/main" val="3025841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ea typeface="等线"/>
              </a:rPr>
              <a:t>i</a:t>
            </a:r>
            <a:r>
              <a:rPr lang="en-US" altLang="zh-CN">
                <a:ea typeface="等线"/>
              </a:rPr>
              <a:t> in [0, </a:t>
            </a:r>
            <a:r>
              <a:rPr lang="en-US" altLang="zh-CN" err="1">
                <a:ea typeface="等线"/>
              </a:rPr>
              <a:t>numEmbedding</a:t>
            </a:r>
            <a:r>
              <a:rPr lang="en-US" altLang="zh-CN">
                <a:ea typeface="等线"/>
              </a:rPr>
              <a:t>), get </a:t>
            </a:r>
            <a:r>
              <a:rPr lang="en-US" altLang="zh-CN" err="1">
                <a:ea typeface="等线"/>
              </a:rPr>
              <a:t>embedding_dim</a:t>
            </a:r>
            <a:r>
              <a:rPr lang="en-US" altLang="zh-CN">
                <a:ea typeface="等线"/>
              </a:rPr>
              <a:t> size vector, MD Flag</a:t>
            </a:r>
          </a:p>
          <a:p>
            <a:r>
              <a:rPr lang="en-US"/>
              <a:t>Unique parameters are highlighted</a:t>
            </a:r>
          </a:p>
        </p:txBody>
      </p:sp>
      <p:sp>
        <p:nvSpPr>
          <p:cNvPr id="4" name="灯片编号占位符 3"/>
          <p:cNvSpPr>
            <a:spLocks noGrp="1"/>
          </p:cNvSpPr>
          <p:nvPr>
            <p:ph type="sldNum" sz="quarter" idx="5"/>
          </p:nvPr>
        </p:nvSpPr>
        <p:spPr/>
        <p:txBody>
          <a:bodyPr/>
          <a:lstStyle/>
          <a:p>
            <a:fld id="{05D8E9CA-D5A5-443D-9B5F-0BBFD3A6A9A1}" type="slidenum">
              <a:rPr lang="en-US" altLang="zh-CN"/>
              <a:t>24</a:t>
            </a:fld>
            <a:endParaRPr lang="zh-CN" altLang="en-US"/>
          </a:p>
        </p:txBody>
      </p:sp>
    </p:spTree>
    <p:extLst>
      <p:ext uri="{BB962C8B-B14F-4D97-AF65-F5344CB8AC3E}">
        <p14:creationId xmlns:p14="http://schemas.microsoft.com/office/powerpoint/2010/main" val="1954321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Unique parameters are highlighted</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25</a:t>
            </a:fld>
            <a:endParaRPr lang="zh-CN" altLang="en-US"/>
          </a:p>
        </p:txBody>
      </p:sp>
    </p:spTree>
    <p:extLst>
      <p:ext uri="{BB962C8B-B14F-4D97-AF65-F5344CB8AC3E}">
        <p14:creationId xmlns:p14="http://schemas.microsoft.com/office/powerpoint/2010/main" val="108968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t>i</a:t>
            </a:r>
            <a:r>
              <a:rPr lang="en-US" altLang="zh-CN"/>
              <a:t> in [0, </a:t>
            </a:r>
            <a:r>
              <a:rPr lang="en-US" altLang="zh-CN" err="1"/>
              <a:t>numEmbedding</a:t>
            </a:r>
            <a:r>
              <a:rPr lang="en-US" altLang="zh-CN"/>
              <a:t>), get </a:t>
            </a:r>
            <a:r>
              <a:rPr lang="en-US" altLang="zh-CN" err="1"/>
              <a:t>embedding_dim</a:t>
            </a:r>
            <a:r>
              <a:rPr lang="en-US" altLang="zh-CN"/>
              <a:t> size vector</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26</a:t>
            </a:fld>
            <a:endParaRPr lang="zh-CN" altLang="en-US"/>
          </a:p>
        </p:txBody>
      </p:sp>
    </p:spTree>
    <p:extLst>
      <p:ext uri="{BB962C8B-B14F-4D97-AF65-F5344CB8AC3E}">
        <p14:creationId xmlns:p14="http://schemas.microsoft.com/office/powerpoint/2010/main" val="2505102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ea typeface="等线"/>
              </a:rPr>
              <a:t>i</a:t>
            </a:r>
            <a:r>
              <a:rPr lang="en-US" altLang="zh-CN">
                <a:ea typeface="等线"/>
              </a:rPr>
              <a:t> in [0, </a:t>
            </a:r>
            <a:r>
              <a:rPr lang="en-US" altLang="zh-CN" err="1">
                <a:ea typeface="等线"/>
              </a:rPr>
              <a:t>numEmbedding</a:t>
            </a:r>
            <a:r>
              <a:rPr lang="en-US" altLang="zh-CN">
                <a:ea typeface="等线"/>
              </a:rPr>
              <a:t>), get </a:t>
            </a:r>
            <a:r>
              <a:rPr lang="en-US" altLang="zh-CN" err="1">
                <a:ea typeface="等线"/>
              </a:rPr>
              <a:t>embedding_dim</a:t>
            </a:r>
            <a:r>
              <a:rPr lang="en-US" altLang="zh-CN">
                <a:ea typeface="等线"/>
              </a:rPr>
              <a:t> size vector, </a:t>
            </a:r>
            <a:endParaRPr lang="zh-CN" altLang="en-US">
              <a:ea typeface="等线"/>
            </a:endParaRPr>
          </a:p>
          <a:p>
            <a:r>
              <a:rPr lang="en-US" altLang="zh-CN">
                <a:ea typeface="等线"/>
              </a:rPr>
              <a:t>QR Flag, </a:t>
            </a:r>
            <a:endParaRPr lang="zh-CN" altLang="en-US">
              <a:ea typeface="等线"/>
            </a:endParaRPr>
          </a:p>
          <a:p>
            <a:r>
              <a:rPr lang="en-US" altLang="zh-CN" err="1">
                <a:ea typeface="等线"/>
              </a:rPr>
              <a:t>QREmbeddingBag</a:t>
            </a:r>
            <a:r>
              <a:rPr lang="en-US" altLang="zh-CN">
                <a:ea typeface="等线"/>
              </a:rPr>
              <a:t> less efficient, two bags, only better when </a:t>
            </a:r>
            <a:r>
              <a:rPr lang="en-US" altLang="zh-CN" err="1">
                <a:ea typeface="等线"/>
              </a:rPr>
              <a:t>num_categories</a:t>
            </a:r>
            <a:r>
              <a:rPr lang="en-US" altLang="zh-CN">
                <a:ea typeface="等线"/>
              </a:rPr>
              <a:t> is large.</a:t>
            </a:r>
          </a:p>
          <a:p>
            <a:r>
              <a:rPr lang="en-US" altLang="zh-CN">
                <a:ea typeface="等线"/>
              </a:rPr>
              <a:t>&gt;QR threshold means an advantage of </a:t>
            </a:r>
            <a:r>
              <a:rPr lang="en-US" altLang="zh-CN" err="1">
                <a:ea typeface="等线"/>
              </a:rPr>
              <a:t>QREmbeddingBag</a:t>
            </a:r>
            <a:r>
              <a:rPr lang="en-US" altLang="zh-CN">
                <a:ea typeface="等线"/>
              </a:rPr>
              <a:t> over </a:t>
            </a:r>
            <a:r>
              <a:rPr lang="en-US" altLang="zh-CN" err="1">
                <a:ea typeface="等线"/>
              </a:rPr>
              <a:t>nn.EmbeddingBag</a:t>
            </a:r>
            <a:r>
              <a:rPr lang="en-US" altLang="zh-CN">
                <a:ea typeface="等线"/>
              </a:rPr>
              <a:t>. </a:t>
            </a:r>
            <a:endParaRPr lang="zh-CN" altLang="en-US">
              <a:ea typeface="等线"/>
            </a:endParaRPr>
          </a:p>
          <a:p>
            <a:r>
              <a:rPr lang="en-US"/>
              <a:t>Unique parameters are highlighted</a:t>
            </a:r>
          </a:p>
        </p:txBody>
      </p:sp>
      <p:sp>
        <p:nvSpPr>
          <p:cNvPr id="4" name="灯片编号占位符 3"/>
          <p:cNvSpPr>
            <a:spLocks noGrp="1"/>
          </p:cNvSpPr>
          <p:nvPr>
            <p:ph type="sldNum" sz="quarter" idx="5"/>
          </p:nvPr>
        </p:nvSpPr>
        <p:spPr/>
        <p:txBody>
          <a:bodyPr/>
          <a:lstStyle/>
          <a:p>
            <a:fld id="{05D8E9CA-D5A5-443D-9B5F-0BBFD3A6A9A1}" type="slidenum">
              <a:rPr lang="en-US" altLang="zh-CN"/>
              <a:t>27</a:t>
            </a:fld>
            <a:endParaRPr lang="zh-CN" altLang="en-US"/>
          </a:p>
        </p:txBody>
      </p:sp>
    </p:spTree>
    <p:extLst>
      <p:ext uri="{BB962C8B-B14F-4D97-AF65-F5344CB8AC3E}">
        <p14:creationId xmlns:p14="http://schemas.microsoft.com/office/powerpoint/2010/main" val="1439486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Unique parameters are highlighted</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28</a:t>
            </a:fld>
            <a:endParaRPr lang="zh-CN" altLang="en-US"/>
          </a:p>
        </p:txBody>
      </p:sp>
    </p:spTree>
    <p:extLst>
      <p:ext uri="{BB962C8B-B14F-4D97-AF65-F5344CB8AC3E}">
        <p14:creationId xmlns:p14="http://schemas.microsoft.com/office/powerpoint/2010/main" val="1508533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ea typeface="等线"/>
              </a:rPr>
              <a:t>i</a:t>
            </a:r>
            <a:r>
              <a:rPr lang="en-US" altLang="zh-CN">
                <a:ea typeface="等线"/>
              </a:rPr>
              <a:t> in [0, </a:t>
            </a:r>
            <a:r>
              <a:rPr lang="en-US" altLang="zh-CN" err="1">
                <a:ea typeface="等线"/>
              </a:rPr>
              <a:t>numEmbedding</a:t>
            </a:r>
            <a:r>
              <a:rPr lang="en-US" altLang="zh-CN">
                <a:ea typeface="等线"/>
              </a:rPr>
              <a:t>), get </a:t>
            </a:r>
            <a:r>
              <a:rPr lang="en-US" altLang="zh-CN" err="1">
                <a:ea typeface="等线"/>
              </a:rPr>
              <a:t>embedding_dim</a:t>
            </a:r>
            <a:r>
              <a:rPr lang="en-US" altLang="zh-CN">
                <a:ea typeface="等线"/>
              </a:rPr>
              <a:t> size vector.</a:t>
            </a:r>
          </a:p>
          <a:p>
            <a:r>
              <a:rPr lang="en-US" altLang="zh-CN" err="1">
                <a:ea typeface="等线"/>
              </a:rPr>
              <a:t>num_categories</a:t>
            </a:r>
            <a:r>
              <a:rPr lang="en-US" altLang="zh-CN">
                <a:ea typeface="等线"/>
              </a:rPr>
              <a:t> all smaller than 200</a:t>
            </a:r>
          </a:p>
          <a:p>
            <a:endParaRPr lang="en-US" altLang="zh-CN">
              <a:ea typeface="等线"/>
            </a:endParaRPr>
          </a:p>
        </p:txBody>
      </p:sp>
      <p:sp>
        <p:nvSpPr>
          <p:cNvPr id="4" name="灯片编号占位符 3"/>
          <p:cNvSpPr>
            <a:spLocks noGrp="1"/>
          </p:cNvSpPr>
          <p:nvPr>
            <p:ph type="sldNum" sz="quarter" idx="5"/>
          </p:nvPr>
        </p:nvSpPr>
        <p:spPr/>
        <p:txBody>
          <a:bodyPr/>
          <a:lstStyle/>
          <a:p>
            <a:fld id="{05D8E9CA-D5A5-443D-9B5F-0BBFD3A6A9A1}" type="slidenum">
              <a:rPr lang="en-US" altLang="zh-CN"/>
              <a:t>30</a:t>
            </a:fld>
            <a:endParaRPr lang="zh-CN" altLang="en-US"/>
          </a:p>
        </p:txBody>
      </p:sp>
    </p:spTree>
    <p:extLst>
      <p:ext uri="{BB962C8B-B14F-4D97-AF65-F5344CB8AC3E}">
        <p14:creationId xmlns:p14="http://schemas.microsoft.com/office/powerpoint/2010/main" val="2396745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32</a:t>
            </a:fld>
            <a:endParaRPr lang="zh-CN" altLang="en-US"/>
          </a:p>
        </p:txBody>
      </p:sp>
    </p:spTree>
    <p:extLst>
      <p:ext uri="{BB962C8B-B14F-4D97-AF65-F5344CB8AC3E}">
        <p14:creationId xmlns:p14="http://schemas.microsoft.com/office/powerpoint/2010/main" val="3782960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ea typeface="等线"/>
              </a:rPr>
              <a:t>Continuous = dense, categorical = sparse,</a:t>
            </a:r>
            <a:endParaRPr lang="zh-CN" altLang="en-US">
              <a:ea typeface="等线" panose="02010600030101010101" pitchFamily="2" charset="-122"/>
            </a:endParaRPr>
          </a:p>
          <a:p>
            <a:r>
              <a:rPr lang="en-US" altLang="zh-CN">
                <a:ea typeface="等线"/>
              </a:rPr>
              <a:t>Straightforward Interactive features</a:t>
            </a:r>
          </a:p>
        </p:txBody>
      </p:sp>
      <p:sp>
        <p:nvSpPr>
          <p:cNvPr id="4" name="灯片编号占位符 3"/>
          <p:cNvSpPr>
            <a:spLocks noGrp="1"/>
          </p:cNvSpPr>
          <p:nvPr>
            <p:ph type="sldNum" sz="quarter" idx="5"/>
          </p:nvPr>
        </p:nvSpPr>
        <p:spPr/>
        <p:txBody>
          <a:bodyPr/>
          <a:lstStyle/>
          <a:p>
            <a:fld id="{05D8E9CA-D5A5-443D-9B5F-0BBFD3A6A9A1}" type="slidenum">
              <a:rPr lang="en-US" altLang="zh-CN"/>
              <a:t>33</a:t>
            </a:fld>
            <a:endParaRPr lang="zh-CN" altLang="en-US"/>
          </a:p>
        </p:txBody>
      </p:sp>
    </p:spTree>
    <p:extLst>
      <p:ext uri="{BB962C8B-B14F-4D97-AF65-F5344CB8AC3E}">
        <p14:creationId xmlns:p14="http://schemas.microsoft.com/office/powerpoint/2010/main" val="3067412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36</a:t>
            </a:fld>
            <a:endParaRPr lang="zh-CN" altLang="en-US"/>
          </a:p>
        </p:txBody>
      </p:sp>
    </p:spTree>
    <p:extLst>
      <p:ext uri="{BB962C8B-B14F-4D97-AF65-F5344CB8AC3E}">
        <p14:creationId xmlns:p14="http://schemas.microsoft.com/office/powerpoint/2010/main" val="3554532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37</a:t>
            </a:fld>
            <a:endParaRPr lang="zh-CN" altLang="en-US"/>
          </a:p>
        </p:txBody>
      </p:sp>
    </p:spTree>
    <p:extLst>
      <p:ext uri="{BB962C8B-B14F-4D97-AF65-F5344CB8AC3E}">
        <p14:creationId xmlns:p14="http://schemas.microsoft.com/office/powerpoint/2010/main" val="1708429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Continuous = dense, categorical = sparse</a:t>
            </a:r>
            <a:endParaRPr lang="zh-CN"/>
          </a:p>
        </p:txBody>
      </p:sp>
      <p:sp>
        <p:nvSpPr>
          <p:cNvPr id="4" name="灯片编号占位符 3"/>
          <p:cNvSpPr>
            <a:spLocks noGrp="1"/>
          </p:cNvSpPr>
          <p:nvPr>
            <p:ph type="sldNum" sz="quarter" idx="5"/>
          </p:nvPr>
        </p:nvSpPr>
        <p:spPr/>
        <p:txBody>
          <a:bodyPr/>
          <a:lstStyle/>
          <a:p>
            <a:fld id="{05D8E9CA-D5A5-443D-9B5F-0BBFD3A6A9A1}" type="slidenum">
              <a:rPr lang="en-US" altLang="zh-CN"/>
              <a:t>39</a:t>
            </a:fld>
            <a:endParaRPr lang="zh-CN" altLang="en-US"/>
          </a:p>
        </p:txBody>
      </p:sp>
    </p:spTree>
    <p:extLst>
      <p:ext uri="{BB962C8B-B14F-4D97-AF65-F5344CB8AC3E}">
        <p14:creationId xmlns:p14="http://schemas.microsoft.com/office/powerpoint/2010/main" val="818559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80508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07401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407052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18870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4068082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418719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120056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153261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39004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577302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7288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17B11-CCD8-4EEC-AD7E-F410C1454966}" type="datetimeFigureOut">
              <a:rPr lang="zh-CN" altLang="en-US" smtClean="0"/>
              <a:t>2020/7/23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2563146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facebookresearch/dlrm" TargetMode="External"/><Relationship Id="rId2" Type="http://schemas.openxmlformats.org/officeDocument/2006/relationships/hyperlink" Target="https://arxiv.org/pdf/1906.00091.pdf" TargetMode="External"/><Relationship Id="rId1" Type="http://schemas.openxmlformats.org/officeDocument/2006/relationships/slideLayout" Target="../slideLayouts/slideLayout2.xml"/><Relationship Id="rId4" Type="http://schemas.openxmlformats.org/officeDocument/2006/relationships/hyperlink" Target="https://github.com/facebookresearch/dlrm/blob/master/README.m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ea typeface="宋体"/>
                <a:cs typeface="Calibri Light"/>
              </a:rPr>
              <a:t>DLRM: Forward</a:t>
            </a:r>
            <a:endParaRPr lang="zh-CN" altLang="en-US"/>
          </a:p>
        </p:txBody>
      </p:sp>
      <p:sp>
        <p:nvSpPr>
          <p:cNvPr id="3" name="副标题 2"/>
          <p:cNvSpPr>
            <a:spLocks noGrp="1"/>
          </p:cNvSpPr>
          <p:nvPr>
            <p:ph type="subTitle" idx="1"/>
          </p:nvPr>
        </p:nvSpPr>
        <p:spPr/>
        <p:txBody>
          <a:bodyPr vert="horz" lIns="91440" tIns="45720" rIns="91440" bIns="45720" rtlCol="0" anchor="t">
            <a:normAutofit/>
          </a:bodyPr>
          <a:lstStyle/>
          <a:p>
            <a:r>
              <a:rPr lang="zh-CN" altLang="en-US">
                <a:ea typeface="宋体"/>
                <a:cs typeface="Calibri"/>
              </a:rPr>
              <a:t>Greg Teng</a:t>
            </a:r>
            <a:endParaRPr lang="zh-CN" altLang="en-US"/>
          </a:p>
        </p:txBody>
      </p:sp>
    </p:spTree>
    <p:extLst>
      <p:ext uri="{BB962C8B-B14F-4D97-AF65-F5344CB8AC3E}">
        <p14:creationId xmlns:p14="http://schemas.microsoft.com/office/powerpoint/2010/main" val="70308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38065-A465-421E-9132-50FCB13D4D06}"/>
              </a:ext>
            </a:extLst>
          </p:cNvPr>
          <p:cNvSpPr>
            <a:spLocks noGrp="1"/>
          </p:cNvSpPr>
          <p:nvPr>
            <p:ph type="title"/>
          </p:nvPr>
        </p:nvSpPr>
        <p:spPr/>
        <p:txBody>
          <a:bodyPr/>
          <a:lstStyle/>
          <a:p>
            <a:r>
              <a:rPr lang="zh-CN" altLang="en-US">
                <a:ea typeface="宋体"/>
                <a:cs typeface="Calibri Light"/>
              </a:rPr>
              <a:t>What is DLRM?</a:t>
            </a:r>
          </a:p>
        </p:txBody>
      </p:sp>
      <p:sp>
        <p:nvSpPr>
          <p:cNvPr id="3" name="内容占位符 2">
            <a:extLst>
              <a:ext uri="{FF2B5EF4-FFF2-40B4-BE49-F238E27FC236}">
                <a16:creationId xmlns:a16="http://schemas.microsoft.com/office/drawing/2014/main" id="{BDB6DF79-BAFF-4825-8523-F756405E2E3C}"/>
              </a:ext>
            </a:extLst>
          </p:cNvPr>
          <p:cNvSpPr>
            <a:spLocks noGrp="1"/>
          </p:cNvSpPr>
          <p:nvPr>
            <p:ph idx="1"/>
          </p:nvPr>
        </p:nvSpPr>
        <p:spPr/>
        <p:txBody>
          <a:bodyPr vert="horz" lIns="91440" tIns="45720" rIns="91440" bIns="45720" rtlCol="0" anchor="t">
            <a:normAutofit/>
          </a:bodyPr>
          <a:lstStyle/>
          <a:p>
            <a:r>
              <a:rPr lang="en-US" altLang="zh-CN">
                <a:ea typeface="+mn-lt"/>
                <a:cs typeface="+mn-lt"/>
              </a:rPr>
              <a:t>DLRM</a:t>
            </a:r>
            <a:r>
              <a:rPr lang="zh-CN">
                <a:ea typeface="+mn-lt"/>
                <a:cs typeface="+mn-lt"/>
              </a:rPr>
              <a:t> </a:t>
            </a:r>
            <a:r>
              <a:rPr lang="en-US" altLang="zh-CN">
                <a:ea typeface="+mn-lt"/>
                <a:cs typeface="+mn-lt"/>
              </a:rPr>
              <a:t>s</a:t>
            </a:r>
            <a:r>
              <a:rPr lang="zh-CN">
                <a:ea typeface="+mn-lt"/>
                <a:cs typeface="+mn-lt"/>
              </a:rPr>
              <a:t>tan</a:t>
            </a:r>
            <a:r>
              <a:rPr lang="en-US" altLang="zh-CN">
                <a:ea typeface="+mn-lt"/>
                <a:cs typeface="+mn-lt"/>
              </a:rPr>
              <a:t>ds</a:t>
            </a:r>
            <a:r>
              <a:rPr lang="zh-CN">
                <a:ea typeface="+mn-lt"/>
                <a:cs typeface="+mn-lt"/>
              </a:rPr>
              <a:t> </a:t>
            </a:r>
            <a:r>
              <a:rPr lang="en-US" altLang="zh-CN">
                <a:ea typeface="+mn-lt"/>
                <a:cs typeface="+mn-lt"/>
              </a:rPr>
              <a:t>f</a:t>
            </a:r>
            <a:r>
              <a:rPr lang="zh-CN">
                <a:ea typeface="+mn-lt"/>
                <a:cs typeface="+mn-lt"/>
              </a:rPr>
              <a:t>o</a:t>
            </a:r>
            <a:r>
              <a:rPr lang="en-US" altLang="zh-CN">
                <a:ea typeface="+mn-lt"/>
                <a:cs typeface="+mn-lt"/>
              </a:rPr>
              <a:t>r</a:t>
            </a:r>
            <a:r>
              <a:rPr lang="zh-CN">
                <a:ea typeface="+mn-lt"/>
                <a:cs typeface="+mn-lt"/>
              </a:rPr>
              <a:t> deep learning recommendation model</a:t>
            </a:r>
            <a:r>
              <a:rPr lang="en-US" altLang="zh-CN">
                <a:ea typeface="+mn-lt"/>
                <a:cs typeface="+mn-lt"/>
              </a:rPr>
              <a:t>. It is made public by Facebook. Recommendation models like such are employed in internet companies in variable tasks such as ad click through rate prediction, and DLRM is the latest of this type. The DLRM model incorporates both categorical features and continuous features, making it a best model so far.</a:t>
            </a:r>
            <a:endParaRPr lang="en-US" altLang="zh-CN">
              <a:ea typeface="宋体"/>
              <a:cs typeface="Calibri"/>
            </a:endParaRPr>
          </a:p>
          <a:p>
            <a:endParaRPr lang="en-US" altLang="zh-CN">
              <a:ea typeface="宋体"/>
              <a:cs typeface="Calibri"/>
            </a:endParaRPr>
          </a:p>
          <a:p>
            <a:endParaRPr lang="zh-CN">
              <a:ea typeface="+mn-lt"/>
              <a:cs typeface="+mn-lt"/>
            </a:endParaRPr>
          </a:p>
        </p:txBody>
      </p:sp>
      <p:pic>
        <p:nvPicPr>
          <p:cNvPr id="4" name="图片 4" descr="图片包含 游戏机, 画&#10;&#10;已自动生成说明">
            <a:extLst>
              <a:ext uri="{FF2B5EF4-FFF2-40B4-BE49-F238E27FC236}">
                <a16:creationId xmlns:a16="http://schemas.microsoft.com/office/drawing/2014/main" id="{9F8FCF14-4E24-4102-92A9-F761A9D9442F}"/>
              </a:ext>
            </a:extLst>
          </p:cNvPr>
          <p:cNvPicPr>
            <a:picLocks noChangeAspect="1"/>
          </p:cNvPicPr>
          <p:nvPr/>
        </p:nvPicPr>
        <p:blipFill>
          <a:blip r:embed="rId2"/>
          <a:stretch>
            <a:fillRect/>
          </a:stretch>
        </p:blipFill>
        <p:spPr>
          <a:xfrm>
            <a:off x="8817120" y="4649066"/>
            <a:ext cx="1859106" cy="1369868"/>
          </a:xfrm>
          <a:prstGeom prst="rect">
            <a:avLst/>
          </a:prstGeom>
        </p:spPr>
      </p:pic>
    </p:spTree>
    <p:extLst>
      <p:ext uri="{BB962C8B-B14F-4D97-AF65-F5344CB8AC3E}">
        <p14:creationId xmlns:p14="http://schemas.microsoft.com/office/powerpoint/2010/main" val="1654015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72E20B-2058-43FA-A46B-80F7127C38F2}"/>
              </a:ext>
            </a:extLst>
          </p:cNvPr>
          <p:cNvSpPr>
            <a:spLocks noGrp="1"/>
          </p:cNvSpPr>
          <p:nvPr>
            <p:ph type="title"/>
          </p:nvPr>
        </p:nvSpPr>
        <p:spPr/>
        <p:txBody>
          <a:bodyPr/>
          <a:lstStyle/>
          <a:p>
            <a:r>
              <a:rPr lang="zh-CN" altLang="en-US">
                <a:ea typeface="宋体"/>
                <a:cs typeface="Calibri Light"/>
              </a:rPr>
              <a:t>Summary of DLRM model in words</a:t>
            </a:r>
          </a:p>
        </p:txBody>
      </p:sp>
      <p:sp>
        <p:nvSpPr>
          <p:cNvPr id="3" name="内容占位符 2">
            <a:extLst>
              <a:ext uri="{FF2B5EF4-FFF2-40B4-BE49-F238E27FC236}">
                <a16:creationId xmlns:a16="http://schemas.microsoft.com/office/drawing/2014/main" id="{51B88154-2F9B-4AA6-BB6D-C4F446DC8417}"/>
              </a:ext>
            </a:extLst>
          </p:cNvPr>
          <p:cNvSpPr>
            <a:spLocks noGrp="1"/>
          </p:cNvSpPr>
          <p:nvPr>
            <p:ph idx="1"/>
          </p:nvPr>
        </p:nvSpPr>
        <p:spPr>
          <a:xfrm>
            <a:off x="838200" y="1825625"/>
            <a:ext cx="10515600" cy="1982211"/>
          </a:xfrm>
        </p:spPr>
        <p:txBody>
          <a:bodyPr vert="horz" lIns="91440" tIns="45720" rIns="91440" bIns="45720" rtlCol="0" anchor="t">
            <a:normAutofit lnSpcReduction="10000"/>
          </a:bodyPr>
          <a:lstStyle/>
          <a:p>
            <a:r>
              <a:rPr lang="zh-CN">
                <a:ea typeface="+mn-lt"/>
                <a:cs typeface="+mn-lt"/>
              </a:rPr>
              <a:t>The </a:t>
            </a:r>
            <a:r>
              <a:rPr lang="en-US" altLang="zh-CN">
                <a:ea typeface="+mn-lt"/>
                <a:cs typeface="+mn-lt"/>
              </a:rPr>
              <a:t>DLRM</a:t>
            </a:r>
            <a:r>
              <a:rPr lang="zh-CN" altLang="en-US">
                <a:ea typeface="+mn-lt"/>
                <a:cs typeface="+mn-lt"/>
              </a:rPr>
              <a:t> </a:t>
            </a:r>
            <a:r>
              <a:rPr lang="zh-CN">
                <a:ea typeface="+mn-lt"/>
                <a:cs typeface="+mn-lt"/>
              </a:rPr>
              <a:t>model input consists of dense and sparse features. The former is a vector of floating point values. The latter is a list of sparse indices into embedding tables, which consist of vectors of floating point values. The selected vectors are passed to mlp networks, in some cases the vectors are interacted through </a:t>
            </a:r>
            <a:r>
              <a:rPr lang="en-US" altLang="zh-CN">
                <a:ea typeface="+mn-lt"/>
                <a:cs typeface="+mn-lt"/>
              </a:rPr>
              <a:t>interactive</a:t>
            </a:r>
            <a:r>
              <a:rPr lang="zh-CN" altLang="en-US">
                <a:ea typeface="+mn-lt"/>
                <a:cs typeface="+mn-lt"/>
              </a:rPr>
              <a:t> </a:t>
            </a:r>
            <a:r>
              <a:rPr lang="zh-CN">
                <a:ea typeface="+mn-lt"/>
                <a:cs typeface="+mn-lt"/>
              </a:rPr>
              <a:t>operators.</a:t>
            </a:r>
            <a:endParaRPr lang="zh-CN" altLang="en-US">
              <a:ea typeface="宋体" panose="02010600030101010101" pitchFamily="2" charset="-122"/>
              <a:cs typeface="+mn-lt"/>
            </a:endParaRPr>
          </a:p>
          <a:p>
            <a:endParaRPr lang="zh-CN" altLang="en-US">
              <a:cs typeface="Calibri"/>
            </a:endParaRPr>
          </a:p>
        </p:txBody>
      </p:sp>
    </p:spTree>
    <p:extLst>
      <p:ext uri="{BB962C8B-B14F-4D97-AF65-F5344CB8AC3E}">
        <p14:creationId xmlns:p14="http://schemas.microsoft.com/office/powerpoint/2010/main" val="318745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1AC60-C511-46B6-9FED-21DACF75DD9B}"/>
              </a:ext>
            </a:extLst>
          </p:cNvPr>
          <p:cNvSpPr>
            <a:spLocks noGrp="1"/>
          </p:cNvSpPr>
          <p:nvPr>
            <p:ph type="title"/>
          </p:nvPr>
        </p:nvSpPr>
        <p:spPr/>
        <p:txBody>
          <a:bodyPr/>
          <a:lstStyle/>
          <a:p>
            <a:r>
              <a:rPr lang="zh-CN" altLang="en-US">
                <a:ea typeface="宋体"/>
                <a:cs typeface="Calibri Light"/>
              </a:rPr>
              <a:t>DLRM forward types</a:t>
            </a:r>
          </a:p>
        </p:txBody>
      </p:sp>
      <p:sp>
        <p:nvSpPr>
          <p:cNvPr id="3" name="内容占位符 2">
            <a:extLst>
              <a:ext uri="{FF2B5EF4-FFF2-40B4-BE49-F238E27FC236}">
                <a16:creationId xmlns:a16="http://schemas.microsoft.com/office/drawing/2014/main" id="{580C200A-D530-4B25-A122-F30DAAA83878}"/>
              </a:ext>
            </a:extLst>
          </p:cNvPr>
          <p:cNvSpPr>
            <a:spLocks noGrp="1"/>
          </p:cNvSpPr>
          <p:nvPr>
            <p:ph idx="1"/>
          </p:nvPr>
        </p:nvSpPr>
        <p:spPr/>
        <p:txBody>
          <a:bodyPr vert="horz" lIns="91440" tIns="45720" rIns="91440" bIns="45720" rtlCol="0" anchor="t">
            <a:normAutofit/>
          </a:bodyPr>
          <a:lstStyle/>
          <a:p>
            <a:r>
              <a:rPr lang="zh-CN" altLang="en-US">
                <a:ea typeface="宋体"/>
                <a:cs typeface="Calibri"/>
              </a:rPr>
              <a:t>1. Sequential Forward (bot_l/emb=&gt;interact_features=&gt;top_l=&gt;clamping)</a:t>
            </a:r>
            <a:endParaRPr lang="zh-CN" altLang="en-US">
              <a:ea typeface="宋体" panose="02010600030101010101" pitchFamily="2" charset="-122"/>
              <a:cs typeface="Calibri"/>
            </a:endParaRPr>
          </a:p>
          <a:p>
            <a:r>
              <a:rPr lang="zh-CN" altLang="en-US">
                <a:ea typeface="宋体"/>
                <a:cs typeface="Calibri"/>
              </a:rPr>
              <a:t>2. Parrellel Forward</a:t>
            </a:r>
          </a:p>
        </p:txBody>
      </p:sp>
    </p:spTree>
    <p:extLst>
      <p:ext uri="{BB962C8B-B14F-4D97-AF65-F5344CB8AC3E}">
        <p14:creationId xmlns:p14="http://schemas.microsoft.com/office/powerpoint/2010/main" val="98479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C65F250-FB2A-4815-8D2C-E220D5AD61D0}"/>
              </a:ext>
            </a:extLst>
          </p:cNvPr>
          <p:cNvSpPr>
            <a:spLocks noGrp="1"/>
          </p:cNvSpPr>
          <p:nvPr>
            <p:ph idx="1"/>
          </p:nvPr>
        </p:nvSpPr>
        <p:spPr/>
        <p:txBody>
          <a:bodyPr vert="horz" lIns="91440" tIns="45720" rIns="91440" bIns="45720" rtlCol="0" anchor="t">
            <a:normAutofit/>
          </a:bodyPr>
          <a:lstStyle/>
          <a:p>
            <a:r>
              <a:rPr lang="zh-CN" altLang="en-US">
                <a:ea typeface="宋体"/>
                <a:cs typeface="Calibri"/>
              </a:rPr>
              <a:t>How does Parallelism work on DLRM?</a:t>
            </a:r>
            <a:endParaRPr lang="zh-CN" altLang="en-US"/>
          </a:p>
        </p:txBody>
      </p:sp>
    </p:spTree>
    <p:extLst>
      <p:ext uri="{BB962C8B-B14F-4D97-AF65-F5344CB8AC3E}">
        <p14:creationId xmlns:p14="http://schemas.microsoft.com/office/powerpoint/2010/main" val="415664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endParaRPr lang="zh-CN" altLang="en-US"/>
          </a:p>
        </p:txBody>
      </p:sp>
      <p:grpSp>
        <p:nvGrpSpPr>
          <p:cNvPr id="19" name="组合 18">
            <a:extLst>
              <a:ext uri="{FF2B5EF4-FFF2-40B4-BE49-F238E27FC236}">
                <a16:creationId xmlns:a16="http://schemas.microsoft.com/office/drawing/2014/main" id="{87029EA6-BFB0-42BD-AEFA-020524CF3085}"/>
              </a:ext>
            </a:extLst>
          </p:cNvPr>
          <p:cNvGrpSpPr/>
          <p:nvPr/>
        </p:nvGrpSpPr>
        <p:grpSpPr>
          <a:xfrm>
            <a:off x="259976" y="1977427"/>
            <a:ext cx="11201014" cy="3716638"/>
            <a:chOff x="259976" y="1977427"/>
            <a:chExt cx="11201014" cy="3716638"/>
          </a:xfrm>
        </p:grpSpPr>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43487A17-0583-4A9C-9D6B-F7030EA88E4F}"/>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433940" y="2718417"/>
              <a:ext cx="2377809" cy="67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40DA9D7E-1C74-455B-A35A-1F93961A3B18}"/>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CBB98E72-5281-4B6D-A2EC-B15BCC3399C4}"/>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56" name="矩形 55">
              <a:extLst>
                <a:ext uri="{FF2B5EF4-FFF2-40B4-BE49-F238E27FC236}">
                  <a16:creationId xmlns:a16="http://schemas.microsoft.com/office/drawing/2014/main" id="{CD8FF997-E264-408B-AC37-52EC8687A9CC}"/>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57" name="矩形 56">
              <a:extLst>
                <a:ext uri="{FF2B5EF4-FFF2-40B4-BE49-F238E27FC236}">
                  <a16:creationId xmlns:a16="http://schemas.microsoft.com/office/drawing/2014/main" id="{9F631CD1-E8A8-4D21-A866-047F51299867}"/>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7CEE3C00-D37D-4BA4-ACF7-826560188078}"/>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61" name="椭圆 60">
              <a:extLst>
                <a:ext uri="{FF2B5EF4-FFF2-40B4-BE49-F238E27FC236}">
                  <a16:creationId xmlns:a16="http://schemas.microsoft.com/office/drawing/2014/main" id="{9B137915-A8B9-498E-BB5F-EFD0E8134278}"/>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186308" y="4427242"/>
              <a:ext cx="2177948" cy="342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箭头: 下 3">
              <a:extLst>
                <a:ext uri="{FF2B5EF4-FFF2-40B4-BE49-F238E27FC236}">
                  <a16:creationId xmlns:a16="http://schemas.microsoft.com/office/drawing/2014/main" id="{0713BE33-2019-4995-AF9C-274C7F16F575}"/>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28ED2A3-BF37-4D6B-B227-94F44C547645}"/>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sp>
          <p:nvSpPr>
            <p:cNvPr id="6" name="矩形 5">
              <a:extLst>
                <a:ext uri="{FF2B5EF4-FFF2-40B4-BE49-F238E27FC236}">
                  <a16:creationId xmlns:a16="http://schemas.microsoft.com/office/drawing/2014/main" id="{03CCFBDB-2F42-4FF0-B0E1-ADCCD020F750}"/>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8" name="矩形 7">
              <a:extLst>
                <a:ext uri="{FF2B5EF4-FFF2-40B4-BE49-F238E27FC236}">
                  <a16:creationId xmlns:a16="http://schemas.microsoft.com/office/drawing/2014/main" id="{E0C2F51D-7626-48C4-829F-C2E34589A465}"/>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0" name="矩形 9">
              <a:extLst>
                <a:ext uri="{FF2B5EF4-FFF2-40B4-BE49-F238E27FC236}">
                  <a16:creationId xmlns:a16="http://schemas.microsoft.com/office/drawing/2014/main" id="{DFD273BE-9F34-4CA5-AED4-10F6CEEC34A6}"/>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1" name="椭圆 10">
              <a:extLst>
                <a:ext uri="{FF2B5EF4-FFF2-40B4-BE49-F238E27FC236}">
                  <a16:creationId xmlns:a16="http://schemas.microsoft.com/office/drawing/2014/main" id="{2CCF8CA8-F5F1-41A7-BBFE-8FB36AC93D18}"/>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12" name="椭圆 11">
              <a:extLst>
                <a:ext uri="{FF2B5EF4-FFF2-40B4-BE49-F238E27FC236}">
                  <a16:creationId xmlns:a16="http://schemas.microsoft.com/office/drawing/2014/main" id="{49799435-0F5A-435B-B9E4-043E46C83904}"/>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sp>
          <p:nvSpPr>
            <p:cNvPr id="9" name="矩形 8">
              <a:extLst>
                <a:ext uri="{FF2B5EF4-FFF2-40B4-BE49-F238E27FC236}">
                  <a16:creationId xmlns:a16="http://schemas.microsoft.com/office/drawing/2014/main" id="{7D1C695B-FB1E-4248-947E-33590016719C}"/>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13" name="直接箭头连接符 12">
              <a:extLst>
                <a:ext uri="{FF2B5EF4-FFF2-40B4-BE49-F238E27FC236}">
                  <a16:creationId xmlns:a16="http://schemas.microsoft.com/office/drawing/2014/main" id="{5745B741-C2B9-48E4-9DED-B2A4EC704D0E}"/>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1E992D0-A3A0-4344-ACB0-C6025565B856}"/>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AA4075F9-C986-4D1D-A3AD-9DA2ED9D4129}"/>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1B383607-9018-46C9-9444-5B20E1E7E2B6}"/>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3442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Operations of X_i on device D_i</a:t>
            </a:r>
            <a:endParaRPr lang="zh-CN" altLang="en-US"/>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grpSp>
        <p:nvGrpSpPr>
          <p:cNvPr id="8" name="组合 7">
            <a:extLst>
              <a:ext uri="{FF2B5EF4-FFF2-40B4-BE49-F238E27FC236}">
                <a16:creationId xmlns:a16="http://schemas.microsoft.com/office/drawing/2014/main" id="{E1DE5D37-66CA-4FD3-AA44-405BCED8FA47}"/>
              </a:ext>
            </a:extLst>
          </p:cNvPr>
          <p:cNvGrpSpPr/>
          <p:nvPr/>
        </p:nvGrpSpPr>
        <p:grpSpPr>
          <a:xfrm>
            <a:off x="770982" y="1383766"/>
            <a:ext cx="10825198" cy="4921043"/>
            <a:chOff x="770982" y="1383766"/>
            <a:chExt cx="10825198" cy="4921043"/>
          </a:xfrm>
        </p:grpSpPr>
        <p:sp>
          <p:nvSpPr>
            <p:cNvPr id="7" name="矩形 6">
              <a:extLst>
                <a:ext uri="{FF2B5EF4-FFF2-40B4-BE49-F238E27FC236}">
                  <a16:creationId xmlns:a16="http://schemas.microsoft.com/office/drawing/2014/main" id="{C26F206D-15A9-40FE-ADFB-5FF136EBC144}"/>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396734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11" name="矩形 10">
              <a:extLst>
                <a:ext uri="{FF2B5EF4-FFF2-40B4-BE49-F238E27FC236}">
                  <a16:creationId xmlns:a16="http://schemas.microsoft.com/office/drawing/2014/main" id="{93E22AD1-1026-45BE-A655-36D45CCD651C}"/>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18" name="直接箭头连接符 17">
              <a:extLst>
                <a:ext uri="{FF2B5EF4-FFF2-40B4-BE49-F238E27FC236}">
                  <a16:creationId xmlns:a16="http://schemas.microsoft.com/office/drawing/2014/main" id="{8ECA5FD8-1116-441B-91DA-4FF914CA43DC}"/>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DE5F8696-94D2-465F-A3ED-25726C158DFA}"/>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29" name="直接箭头连接符 28">
              <a:extLst>
                <a:ext uri="{FF2B5EF4-FFF2-40B4-BE49-F238E27FC236}">
                  <a16:creationId xmlns:a16="http://schemas.microsoft.com/office/drawing/2014/main" id="{DA7E1839-2D75-46B1-8434-263B1EF5DAE5}"/>
                </a:ext>
              </a:extLst>
            </p:cNvPr>
            <p:cNvCxnSpPr>
              <a:cxnSpLocks/>
            </p:cNvCxnSpPr>
            <p:nvPr/>
          </p:nvCxnSpPr>
          <p:spPr>
            <a:xfrm flipH="1">
              <a:off x="9325114" y="2132495"/>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97F551F-EA1E-4B7A-ACCF-1DBB4AC369F0}"/>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24" name="直接箭头连接符 23">
              <a:extLst>
                <a:ext uri="{FF2B5EF4-FFF2-40B4-BE49-F238E27FC236}">
                  <a16:creationId xmlns:a16="http://schemas.microsoft.com/office/drawing/2014/main" id="{FCFC6C12-A406-44F3-8D4E-3A22992F1BDA}"/>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8E153D6F-DA97-4EED-B543-50D0B4EAD26B}"/>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grpSp>
    </p:spTree>
    <p:extLst>
      <p:ext uri="{BB962C8B-B14F-4D97-AF65-F5344CB8AC3E}">
        <p14:creationId xmlns:p14="http://schemas.microsoft.com/office/powerpoint/2010/main" val="377588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endParaRPr lang="zh-CN" altLang="en-US"/>
          </a:p>
        </p:txBody>
      </p:sp>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sp>
        <p:nvSpPr>
          <p:cNvPr id="9" name="椭圆 8">
            <a:extLst>
              <a:ext uri="{FF2B5EF4-FFF2-40B4-BE49-F238E27FC236}">
                <a16:creationId xmlns:a16="http://schemas.microsoft.com/office/drawing/2014/main" id="{2684E923-02FA-470B-B630-6E827C70B4FF}"/>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33" name="矩形 32">
            <a:extLst>
              <a:ext uri="{FF2B5EF4-FFF2-40B4-BE49-F238E27FC236}">
                <a16:creationId xmlns:a16="http://schemas.microsoft.com/office/drawing/2014/main" id="{70349C7B-58EB-4A55-9907-DF0736828CD4}"/>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35" name="矩形 34">
            <a:extLst>
              <a:ext uri="{FF2B5EF4-FFF2-40B4-BE49-F238E27FC236}">
                <a16:creationId xmlns:a16="http://schemas.microsoft.com/office/drawing/2014/main" id="{191159AA-1558-48E1-BE78-9877B5F9FA86}"/>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37" name="矩形 36">
            <a:extLst>
              <a:ext uri="{FF2B5EF4-FFF2-40B4-BE49-F238E27FC236}">
                <a16:creationId xmlns:a16="http://schemas.microsoft.com/office/drawing/2014/main" id="{BFF2D876-9326-4B2C-BDCF-8D868AF22200}"/>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834D0CA5-54AD-4357-8DB3-7BE4677BD7EA}"/>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45" name="椭圆 44">
            <a:extLst>
              <a:ext uri="{FF2B5EF4-FFF2-40B4-BE49-F238E27FC236}">
                <a16:creationId xmlns:a16="http://schemas.microsoft.com/office/drawing/2014/main" id="{5EB4CE76-C559-4949-B394-DDB861B04748}"/>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43487A17-0583-4A9C-9D6B-F7030EA88E4F}"/>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433940" y="2718417"/>
            <a:ext cx="2377809" cy="67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241172" y="4451626"/>
            <a:ext cx="212918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椭圆 4">
            <a:extLst>
              <a:ext uri="{FF2B5EF4-FFF2-40B4-BE49-F238E27FC236}">
                <a16:creationId xmlns:a16="http://schemas.microsoft.com/office/drawing/2014/main" id="{74325C1D-CEF0-42B1-8CEC-49FFC06331DD}"/>
              </a:ext>
            </a:extLst>
          </p:cNvPr>
          <p:cNvSpPr/>
          <p:nvPr/>
        </p:nvSpPr>
        <p:spPr>
          <a:xfrm>
            <a:off x="4920377" y="1979677"/>
            <a:ext cx="5690671" cy="1113302"/>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F126EDCC-F96D-42D6-8B00-EBF02540234C}"/>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989FB1F9-D189-4114-8221-C715C536C4A0}"/>
              </a:ext>
            </a:extLst>
          </p:cNvPr>
          <p:cNvSpPr/>
          <p:nvPr/>
        </p:nvSpPr>
        <p:spPr>
          <a:xfrm>
            <a:off x="1618377" y="3637844"/>
            <a:ext cx="7496130" cy="103405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E60E829-50CA-410B-847A-F556A0D0B4DB}"/>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6" name="直接箭头连接符 5">
            <a:extLst>
              <a:ext uri="{FF2B5EF4-FFF2-40B4-BE49-F238E27FC236}">
                <a16:creationId xmlns:a16="http://schemas.microsoft.com/office/drawing/2014/main" id="{C7E49B41-3BF3-47B4-B279-1FDA0A124F95}"/>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9B4419DD-07BB-4222-A223-498119409D95}"/>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CB3FB548-49D4-4BC2-9A86-954E26F7CE7C}"/>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DEE2E5F-E8D5-465C-B793-81B5C13A3FB2}"/>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1E60C3ED-7A64-413A-BA52-1342012263F6}"/>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sp>
        <p:nvSpPr>
          <p:cNvPr id="14" name="矩形 13">
            <a:extLst>
              <a:ext uri="{FF2B5EF4-FFF2-40B4-BE49-F238E27FC236}">
                <a16:creationId xmlns:a16="http://schemas.microsoft.com/office/drawing/2014/main" id="{AFB52048-D03A-42C5-82E1-49DFE9AD2E5E}"/>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16" name="矩形 15">
            <a:extLst>
              <a:ext uri="{FF2B5EF4-FFF2-40B4-BE49-F238E27FC236}">
                <a16:creationId xmlns:a16="http://schemas.microsoft.com/office/drawing/2014/main" id="{9EB8FAA0-EE61-4147-BBE6-C0343BBB2FE8}"/>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8" name="矩形 17">
            <a:extLst>
              <a:ext uri="{FF2B5EF4-FFF2-40B4-BE49-F238E27FC236}">
                <a16:creationId xmlns:a16="http://schemas.microsoft.com/office/drawing/2014/main" id="{01BAF56C-12E9-4ED5-B2A7-C84C8D4F4A9D}"/>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9" name="椭圆 18">
            <a:extLst>
              <a:ext uri="{FF2B5EF4-FFF2-40B4-BE49-F238E27FC236}">
                <a16:creationId xmlns:a16="http://schemas.microsoft.com/office/drawing/2014/main" id="{B95FC1AE-452C-4463-B56C-2FB24F291AB7}"/>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20" name="椭圆 19">
            <a:extLst>
              <a:ext uri="{FF2B5EF4-FFF2-40B4-BE49-F238E27FC236}">
                <a16:creationId xmlns:a16="http://schemas.microsoft.com/office/drawing/2014/main" id="{4418D213-9E02-42B7-9458-F22CE7DE5E3D}"/>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spTree>
    <p:extLst>
      <p:ext uri="{BB962C8B-B14F-4D97-AF65-F5344CB8AC3E}">
        <p14:creationId xmlns:p14="http://schemas.microsoft.com/office/powerpoint/2010/main" val="88509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7F796C79-685C-4E8E-92E6-C62B2B0EBA94}"/>
              </a:ext>
            </a:extLst>
          </p:cNvPr>
          <p:cNvSpPr/>
          <p:nvPr/>
        </p:nvSpPr>
        <p:spPr>
          <a:xfrm>
            <a:off x="7339496" y="2198757"/>
            <a:ext cx="3964607" cy="142460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Operations of X_i on device D_i</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18" name="椭圆 17">
            <a:extLst>
              <a:ext uri="{FF2B5EF4-FFF2-40B4-BE49-F238E27FC236}">
                <a16:creationId xmlns:a16="http://schemas.microsoft.com/office/drawing/2014/main" id="{282DCF0B-0E86-4230-8822-88150737B159}"/>
              </a:ext>
            </a:extLst>
          </p:cNvPr>
          <p:cNvSpPr/>
          <p:nvPr/>
        </p:nvSpPr>
        <p:spPr>
          <a:xfrm>
            <a:off x="3794539" y="4595190"/>
            <a:ext cx="4008780" cy="123686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D3D42D04-DA70-4B81-98E6-3FEAE138F6F9}"/>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9" name="直接箭头连接符 18">
            <a:extLst>
              <a:ext uri="{FF2B5EF4-FFF2-40B4-BE49-F238E27FC236}">
                <a16:creationId xmlns:a16="http://schemas.microsoft.com/office/drawing/2014/main" id="{791F1907-A0E1-45BE-829D-1762BED0668A}"/>
              </a:ext>
            </a:extLst>
          </p:cNvPr>
          <p:cNvCxnSpPr>
            <a:cxnSpLocks/>
          </p:cNvCxnSpPr>
          <p:nvPr/>
        </p:nvCxnSpPr>
        <p:spPr>
          <a:xfrm flipH="1">
            <a:off x="9325114" y="2107511"/>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CF48815-F543-4D38-9427-4211791E41B8}"/>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7" name="矩形 6">
            <a:extLst>
              <a:ext uri="{FF2B5EF4-FFF2-40B4-BE49-F238E27FC236}">
                <a16:creationId xmlns:a16="http://schemas.microsoft.com/office/drawing/2014/main" id="{385873ED-1607-4D5E-93E7-2D301CE82E97}"/>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8" name="直接箭头连接符 7">
            <a:extLst>
              <a:ext uri="{FF2B5EF4-FFF2-40B4-BE49-F238E27FC236}">
                <a16:creationId xmlns:a16="http://schemas.microsoft.com/office/drawing/2014/main" id="{8FF11777-2623-43A0-9A07-D0369D476320}"/>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1DAA1CD-1BA4-4775-8ABF-8BD003C218A5}"/>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28" name="直接箭头连接符 27">
            <a:extLst>
              <a:ext uri="{FF2B5EF4-FFF2-40B4-BE49-F238E27FC236}">
                <a16:creationId xmlns:a16="http://schemas.microsoft.com/office/drawing/2014/main" id="{5B42CC86-E87F-4DD3-BA9B-25C0B925AEA3}"/>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B05DF4D9-B076-43CD-BFEB-73EB1F4C4EEC}"/>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Tree>
    <p:extLst>
      <p:ext uri="{BB962C8B-B14F-4D97-AF65-F5344CB8AC3E}">
        <p14:creationId xmlns:p14="http://schemas.microsoft.com/office/powerpoint/2010/main" val="424126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696592-A71A-4320-B73C-C41DF6CD0646}"/>
              </a:ext>
            </a:extLst>
          </p:cNvPr>
          <p:cNvSpPr>
            <a:spLocks noGrp="1"/>
          </p:cNvSpPr>
          <p:nvPr>
            <p:ph type="title"/>
          </p:nvPr>
        </p:nvSpPr>
        <p:spPr/>
        <p:txBody>
          <a:bodyPr/>
          <a:lstStyle/>
          <a:p>
            <a:r>
              <a:rPr lang="zh-CN" altLang="en-US">
                <a:ea typeface="宋体"/>
                <a:cs typeface="Calibri Light"/>
              </a:rPr>
              <a:t>MLPs in DLRM</a:t>
            </a:r>
            <a:endParaRPr lang="zh-CN" altLang="en-US"/>
          </a:p>
        </p:txBody>
      </p:sp>
      <p:sp>
        <p:nvSpPr>
          <p:cNvPr id="5" name="椭圆 4">
            <a:extLst>
              <a:ext uri="{FF2B5EF4-FFF2-40B4-BE49-F238E27FC236}">
                <a16:creationId xmlns:a16="http://schemas.microsoft.com/office/drawing/2014/main" id="{711DE697-2849-4FE3-9155-D5C96331348C}"/>
              </a:ext>
            </a:extLst>
          </p:cNvPr>
          <p:cNvSpPr/>
          <p:nvPr/>
        </p:nvSpPr>
        <p:spPr>
          <a:xfrm>
            <a:off x="1339491" y="2845512"/>
            <a:ext cx="2686833" cy="536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LL (N[0], N[1])</a:t>
            </a:r>
          </a:p>
        </p:txBody>
      </p:sp>
      <p:sp>
        <p:nvSpPr>
          <p:cNvPr id="6" name="文本框 5">
            <a:extLst>
              <a:ext uri="{FF2B5EF4-FFF2-40B4-BE49-F238E27FC236}">
                <a16:creationId xmlns:a16="http://schemas.microsoft.com/office/drawing/2014/main" id="{54DB0C33-7913-4D48-BF3B-5AD27C38ADE9}"/>
              </a:ext>
            </a:extLst>
          </p:cNvPr>
          <p:cNvSpPr txBox="1"/>
          <p:nvPr/>
        </p:nvSpPr>
        <p:spPr>
          <a:xfrm>
            <a:off x="837096" y="1554920"/>
            <a:ext cx="73041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b="1">
                <a:ea typeface="宋体"/>
                <a:cs typeface="Calibri"/>
              </a:rPr>
              <a:t>Input</a:t>
            </a:r>
            <a:r>
              <a:rPr lang="zh-CN" altLang="en-US">
                <a:ea typeface="宋体"/>
                <a:cs typeface="Calibri"/>
              </a:rPr>
              <a:t>: An integer list N of n elements.</a:t>
            </a:r>
            <a:endParaRPr lang="zh-CN"/>
          </a:p>
          <a:p>
            <a:r>
              <a:rPr lang="zh-CN" altLang="en-US">
                <a:ea typeface="宋体"/>
                <a:cs typeface="Calibri"/>
              </a:rPr>
              <a:t>             An integer m determining the activation function.</a:t>
            </a:r>
          </a:p>
          <a:p>
            <a:r>
              <a:rPr lang="zh-CN" altLang="en-US" b="1">
                <a:ea typeface="宋体"/>
                <a:cs typeface="Calibri"/>
              </a:rPr>
              <a:t>Output</a:t>
            </a:r>
            <a:r>
              <a:rPr lang="zh-CN" altLang="en-US">
                <a:ea typeface="宋体"/>
                <a:cs typeface="Calibri"/>
              </a:rPr>
              <a:t>: a sequence of linear layers.</a:t>
            </a:r>
          </a:p>
        </p:txBody>
      </p:sp>
      <p:cxnSp>
        <p:nvCxnSpPr>
          <p:cNvPr id="7" name="直接箭头连接符 6">
            <a:extLst>
              <a:ext uri="{FF2B5EF4-FFF2-40B4-BE49-F238E27FC236}">
                <a16:creationId xmlns:a16="http://schemas.microsoft.com/office/drawing/2014/main" id="{3B7B5295-B200-4E60-B044-EFC01C3CA47F}"/>
              </a:ext>
            </a:extLst>
          </p:cNvPr>
          <p:cNvCxnSpPr/>
          <p:nvPr/>
        </p:nvCxnSpPr>
        <p:spPr>
          <a:xfrm flipH="1">
            <a:off x="2687292" y="3379719"/>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E35B888A-286B-4EA0-9C15-B436905A976D}"/>
              </a:ext>
            </a:extLst>
          </p:cNvPr>
          <p:cNvSpPr/>
          <p:nvPr/>
        </p:nvSpPr>
        <p:spPr>
          <a:xfrm>
            <a:off x="1328447" y="3806294"/>
            <a:ext cx="2686833" cy="536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LL (N[1], N[2])</a:t>
            </a:r>
          </a:p>
        </p:txBody>
      </p:sp>
      <p:cxnSp>
        <p:nvCxnSpPr>
          <p:cNvPr id="9" name="直接箭头连接符 8">
            <a:extLst>
              <a:ext uri="{FF2B5EF4-FFF2-40B4-BE49-F238E27FC236}">
                <a16:creationId xmlns:a16="http://schemas.microsoft.com/office/drawing/2014/main" id="{C70EBF94-F903-4BFD-8ADE-12DEAF43656B}"/>
              </a:ext>
            </a:extLst>
          </p:cNvPr>
          <p:cNvCxnSpPr>
            <a:cxnSpLocks/>
          </p:cNvCxnSpPr>
          <p:nvPr/>
        </p:nvCxnSpPr>
        <p:spPr>
          <a:xfrm flipH="1">
            <a:off x="2676248" y="4340501"/>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4D0E6CB7-FCC5-4117-84AF-ABDF66B5FCCF}"/>
              </a:ext>
            </a:extLst>
          </p:cNvPr>
          <p:cNvSpPr/>
          <p:nvPr/>
        </p:nvSpPr>
        <p:spPr>
          <a:xfrm>
            <a:off x="1251143" y="5396555"/>
            <a:ext cx="2885616" cy="536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LL (N[n-2], N_[n-1])</a:t>
            </a:r>
          </a:p>
        </p:txBody>
      </p:sp>
      <p:cxnSp>
        <p:nvCxnSpPr>
          <p:cNvPr id="11" name="直接箭头连接符 10">
            <a:extLst>
              <a:ext uri="{FF2B5EF4-FFF2-40B4-BE49-F238E27FC236}">
                <a16:creationId xmlns:a16="http://schemas.microsoft.com/office/drawing/2014/main" id="{5566F23E-9DF0-41B8-BB1D-D4D1DFF7D2AF}"/>
              </a:ext>
            </a:extLst>
          </p:cNvPr>
          <p:cNvCxnSpPr>
            <a:cxnSpLocks/>
          </p:cNvCxnSpPr>
          <p:nvPr/>
        </p:nvCxnSpPr>
        <p:spPr>
          <a:xfrm flipH="1">
            <a:off x="2687292" y="5930762"/>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4223AF4-6A29-42D4-975A-C554D252D043}"/>
              </a:ext>
            </a:extLst>
          </p:cNvPr>
          <p:cNvCxnSpPr>
            <a:cxnSpLocks/>
          </p:cNvCxnSpPr>
          <p:nvPr/>
        </p:nvCxnSpPr>
        <p:spPr>
          <a:xfrm flipH="1">
            <a:off x="2676248" y="4992066"/>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F4E9EC3B-6B34-40E7-99FA-4A3E8AEDD758}"/>
              </a:ext>
            </a:extLst>
          </p:cNvPr>
          <p:cNvSpPr/>
          <p:nvPr/>
        </p:nvSpPr>
        <p:spPr>
          <a:xfrm>
            <a:off x="7724636" y="4660072"/>
            <a:ext cx="2241825" cy="5190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a:t>
            </a:r>
            <a:endParaRPr lang="zh-CN" altLang="en-US"/>
          </a:p>
        </p:txBody>
      </p:sp>
      <p:sp>
        <p:nvSpPr>
          <p:cNvPr id="14" name="文本框 13">
            <a:extLst>
              <a:ext uri="{FF2B5EF4-FFF2-40B4-BE49-F238E27FC236}">
                <a16:creationId xmlns:a16="http://schemas.microsoft.com/office/drawing/2014/main" id="{CE995096-2A22-4041-9E88-6B45AED33DE9}"/>
              </a:ext>
            </a:extLst>
          </p:cNvPr>
          <p:cNvSpPr txBox="1"/>
          <p:nvPr/>
        </p:nvSpPr>
        <p:spPr>
          <a:xfrm>
            <a:off x="2270677" y="468919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ea typeface="宋体"/>
              <a:cs typeface="Calibri"/>
            </a:endParaRPr>
          </a:p>
        </p:txBody>
      </p:sp>
      <p:sp>
        <p:nvSpPr>
          <p:cNvPr id="15" name="文本框 14">
            <a:extLst>
              <a:ext uri="{FF2B5EF4-FFF2-40B4-BE49-F238E27FC236}">
                <a16:creationId xmlns:a16="http://schemas.microsoft.com/office/drawing/2014/main" id="{D7BF9012-1FC9-4B90-8203-5B0EFA0FA18C}"/>
              </a:ext>
            </a:extLst>
          </p:cNvPr>
          <p:cNvSpPr txBox="1"/>
          <p:nvPr/>
        </p:nvSpPr>
        <p:spPr>
          <a:xfrm>
            <a:off x="8465378" y="3009899"/>
            <a:ext cx="8989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16" name="矩形: 圆角 15">
            <a:extLst>
              <a:ext uri="{FF2B5EF4-FFF2-40B4-BE49-F238E27FC236}">
                <a16:creationId xmlns:a16="http://schemas.microsoft.com/office/drawing/2014/main" id="{A4799A4B-545E-46AE-95DC-3403F30900B6}"/>
              </a:ext>
            </a:extLst>
          </p:cNvPr>
          <p:cNvSpPr/>
          <p:nvPr/>
        </p:nvSpPr>
        <p:spPr>
          <a:xfrm>
            <a:off x="5845174" y="3465306"/>
            <a:ext cx="2285999" cy="5300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Sigmoid</a:t>
            </a:r>
            <a:endParaRPr lang="zh-CN" altLang="en-US"/>
          </a:p>
        </p:txBody>
      </p:sp>
      <p:sp>
        <p:nvSpPr>
          <p:cNvPr id="17" name="矩形: 圆角 16">
            <a:extLst>
              <a:ext uri="{FF2B5EF4-FFF2-40B4-BE49-F238E27FC236}">
                <a16:creationId xmlns:a16="http://schemas.microsoft.com/office/drawing/2014/main" id="{3EF8317B-936F-4D21-A8D3-0D19F0ACB877}"/>
              </a:ext>
            </a:extLst>
          </p:cNvPr>
          <p:cNvSpPr/>
          <p:nvPr/>
        </p:nvSpPr>
        <p:spPr>
          <a:xfrm>
            <a:off x="9312826" y="3465306"/>
            <a:ext cx="2285999" cy="5300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ReLU</a:t>
            </a:r>
            <a:endParaRPr lang="zh-CN" altLang="en-US"/>
          </a:p>
        </p:txBody>
      </p:sp>
      <p:cxnSp>
        <p:nvCxnSpPr>
          <p:cNvPr id="18" name="直接箭头连接符 17">
            <a:extLst>
              <a:ext uri="{FF2B5EF4-FFF2-40B4-BE49-F238E27FC236}">
                <a16:creationId xmlns:a16="http://schemas.microsoft.com/office/drawing/2014/main" id="{D0C8B952-2050-4C43-B307-E25C794CE98F}"/>
              </a:ext>
            </a:extLst>
          </p:cNvPr>
          <p:cNvCxnSpPr/>
          <p:nvPr/>
        </p:nvCxnSpPr>
        <p:spPr>
          <a:xfrm>
            <a:off x="7004051" y="4049919"/>
            <a:ext cx="1709529" cy="561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72D1870F-99A3-4691-832D-97C93E7E14A5}"/>
              </a:ext>
            </a:extLst>
          </p:cNvPr>
          <p:cNvCxnSpPr/>
          <p:nvPr/>
        </p:nvCxnSpPr>
        <p:spPr>
          <a:xfrm flipH="1">
            <a:off x="8734975" y="4016101"/>
            <a:ext cx="1713949" cy="594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718C8EE6-31FD-4EEB-8F75-D3ACB3B8C5B4}"/>
              </a:ext>
            </a:extLst>
          </p:cNvPr>
          <p:cNvCxnSpPr/>
          <p:nvPr/>
        </p:nvCxnSpPr>
        <p:spPr>
          <a:xfrm>
            <a:off x="6914320" y="2579757"/>
            <a:ext cx="8836" cy="837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6EB81DD-94C6-49A2-9F65-691C688A4AE9}"/>
              </a:ext>
            </a:extLst>
          </p:cNvPr>
          <p:cNvCxnSpPr>
            <a:cxnSpLocks/>
          </p:cNvCxnSpPr>
          <p:nvPr/>
        </p:nvCxnSpPr>
        <p:spPr>
          <a:xfrm>
            <a:off x="10393015" y="2579757"/>
            <a:ext cx="8836" cy="848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接箭头连接符 2">
            <a:extLst>
              <a:ext uri="{FF2B5EF4-FFF2-40B4-BE49-F238E27FC236}">
                <a16:creationId xmlns:a16="http://schemas.microsoft.com/office/drawing/2014/main" id="{5D418678-E79C-4A90-8AA2-34916F1F4365}"/>
              </a:ext>
            </a:extLst>
          </p:cNvPr>
          <p:cNvCxnSpPr/>
          <p:nvPr/>
        </p:nvCxnSpPr>
        <p:spPr>
          <a:xfrm>
            <a:off x="8753060" y="5180496"/>
            <a:ext cx="19878" cy="682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箭头: 右 3">
            <a:extLst>
              <a:ext uri="{FF2B5EF4-FFF2-40B4-BE49-F238E27FC236}">
                <a16:creationId xmlns:a16="http://schemas.microsoft.com/office/drawing/2014/main" id="{CF3E0211-34EF-4E33-AE1F-DD0B599FDA3A}"/>
              </a:ext>
            </a:extLst>
          </p:cNvPr>
          <p:cNvSpPr/>
          <p:nvPr/>
        </p:nvSpPr>
        <p:spPr>
          <a:xfrm rot="1020000">
            <a:off x="4060559" y="3401193"/>
            <a:ext cx="1512956" cy="1656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FAB03F7E-5412-4B48-B2B2-C135751B2276}"/>
              </a:ext>
            </a:extLst>
          </p:cNvPr>
          <p:cNvSpPr/>
          <p:nvPr/>
        </p:nvSpPr>
        <p:spPr>
          <a:xfrm>
            <a:off x="6420821" y="2163555"/>
            <a:ext cx="4494690" cy="53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atin typeface="SimSun"/>
                <a:ea typeface="SimSun"/>
                <a:cs typeface="+mn-lt"/>
              </a:rPr>
              <a:t>L</a:t>
            </a:r>
            <a:r>
              <a:rPr lang="en-US" altLang="zh-CN" err="1">
                <a:latin typeface="SimSun"/>
                <a:ea typeface="SimSun"/>
                <a:cs typeface="+mn-lt"/>
              </a:rPr>
              <a:t>inear</a:t>
            </a:r>
            <a:r>
              <a:rPr lang="zh-CN">
                <a:latin typeface="SimSun"/>
                <a:ea typeface="SimSun"/>
                <a:cs typeface="+mn-lt"/>
              </a:rPr>
              <a:t> (</a:t>
            </a:r>
            <a:r>
              <a:rPr lang="en-US" altLang="zh-CN">
                <a:latin typeface="SimSun"/>
                <a:ea typeface="+mn-lt"/>
                <a:cs typeface="+mn-lt"/>
              </a:rPr>
              <a:t>N</a:t>
            </a:r>
            <a:r>
              <a:rPr lang="en-US" altLang="zh-CN">
                <a:latin typeface="Calibri"/>
                <a:ea typeface="SimSun"/>
                <a:cs typeface="+mn-lt"/>
              </a:rPr>
              <a:t>[i-1], N[</a:t>
            </a:r>
            <a:r>
              <a:rPr lang="en-US" altLang="zh-CN" err="1">
                <a:latin typeface="Calibri"/>
                <a:ea typeface="SimSun"/>
                <a:cs typeface="+mn-lt"/>
              </a:rPr>
              <a:t>i</a:t>
            </a:r>
            <a:r>
              <a:rPr lang="en-US" altLang="zh-CN">
                <a:latin typeface="Calibri"/>
                <a:ea typeface="SimSun"/>
                <a:cs typeface="+mn-lt"/>
              </a:rPr>
              <a:t>]</a:t>
            </a:r>
            <a:r>
              <a:rPr lang="zh-CN">
                <a:latin typeface="SimSun"/>
                <a:ea typeface="SimSun"/>
                <a:cs typeface="+mn-lt"/>
              </a:rPr>
              <a:t>)</a:t>
            </a:r>
          </a:p>
        </p:txBody>
      </p:sp>
      <p:cxnSp>
        <p:nvCxnSpPr>
          <p:cNvPr id="25" name="直接箭头连接符 24">
            <a:extLst>
              <a:ext uri="{FF2B5EF4-FFF2-40B4-BE49-F238E27FC236}">
                <a16:creationId xmlns:a16="http://schemas.microsoft.com/office/drawing/2014/main" id="{A98D07C0-193A-4810-8B85-689778452248}"/>
              </a:ext>
            </a:extLst>
          </p:cNvPr>
          <p:cNvCxnSpPr>
            <a:cxnSpLocks/>
          </p:cNvCxnSpPr>
          <p:nvPr/>
        </p:nvCxnSpPr>
        <p:spPr>
          <a:xfrm flipH="1">
            <a:off x="2687292" y="2441023"/>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978974AE-CF0D-4FB6-A042-3983C037577B}"/>
              </a:ext>
            </a:extLst>
          </p:cNvPr>
          <p:cNvCxnSpPr>
            <a:cxnSpLocks/>
          </p:cNvCxnSpPr>
          <p:nvPr/>
        </p:nvCxnSpPr>
        <p:spPr>
          <a:xfrm flipH="1">
            <a:off x="8694944" y="1745284"/>
            <a:ext cx="2209" cy="395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AAB9CB5-4397-42F1-84EB-BDC424805234}"/>
              </a:ext>
            </a:extLst>
          </p:cNvPr>
          <p:cNvSpPr txBox="1"/>
          <p:nvPr/>
        </p:nvSpPr>
        <p:spPr>
          <a:xfrm>
            <a:off x="7098747" y="5928139"/>
            <a:ext cx="43113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宋体"/>
              </a:rPr>
              <a:t>An example of a LL (Linear Layer)</a:t>
            </a:r>
            <a:endParaRPr lang="zh-CN" altLang="en-US"/>
          </a:p>
        </p:txBody>
      </p:sp>
      <p:sp>
        <p:nvSpPr>
          <p:cNvPr id="22" name="文本框 21">
            <a:extLst>
              <a:ext uri="{FF2B5EF4-FFF2-40B4-BE49-F238E27FC236}">
                <a16:creationId xmlns:a16="http://schemas.microsoft.com/office/drawing/2014/main" id="{C2177DC3-8947-420A-BEAA-2C851622CCF2}"/>
              </a:ext>
            </a:extLst>
          </p:cNvPr>
          <p:cNvSpPr txBox="1"/>
          <p:nvPr/>
        </p:nvSpPr>
        <p:spPr>
          <a:xfrm>
            <a:off x="10268226" y="4746487"/>
            <a:ext cx="199224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mn-lt"/>
                <a:cs typeface="+mn-lt"/>
              </a:rPr>
              <a:t>*</a:t>
            </a:r>
            <a:r>
              <a:rPr lang="zh-CN" sz="1200">
                <a:ea typeface="+mn-lt"/>
                <a:cs typeface="+mn-lt"/>
              </a:rPr>
              <a:t>For m&gt;0, the (m+1)th activation function in the MLP layers is</a:t>
            </a:r>
            <a:r>
              <a:rPr lang="zh-CN" altLang="en-US" sz="1200">
                <a:ea typeface="+mn-lt"/>
                <a:cs typeface="+mn-lt"/>
              </a:rPr>
              <a:t> </a:t>
            </a:r>
            <a:r>
              <a:rPr lang="zh-CN" sz="1200">
                <a:ea typeface="+mn-lt"/>
                <a:cs typeface="+mn-lt"/>
              </a:rPr>
              <a:t>Sigmoid.</a:t>
            </a:r>
            <a:r>
              <a:rPr lang="zh-CN" altLang="en-US" sz="1200">
                <a:ea typeface="+mn-lt"/>
                <a:cs typeface="+mn-lt"/>
              </a:rPr>
              <a:t> Otherwise, the activation function will always be ReLU.</a:t>
            </a:r>
            <a:endParaRPr lang="zh-CN" sz="1200">
              <a:ea typeface="+mn-lt"/>
              <a:cs typeface="+mn-lt"/>
            </a:endParaRPr>
          </a:p>
          <a:p>
            <a:pPr algn="l"/>
            <a:endParaRPr lang="zh-CN" altLang="en-US" sz="1200">
              <a:ea typeface="宋体"/>
              <a:cs typeface="Calibri"/>
            </a:endParaRPr>
          </a:p>
        </p:txBody>
      </p:sp>
      <p:sp>
        <p:nvSpPr>
          <p:cNvPr id="23" name="文本框 22">
            <a:extLst>
              <a:ext uri="{FF2B5EF4-FFF2-40B4-BE49-F238E27FC236}">
                <a16:creationId xmlns:a16="http://schemas.microsoft.com/office/drawing/2014/main" id="{18496B2C-5667-456F-A084-AB10B4D3EE37}"/>
              </a:ext>
            </a:extLst>
          </p:cNvPr>
          <p:cNvSpPr txBox="1"/>
          <p:nvPr/>
        </p:nvSpPr>
        <p:spPr>
          <a:xfrm rot="1080000">
            <a:off x="3981610" y="328364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宋体"/>
              </a:rPr>
              <a:t>Explanation of LL</a:t>
            </a:r>
            <a:endParaRPr lang="zh-CN" altLang="en-US"/>
          </a:p>
        </p:txBody>
      </p:sp>
    </p:spTree>
    <p:extLst>
      <p:ext uri="{BB962C8B-B14F-4D97-AF65-F5344CB8AC3E}">
        <p14:creationId xmlns:p14="http://schemas.microsoft.com/office/powerpoint/2010/main" val="2515045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827B8-35D1-4BF9-A0BD-D1DBB65F7AD8}"/>
              </a:ext>
            </a:extLst>
          </p:cNvPr>
          <p:cNvSpPr>
            <a:spLocks noGrp="1"/>
          </p:cNvSpPr>
          <p:nvPr>
            <p:ph type="title"/>
          </p:nvPr>
        </p:nvSpPr>
        <p:spPr>
          <a:xfrm>
            <a:off x="860286" y="387212"/>
            <a:ext cx="8516731" cy="1325563"/>
          </a:xfrm>
        </p:spPr>
        <p:txBody>
          <a:bodyPr/>
          <a:lstStyle/>
          <a:p>
            <a:r>
              <a:rPr lang="zh-CN" altLang="en-US" b="1">
                <a:latin typeface="SimSun"/>
                <a:ea typeface="SimSun"/>
                <a:cs typeface="Calibri Light"/>
              </a:rPr>
              <a:t>Bot_l under</a:t>
            </a:r>
            <a:br>
              <a:rPr lang="zh-CN" altLang="en-US" b="1">
                <a:latin typeface="SimSun"/>
                <a:ea typeface="SimSun"/>
                <a:cs typeface="Calibri Light"/>
              </a:rPr>
            </a:br>
            <a:r>
              <a:rPr lang="zh-CN" altLang="en-US" b="1">
                <a:latin typeface="SimSun"/>
                <a:ea typeface="SimSun"/>
                <a:cs typeface="Calibri Light"/>
              </a:rPr>
              <a:t>the 'run_and_time.sh' setting</a:t>
            </a:r>
            <a:endParaRPr lang="zh-CN" altLang="en-US" b="1">
              <a:latin typeface="SimSun"/>
              <a:ea typeface="SimSun"/>
              <a:cs typeface="Times New Roman"/>
            </a:endParaRPr>
          </a:p>
        </p:txBody>
      </p:sp>
      <p:sp>
        <p:nvSpPr>
          <p:cNvPr id="3" name="文本框 2">
            <a:extLst>
              <a:ext uri="{FF2B5EF4-FFF2-40B4-BE49-F238E27FC236}">
                <a16:creationId xmlns:a16="http://schemas.microsoft.com/office/drawing/2014/main" id="{F81F0556-A7F0-4C52-B772-C36AE4C95ECC}"/>
              </a:ext>
            </a:extLst>
          </p:cNvPr>
          <p:cNvSpPr txBox="1"/>
          <p:nvPr/>
        </p:nvSpPr>
        <p:spPr>
          <a:xfrm>
            <a:off x="859182" y="1808921"/>
            <a:ext cx="798885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800">
                <a:latin typeface="Times New Roman"/>
                <a:ea typeface="SimSun"/>
                <a:cs typeface="+mn-lt"/>
              </a:rPr>
              <a:t>Input: N=[13, 512, 256, 128], m=-1</a:t>
            </a:r>
          </a:p>
          <a:p>
            <a:r>
              <a:rPr lang="en-US" altLang="zh-CN" sz="2800">
                <a:latin typeface="Times New Roman"/>
                <a:ea typeface="SimSun"/>
                <a:cs typeface="+mn-lt"/>
              </a:rPr>
              <a:t>Linear (</a:t>
            </a:r>
            <a:r>
              <a:rPr lang="zh-CN" sz="2800">
                <a:latin typeface="Times New Roman"/>
                <a:ea typeface="SimSun"/>
                <a:cs typeface="+mn-lt"/>
              </a:rPr>
              <a:t>13, 512</a:t>
            </a:r>
            <a:r>
              <a:rPr lang="en-US" altLang="zh-CN" sz="2800">
                <a:latin typeface="Times New Roman"/>
                <a:ea typeface="SimSun"/>
                <a:cs typeface="+mn-lt"/>
              </a:rPr>
              <a:t>)=&gt;</a:t>
            </a:r>
            <a:r>
              <a:rPr lang="zh-CN" sz="2800">
                <a:latin typeface="Times New Roman"/>
                <a:ea typeface="SimSun"/>
                <a:cs typeface="+mn-lt"/>
              </a:rPr>
              <a:t>ReLU</a:t>
            </a:r>
            <a:r>
              <a:rPr lang="en-US" sz="2800">
                <a:latin typeface="Times New Roman"/>
                <a:ea typeface="+mn-lt"/>
                <a:cs typeface="Times New Roman"/>
              </a:rPr>
              <a:t>=&gt;</a:t>
            </a:r>
            <a:r>
              <a:rPr lang="en-US" altLang="zh-CN" sz="2800">
                <a:latin typeface="Times New Roman"/>
                <a:ea typeface="SimSun"/>
                <a:cs typeface="Times New Roman"/>
              </a:rPr>
              <a:t>Linear (</a:t>
            </a:r>
            <a:r>
              <a:rPr lang="zh-CN" sz="2800">
                <a:latin typeface="Times New Roman"/>
                <a:ea typeface="SimSun"/>
                <a:cs typeface="+mn-lt"/>
              </a:rPr>
              <a:t>512, 256</a:t>
            </a:r>
            <a:r>
              <a:rPr lang="en-US" altLang="zh-CN" sz="2800">
                <a:latin typeface="Times New Roman"/>
                <a:ea typeface="SimSun"/>
                <a:cs typeface="+mn-lt"/>
              </a:rPr>
              <a:t>)=&gt;</a:t>
            </a:r>
            <a:r>
              <a:rPr lang="zh-CN" sz="2800">
                <a:latin typeface="Times New Roman"/>
                <a:ea typeface="SimSun"/>
                <a:cs typeface="+mn-lt"/>
              </a:rPr>
              <a:t>ReLU</a:t>
            </a:r>
            <a:endParaRPr lang="zh-CN" sz="2800">
              <a:latin typeface="Times New Roman"/>
              <a:ea typeface="SimSun"/>
              <a:cs typeface="Calibri"/>
            </a:endParaRPr>
          </a:p>
          <a:p>
            <a:r>
              <a:rPr lang="en-US" sz="2800">
                <a:latin typeface="Times New Roman"/>
                <a:ea typeface="+mn-lt"/>
                <a:cs typeface="Times New Roman"/>
              </a:rPr>
              <a:t>=&gt;</a:t>
            </a:r>
            <a:r>
              <a:rPr lang="en-US" altLang="zh-CN" sz="2800">
                <a:latin typeface="Times New Roman"/>
                <a:ea typeface="SimSun"/>
                <a:cs typeface="Times New Roman"/>
              </a:rPr>
              <a:t>Linear (</a:t>
            </a:r>
            <a:r>
              <a:rPr lang="zh-CN" sz="2800">
                <a:latin typeface="Times New Roman"/>
                <a:ea typeface="SimSun"/>
                <a:cs typeface="+mn-lt"/>
              </a:rPr>
              <a:t>256, 128</a:t>
            </a:r>
            <a:r>
              <a:rPr lang="en-US" altLang="zh-CN" sz="2800">
                <a:latin typeface="Times New Roman"/>
                <a:ea typeface="SimSun"/>
                <a:cs typeface="+mn-lt"/>
              </a:rPr>
              <a:t>)</a:t>
            </a:r>
            <a:r>
              <a:rPr lang="en-US" altLang="zh-CN" sz="2800">
                <a:latin typeface="Times New Roman"/>
                <a:ea typeface="SimSun"/>
                <a:cs typeface="Times New Roman"/>
              </a:rPr>
              <a:t>=&gt;</a:t>
            </a:r>
            <a:r>
              <a:rPr lang="zh-CN" sz="2800">
                <a:latin typeface="Times New Roman"/>
                <a:ea typeface="SimSun"/>
                <a:cs typeface="+mn-lt"/>
              </a:rPr>
              <a:t>ReLU</a:t>
            </a:r>
            <a:endParaRPr lang="zh-CN" sz="2800">
              <a:latin typeface="Times New Roman"/>
              <a:ea typeface="SimSun"/>
              <a:cs typeface="Calibri"/>
            </a:endParaRPr>
          </a:p>
        </p:txBody>
      </p:sp>
      <p:sp>
        <p:nvSpPr>
          <p:cNvPr id="4" name="标题 1">
            <a:extLst>
              <a:ext uri="{FF2B5EF4-FFF2-40B4-BE49-F238E27FC236}">
                <a16:creationId xmlns:a16="http://schemas.microsoft.com/office/drawing/2014/main" id="{0705214F-5562-4791-AE23-441AB10B7A32}"/>
              </a:ext>
            </a:extLst>
          </p:cNvPr>
          <p:cNvSpPr>
            <a:spLocks noGrp="1"/>
          </p:cNvSpPr>
          <p:nvPr/>
        </p:nvSpPr>
        <p:spPr>
          <a:xfrm>
            <a:off x="860288" y="3313737"/>
            <a:ext cx="8516730" cy="13366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SimSun"/>
                <a:ea typeface="SimSun"/>
                <a:cs typeface="Calibri Light"/>
              </a:rPr>
              <a:t>Top_l </a:t>
            </a:r>
            <a:r>
              <a:rPr lang="zh-CN" b="1">
                <a:latin typeface="SimSun"/>
                <a:ea typeface="SimSun"/>
                <a:cs typeface="+mj-lt"/>
              </a:rPr>
              <a:t>under</a:t>
            </a:r>
            <a:endParaRPr lang="zh-CN" altLang="en-US"/>
          </a:p>
          <a:p>
            <a:r>
              <a:rPr lang="zh-CN" b="1">
                <a:latin typeface="SimSun"/>
                <a:ea typeface="SimSun"/>
                <a:cs typeface="+mj-lt"/>
              </a:rPr>
              <a:t>the</a:t>
            </a:r>
            <a:r>
              <a:rPr lang="zh-CN" altLang="en-US" b="1">
                <a:latin typeface="SimSun"/>
                <a:ea typeface="SimSun"/>
                <a:cs typeface="+mj-lt"/>
              </a:rPr>
              <a:t> </a:t>
            </a:r>
            <a:r>
              <a:rPr lang="zh-CN" b="1">
                <a:latin typeface="SimSun"/>
                <a:ea typeface="SimSun"/>
                <a:cs typeface="+mj-lt"/>
              </a:rPr>
              <a:t>'run_and_time.sh'</a:t>
            </a:r>
            <a:r>
              <a:rPr lang="zh-CN" altLang="en-US" b="1">
                <a:latin typeface="SimSun"/>
                <a:ea typeface="SimSun"/>
                <a:cs typeface="+mj-lt"/>
              </a:rPr>
              <a:t> </a:t>
            </a:r>
            <a:r>
              <a:rPr lang="zh-CN" b="1">
                <a:latin typeface="SimSun"/>
                <a:ea typeface="SimSun"/>
                <a:cs typeface="+mj-lt"/>
              </a:rPr>
              <a:t>setting</a:t>
            </a:r>
            <a:endParaRPr lang="zh-CN"/>
          </a:p>
        </p:txBody>
      </p:sp>
      <p:sp>
        <p:nvSpPr>
          <p:cNvPr id="5" name="文本框 2">
            <a:extLst>
              <a:ext uri="{FF2B5EF4-FFF2-40B4-BE49-F238E27FC236}">
                <a16:creationId xmlns:a16="http://schemas.microsoft.com/office/drawing/2014/main" id="{3C9C6982-12ED-42EE-85AD-563BE43D3717}"/>
              </a:ext>
            </a:extLst>
          </p:cNvPr>
          <p:cNvSpPr txBox="1"/>
          <p:nvPr/>
        </p:nvSpPr>
        <p:spPr>
          <a:xfrm>
            <a:off x="859182" y="4658138"/>
            <a:ext cx="8960676"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latin typeface="Times New Roman"/>
                <a:ea typeface="+mn-lt"/>
                <a:cs typeface="Times New Roman"/>
              </a:rPr>
              <a:t>Input: N=[</a:t>
            </a:r>
            <a:r>
              <a:rPr lang="en-US" sz="2800">
                <a:highlight>
                  <a:srgbClr val="FFFF00"/>
                </a:highlight>
                <a:latin typeface="Times New Roman"/>
                <a:ea typeface="+mn-lt"/>
                <a:cs typeface="Times New Roman"/>
              </a:rPr>
              <a:t>479</a:t>
            </a:r>
            <a:r>
              <a:rPr lang="en-US" sz="2800">
                <a:latin typeface="Times New Roman"/>
                <a:ea typeface="+mn-lt"/>
                <a:cs typeface="Times New Roman"/>
              </a:rPr>
              <a:t>, 1024, 1024, 512, 256, 1], m=4</a:t>
            </a:r>
            <a:endParaRPr lang="zh-CN"/>
          </a:p>
          <a:p>
            <a:r>
              <a:rPr lang="en-US" sz="2800">
                <a:latin typeface="Times New Roman"/>
                <a:ea typeface="+mn-lt"/>
                <a:cs typeface="Times New Roman"/>
              </a:rPr>
              <a:t>Linear (</a:t>
            </a:r>
            <a:r>
              <a:rPr lang="en-US" sz="2800">
                <a:latin typeface="Times New Roman"/>
                <a:ea typeface="+mn-lt"/>
                <a:cs typeface="+mn-lt"/>
              </a:rPr>
              <a:t>479,</a:t>
            </a:r>
            <a:r>
              <a:rPr lang="en-US" altLang="zh-CN" sz="2800">
                <a:latin typeface="Times New Roman"/>
                <a:ea typeface="+mn-lt"/>
                <a:cs typeface="+mn-lt"/>
              </a:rPr>
              <a:t> </a:t>
            </a:r>
            <a:r>
              <a:rPr lang="en-US" sz="2800">
                <a:latin typeface="Times New Roman"/>
                <a:ea typeface="+mn-lt"/>
                <a:cs typeface="+mn-lt"/>
              </a:rPr>
              <a:t>1024)</a:t>
            </a:r>
            <a:r>
              <a:rPr lang="en-US" sz="2800">
                <a:latin typeface="Times New Roman"/>
                <a:ea typeface="+mn-lt"/>
                <a:cs typeface="Times New Roman"/>
              </a:rPr>
              <a:t>=&gt;</a:t>
            </a:r>
            <a:r>
              <a:rPr lang="en-US" sz="2800" err="1">
                <a:latin typeface="Times New Roman"/>
                <a:ea typeface="+mn-lt"/>
                <a:cs typeface="+mn-lt"/>
              </a:rPr>
              <a:t>ReLU</a:t>
            </a:r>
            <a:r>
              <a:rPr lang="en-US" sz="2800">
                <a:latin typeface="Times New Roman"/>
                <a:ea typeface="+mn-lt"/>
                <a:cs typeface="Times New Roman"/>
              </a:rPr>
              <a:t>=&gt;Linear (</a:t>
            </a:r>
            <a:r>
              <a:rPr lang="en-US" sz="2800">
                <a:latin typeface="Times New Roman"/>
                <a:ea typeface="+mn-lt"/>
                <a:cs typeface="+mn-lt"/>
              </a:rPr>
              <a:t>1024,</a:t>
            </a:r>
            <a:r>
              <a:rPr lang="en-US" altLang="zh-CN" sz="2800">
                <a:latin typeface="Times New Roman"/>
                <a:ea typeface="+mn-lt"/>
                <a:cs typeface="+mn-lt"/>
              </a:rPr>
              <a:t> </a:t>
            </a:r>
            <a:r>
              <a:rPr lang="en-US" sz="2800">
                <a:latin typeface="Times New Roman"/>
                <a:ea typeface="+mn-lt"/>
                <a:cs typeface="+mn-lt"/>
              </a:rPr>
              <a:t>1024)</a:t>
            </a:r>
            <a:r>
              <a:rPr lang="en-US" sz="2800">
                <a:latin typeface="Times New Roman"/>
                <a:ea typeface="+mn-lt"/>
                <a:cs typeface="Times New Roman"/>
              </a:rPr>
              <a:t>=&gt;</a:t>
            </a:r>
            <a:r>
              <a:rPr lang="en-US" sz="2800" err="1">
                <a:latin typeface="Times New Roman"/>
                <a:ea typeface="+mn-lt"/>
                <a:cs typeface="+mn-lt"/>
              </a:rPr>
              <a:t>ReLU</a:t>
            </a:r>
            <a:endParaRPr lang="zh-CN" altLang="en-US" sz="2800">
              <a:latin typeface="Times New Roman"/>
              <a:ea typeface="SimSun"/>
              <a:cs typeface="Calibri" panose="020F0502020204030204"/>
            </a:endParaRPr>
          </a:p>
          <a:p>
            <a:r>
              <a:rPr lang="en-US" sz="2800">
                <a:latin typeface="Times New Roman"/>
                <a:ea typeface="+mn-lt"/>
                <a:cs typeface="Times New Roman"/>
              </a:rPr>
              <a:t>=&gt;Linear (</a:t>
            </a:r>
            <a:r>
              <a:rPr lang="en-US" sz="2800">
                <a:latin typeface="Times New Roman"/>
                <a:ea typeface="+mn-lt"/>
                <a:cs typeface="+mn-lt"/>
              </a:rPr>
              <a:t>1024,</a:t>
            </a:r>
            <a:r>
              <a:rPr lang="en-US" altLang="zh-CN" sz="2800">
                <a:latin typeface="Times New Roman"/>
                <a:ea typeface="+mn-lt"/>
                <a:cs typeface="+mn-lt"/>
              </a:rPr>
              <a:t> </a:t>
            </a:r>
            <a:r>
              <a:rPr lang="en-US" sz="2800">
                <a:latin typeface="Times New Roman"/>
                <a:ea typeface="+mn-lt"/>
                <a:cs typeface="+mn-lt"/>
              </a:rPr>
              <a:t>512)</a:t>
            </a:r>
            <a:r>
              <a:rPr lang="en-US" sz="2800">
                <a:latin typeface="Times New Roman"/>
                <a:ea typeface="+mn-lt"/>
                <a:cs typeface="Times New Roman"/>
              </a:rPr>
              <a:t>=&gt;</a:t>
            </a:r>
            <a:r>
              <a:rPr lang="en-US" sz="2800" err="1">
                <a:latin typeface="Times New Roman"/>
                <a:ea typeface="+mn-lt"/>
                <a:cs typeface="+mn-lt"/>
              </a:rPr>
              <a:t>ReLU</a:t>
            </a:r>
            <a:r>
              <a:rPr lang="en-US" sz="2800">
                <a:latin typeface="Times New Roman"/>
                <a:ea typeface="+mn-lt"/>
                <a:cs typeface="Times New Roman"/>
              </a:rPr>
              <a:t>=&gt;Linear (</a:t>
            </a:r>
            <a:r>
              <a:rPr lang="en-US" sz="2800">
                <a:latin typeface="Times New Roman"/>
                <a:ea typeface="+mn-lt"/>
                <a:cs typeface="+mn-lt"/>
              </a:rPr>
              <a:t>512,</a:t>
            </a:r>
            <a:r>
              <a:rPr lang="en-US" altLang="zh-CN" sz="2800">
                <a:latin typeface="Times New Roman"/>
                <a:ea typeface="+mn-lt"/>
                <a:cs typeface="+mn-lt"/>
              </a:rPr>
              <a:t> </a:t>
            </a:r>
            <a:r>
              <a:rPr lang="en-US" sz="2800">
                <a:latin typeface="Times New Roman"/>
                <a:ea typeface="+mn-lt"/>
                <a:cs typeface="+mn-lt"/>
              </a:rPr>
              <a:t>256)</a:t>
            </a:r>
            <a:r>
              <a:rPr lang="en-US" sz="2800">
                <a:latin typeface="Times New Roman"/>
                <a:ea typeface="+mn-lt"/>
                <a:cs typeface="Times New Roman"/>
              </a:rPr>
              <a:t>=&gt;</a:t>
            </a:r>
            <a:r>
              <a:rPr lang="en-US" sz="2800" err="1">
                <a:latin typeface="Times New Roman"/>
                <a:ea typeface="+mn-lt"/>
                <a:cs typeface="+mn-lt"/>
              </a:rPr>
              <a:t>ReLU</a:t>
            </a:r>
            <a:endParaRPr lang="zh-CN" altLang="en-US" sz="2800" err="1">
              <a:latin typeface="Times New Roman"/>
              <a:ea typeface="SimSun"/>
              <a:cs typeface="Calibri" panose="020F0502020204030204"/>
            </a:endParaRPr>
          </a:p>
          <a:p>
            <a:r>
              <a:rPr lang="en-US" sz="2800">
                <a:latin typeface="Times New Roman"/>
                <a:ea typeface="+mn-lt"/>
                <a:cs typeface="Times New Roman"/>
              </a:rPr>
              <a:t>=&gt;Linear (</a:t>
            </a:r>
            <a:r>
              <a:rPr lang="en-US" sz="2800">
                <a:latin typeface="Times New Roman"/>
                <a:ea typeface="+mn-lt"/>
                <a:cs typeface="+mn-lt"/>
              </a:rPr>
              <a:t>256,</a:t>
            </a:r>
            <a:r>
              <a:rPr lang="en-US" altLang="zh-CN" sz="2800">
                <a:latin typeface="Times New Roman"/>
                <a:ea typeface="+mn-lt"/>
                <a:cs typeface="+mn-lt"/>
              </a:rPr>
              <a:t> </a:t>
            </a:r>
            <a:r>
              <a:rPr lang="en-US" sz="2800">
                <a:latin typeface="Times New Roman"/>
                <a:ea typeface="+mn-lt"/>
                <a:cs typeface="+mn-lt"/>
              </a:rPr>
              <a:t>1)</a:t>
            </a:r>
            <a:r>
              <a:rPr lang="en-US" sz="2800">
                <a:latin typeface="Times New Roman"/>
                <a:ea typeface="+mn-lt"/>
                <a:cs typeface="Times New Roman"/>
              </a:rPr>
              <a:t>=&gt;</a:t>
            </a:r>
            <a:r>
              <a:rPr lang="en-US" sz="2800">
                <a:latin typeface="Times New Roman"/>
                <a:ea typeface="+mn-lt"/>
                <a:cs typeface="+mn-lt"/>
              </a:rPr>
              <a:t>Sigmoid</a:t>
            </a:r>
            <a:endParaRPr lang="zh-CN" sz="2800">
              <a:latin typeface="Times New Roman"/>
              <a:ea typeface="SimSun"/>
              <a:cs typeface="+mn-lt"/>
            </a:endParaRPr>
          </a:p>
        </p:txBody>
      </p:sp>
      <p:sp>
        <p:nvSpPr>
          <p:cNvPr id="6" name="文本框 5">
            <a:extLst>
              <a:ext uri="{FF2B5EF4-FFF2-40B4-BE49-F238E27FC236}">
                <a16:creationId xmlns:a16="http://schemas.microsoft.com/office/drawing/2014/main" id="{8B826012-63A1-4219-8DC7-8A1888044B35}"/>
              </a:ext>
            </a:extLst>
          </p:cNvPr>
          <p:cNvSpPr txBox="1"/>
          <p:nvPr/>
        </p:nvSpPr>
        <p:spPr>
          <a:xfrm>
            <a:off x="9970053" y="4812747"/>
            <a:ext cx="197015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 In Top_l, the first element, in this case 479, is added to the list after the initial args are set in order to match in dimensions.</a:t>
            </a:r>
          </a:p>
        </p:txBody>
      </p:sp>
    </p:spTree>
    <p:extLst>
      <p:ext uri="{BB962C8B-B14F-4D97-AF65-F5344CB8AC3E}">
        <p14:creationId xmlns:p14="http://schemas.microsoft.com/office/powerpoint/2010/main" val="4065387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50A4B60-025B-4B9C-B8AF-D07BC537523A}"/>
              </a:ext>
            </a:extLst>
          </p:cNvPr>
          <p:cNvSpPr>
            <a:spLocks noGrp="1"/>
          </p:cNvSpPr>
          <p:nvPr>
            <p:ph type="title"/>
          </p:nvPr>
        </p:nvSpPr>
        <p:spPr>
          <a:xfrm>
            <a:off x="860286" y="387212"/>
            <a:ext cx="8516731" cy="1325563"/>
          </a:xfrm>
        </p:spPr>
        <p:txBody>
          <a:bodyPr/>
          <a:lstStyle/>
          <a:p>
            <a:r>
              <a:rPr lang="zh-CN" altLang="en-US" b="1">
                <a:latin typeface="SimSun"/>
                <a:ea typeface="SimSun"/>
                <a:cs typeface="Calibri Light"/>
              </a:rPr>
              <a:t>Bot_l under</a:t>
            </a:r>
            <a:br>
              <a:rPr lang="zh-CN" altLang="en-US" b="1">
                <a:latin typeface="SimSun"/>
                <a:ea typeface="SimSun"/>
                <a:cs typeface="Calibri Light"/>
              </a:rPr>
            </a:br>
            <a:r>
              <a:rPr lang="zh-CN" altLang="en-US" b="1">
                <a:latin typeface="SimSun"/>
                <a:ea typeface="SimSun"/>
                <a:cs typeface="Calibri Light"/>
              </a:rPr>
              <a:t>the 'run_and_time.sh' setting</a:t>
            </a:r>
            <a:endParaRPr lang="zh-CN" altLang="en-US" b="1">
              <a:latin typeface="SimSun"/>
              <a:ea typeface="SimSun"/>
              <a:cs typeface="Times New Roman"/>
            </a:endParaRPr>
          </a:p>
        </p:txBody>
      </p:sp>
      <p:sp>
        <p:nvSpPr>
          <p:cNvPr id="7" name="文本框 6">
            <a:extLst>
              <a:ext uri="{FF2B5EF4-FFF2-40B4-BE49-F238E27FC236}">
                <a16:creationId xmlns:a16="http://schemas.microsoft.com/office/drawing/2014/main" id="{C5827130-AC72-4AAA-A49C-AE814A0B5A36}"/>
              </a:ext>
            </a:extLst>
          </p:cNvPr>
          <p:cNvSpPr txBox="1"/>
          <p:nvPr/>
        </p:nvSpPr>
        <p:spPr>
          <a:xfrm>
            <a:off x="859182" y="1687001"/>
            <a:ext cx="79888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a:latin typeface="Times New Roman"/>
                <a:ea typeface="SimSun"/>
                <a:cs typeface="+mn-lt"/>
              </a:rPr>
              <a:t>Input: N=[13, 512, 256, 128], m=-1</a:t>
            </a:r>
          </a:p>
          <a:p>
            <a:r>
              <a:rPr lang="en-US" altLang="zh-CN">
                <a:latin typeface="Times New Roman"/>
                <a:ea typeface="SimSun"/>
                <a:cs typeface="+mn-lt"/>
              </a:rPr>
              <a:t>Linear (</a:t>
            </a:r>
            <a:r>
              <a:rPr lang="zh-CN">
                <a:latin typeface="Times New Roman"/>
                <a:ea typeface="SimSun"/>
                <a:cs typeface="+mn-lt"/>
              </a:rPr>
              <a:t>13, 512</a:t>
            </a:r>
            <a:r>
              <a:rPr lang="en-US" altLang="zh-CN">
                <a:latin typeface="Times New Roman"/>
                <a:ea typeface="SimSun"/>
                <a:cs typeface="+mn-lt"/>
              </a:rPr>
              <a:t>)=&gt;</a:t>
            </a:r>
            <a:r>
              <a:rPr lang="zh-CN">
                <a:latin typeface="Times New Roman"/>
                <a:ea typeface="SimSun"/>
                <a:cs typeface="+mn-lt"/>
              </a:rPr>
              <a:t>ReLU</a:t>
            </a:r>
            <a:r>
              <a:rPr lang="en-US">
                <a:latin typeface="Times New Roman"/>
                <a:ea typeface="+mn-lt"/>
                <a:cs typeface="Times New Roman"/>
              </a:rPr>
              <a:t>=&gt;</a:t>
            </a:r>
            <a:r>
              <a:rPr lang="en-US" altLang="zh-CN">
                <a:latin typeface="Times New Roman"/>
                <a:ea typeface="SimSun"/>
                <a:cs typeface="Times New Roman"/>
              </a:rPr>
              <a:t>Linear (</a:t>
            </a:r>
            <a:r>
              <a:rPr lang="zh-CN">
                <a:latin typeface="Times New Roman"/>
                <a:ea typeface="SimSun"/>
                <a:cs typeface="+mn-lt"/>
              </a:rPr>
              <a:t>512, 256</a:t>
            </a:r>
            <a:r>
              <a:rPr lang="en-US" altLang="zh-CN">
                <a:latin typeface="Times New Roman"/>
                <a:ea typeface="SimSun"/>
                <a:cs typeface="+mn-lt"/>
              </a:rPr>
              <a:t>)=&gt;</a:t>
            </a:r>
            <a:r>
              <a:rPr lang="zh-CN">
                <a:latin typeface="Times New Roman"/>
                <a:ea typeface="SimSun"/>
                <a:cs typeface="+mn-lt"/>
              </a:rPr>
              <a:t>ReLU</a:t>
            </a:r>
            <a:endParaRPr lang="zh-CN">
              <a:latin typeface="Times New Roman"/>
              <a:ea typeface="SimSun"/>
              <a:cs typeface="Calibri"/>
            </a:endParaRPr>
          </a:p>
          <a:p>
            <a:r>
              <a:rPr lang="en-US">
                <a:latin typeface="Times New Roman"/>
                <a:ea typeface="+mn-lt"/>
                <a:cs typeface="Times New Roman"/>
              </a:rPr>
              <a:t>=&gt;</a:t>
            </a:r>
            <a:r>
              <a:rPr lang="en-US" altLang="zh-CN">
                <a:latin typeface="Times New Roman"/>
                <a:ea typeface="SimSun"/>
                <a:cs typeface="Times New Roman"/>
              </a:rPr>
              <a:t>Linear (</a:t>
            </a:r>
            <a:r>
              <a:rPr lang="zh-CN">
                <a:latin typeface="Times New Roman"/>
                <a:ea typeface="SimSun"/>
                <a:cs typeface="+mn-lt"/>
              </a:rPr>
              <a:t>256, 128</a:t>
            </a:r>
            <a:r>
              <a:rPr lang="en-US" altLang="zh-CN">
                <a:latin typeface="Times New Roman"/>
                <a:ea typeface="SimSun"/>
                <a:cs typeface="+mn-lt"/>
              </a:rPr>
              <a:t>)</a:t>
            </a:r>
            <a:r>
              <a:rPr lang="en-US" altLang="zh-CN">
                <a:latin typeface="Times New Roman"/>
                <a:ea typeface="SimSun"/>
                <a:cs typeface="Times New Roman"/>
              </a:rPr>
              <a:t>=&gt;</a:t>
            </a:r>
            <a:r>
              <a:rPr lang="zh-CN">
                <a:latin typeface="Times New Roman"/>
                <a:ea typeface="SimSun"/>
                <a:cs typeface="+mn-lt"/>
              </a:rPr>
              <a:t>ReLU</a:t>
            </a:r>
            <a:endParaRPr lang="zh-CN">
              <a:latin typeface="Times New Roman"/>
              <a:ea typeface="SimSun"/>
              <a:cs typeface="Calibri"/>
            </a:endParaRPr>
          </a:p>
        </p:txBody>
      </p:sp>
      <p:grpSp>
        <p:nvGrpSpPr>
          <p:cNvPr id="37" name="组合 36">
            <a:extLst>
              <a:ext uri="{FF2B5EF4-FFF2-40B4-BE49-F238E27FC236}">
                <a16:creationId xmlns:a16="http://schemas.microsoft.com/office/drawing/2014/main" id="{A0E7DEB2-6530-47F8-9007-EC3295A0047B}"/>
              </a:ext>
            </a:extLst>
          </p:cNvPr>
          <p:cNvGrpSpPr/>
          <p:nvPr/>
        </p:nvGrpSpPr>
        <p:grpSpPr>
          <a:xfrm>
            <a:off x="2176206" y="3221735"/>
            <a:ext cx="7407041" cy="2643773"/>
            <a:chOff x="1213038" y="3508248"/>
            <a:chExt cx="5639201" cy="1642367"/>
          </a:xfrm>
        </p:grpSpPr>
        <p:sp>
          <p:nvSpPr>
            <p:cNvPr id="10" name="文本框 9">
              <a:extLst>
                <a:ext uri="{FF2B5EF4-FFF2-40B4-BE49-F238E27FC236}">
                  <a16:creationId xmlns:a16="http://schemas.microsoft.com/office/drawing/2014/main" id="{759D548F-208F-4526-9C1E-3DEAD5B5FED5}"/>
                </a:ext>
              </a:extLst>
            </p:cNvPr>
            <p:cNvSpPr txBox="1"/>
            <p:nvPr/>
          </p:nvSpPr>
          <p:spPr>
            <a:xfrm>
              <a:off x="1213038" y="3880737"/>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13]</a:t>
              </a:r>
              <a:endParaRPr lang="zh-CN" sz="600">
                <a:ea typeface="宋体"/>
                <a:cs typeface="Calibri"/>
              </a:endParaRPr>
            </a:p>
          </p:txBody>
        </p:sp>
        <p:sp>
          <p:nvSpPr>
            <p:cNvPr id="13" name="矩形 12">
              <a:extLst>
                <a:ext uri="{FF2B5EF4-FFF2-40B4-BE49-F238E27FC236}">
                  <a16:creationId xmlns:a16="http://schemas.microsoft.com/office/drawing/2014/main" id="{F08BD9C7-B97E-496E-B82C-6A51D90C4EF1}"/>
                </a:ext>
              </a:extLst>
            </p:cNvPr>
            <p:cNvSpPr/>
            <p:nvPr/>
          </p:nvSpPr>
          <p:spPr>
            <a:xfrm rot="16200000">
              <a:off x="1420368" y="4075176"/>
              <a:ext cx="1280160" cy="146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0C5898F-C957-4453-94E2-EE809C5BCF59}"/>
                </a:ext>
              </a:extLst>
            </p:cNvPr>
            <p:cNvSpPr txBox="1"/>
            <p:nvPr/>
          </p:nvSpPr>
          <p:spPr>
            <a:xfrm>
              <a:off x="1879435" y="4781283"/>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13]</a:t>
              </a:r>
            </a:p>
            <a:p>
              <a:r>
                <a:rPr lang="zh-CN" altLang="en-US" sz="600">
                  <a:ea typeface="宋体"/>
                  <a:cs typeface="Calibri"/>
                </a:rPr>
                <a:t>+</a:t>
              </a:r>
            </a:p>
            <a:p>
              <a:r>
                <a:rPr lang="zh-CN" altLang="en-US" sz="600">
                  <a:ea typeface="宋体"/>
                  <a:cs typeface="Calibri"/>
                </a:rPr>
                <a:t>ReLU</a:t>
              </a:r>
            </a:p>
          </p:txBody>
        </p:sp>
        <p:sp>
          <p:nvSpPr>
            <p:cNvPr id="16" name="文本框 15">
              <a:extLst>
                <a:ext uri="{FF2B5EF4-FFF2-40B4-BE49-F238E27FC236}">
                  <a16:creationId xmlns:a16="http://schemas.microsoft.com/office/drawing/2014/main" id="{9BC1CB38-3835-4641-9D6A-F9CD8A78A5E4}"/>
                </a:ext>
              </a:extLst>
            </p:cNvPr>
            <p:cNvSpPr txBox="1"/>
            <p:nvPr/>
          </p:nvSpPr>
          <p:spPr>
            <a:xfrm>
              <a:off x="3303965" y="4514721"/>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dirty="0">
                  <a:ea typeface="+mn-lt"/>
                  <a:cs typeface="+mn-lt"/>
                </a:rPr>
                <a:t>, </a:t>
              </a:r>
              <a:r>
                <a:rPr lang="en-US" altLang="zh-CN" sz="600" dirty="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7" name="矩形 16">
              <a:extLst>
                <a:ext uri="{FF2B5EF4-FFF2-40B4-BE49-F238E27FC236}">
                  <a16:creationId xmlns:a16="http://schemas.microsoft.com/office/drawing/2014/main" id="{FD3B65CC-D4EA-449B-AA59-A03B2B787898}"/>
                </a:ext>
              </a:extLst>
            </p:cNvPr>
            <p:cNvSpPr/>
            <p:nvPr/>
          </p:nvSpPr>
          <p:spPr>
            <a:xfrm>
              <a:off x="3121152" y="3776472"/>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D180E87E-E778-4D06-9E88-C5450ADD8EB3}"/>
                </a:ext>
              </a:extLst>
            </p:cNvPr>
            <p:cNvSpPr/>
            <p:nvPr/>
          </p:nvSpPr>
          <p:spPr>
            <a:xfrm rot="16200000">
              <a:off x="1545336" y="4090416"/>
              <a:ext cx="1292352" cy="12801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44C8D09F-D6E7-44A4-8FAD-D436970D3A16}"/>
                </a:ext>
              </a:extLst>
            </p:cNvPr>
            <p:cNvSpPr/>
            <p:nvPr/>
          </p:nvSpPr>
          <p:spPr>
            <a:xfrm rot="16200000">
              <a:off x="3916680" y="4096512"/>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9A7723B4-555E-4489-B9B5-A99BE628C492}"/>
                </a:ext>
              </a:extLst>
            </p:cNvPr>
            <p:cNvSpPr txBox="1"/>
            <p:nvPr/>
          </p:nvSpPr>
          <p:spPr>
            <a:xfrm>
              <a:off x="5199821" y="4368417"/>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[1</a:t>
              </a:r>
              <a:r>
                <a:rPr lang="en-US" altLang="zh-CN" sz="600">
                  <a:ea typeface="+mn-lt"/>
                  <a:cs typeface="+mn-lt"/>
                </a:rPr>
                <a:t>28,</a:t>
              </a:r>
              <a:r>
                <a:rPr lang="zh-CN" altLang="en-US" sz="600" dirty="0">
                  <a:ea typeface="+mn-lt"/>
                  <a:cs typeface="+mn-lt"/>
                </a:rPr>
                <a:t> </a:t>
              </a:r>
              <a:r>
                <a:rPr lang="en-US" altLang="en-US" sz="60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22" name="矩形 21">
              <a:extLst>
                <a:ext uri="{FF2B5EF4-FFF2-40B4-BE49-F238E27FC236}">
                  <a16:creationId xmlns:a16="http://schemas.microsoft.com/office/drawing/2014/main" id="{BA79C6DD-407E-4553-A7DE-BE16ADA5CFC1}"/>
                </a:ext>
              </a:extLst>
            </p:cNvPr>
            <p:cNvSpPr/>
            <p:nvPr/>
          </p:nvSpPr>
          <p:spPr>
            <a:xfrm rot="5400000">
              <a:off x="5370576" y="3813047"/>
              <a:ext cx="384048" cy="707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CCB704D-8CDB-4322-B85E-D2E25B0E8591}"/>
                </a:ext>
              </a:extLst>
            </p:cNvPr>
            <p:cNvSpPr/>
            <p:nvPr/>
          </p:nvSpPr>
          <p:spPr>
            <a:xfrm rot="16200000">
              <a:off x="5763768" y="4126992"/>
              <a:ext cx="390144"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6314071F-9A9F-4FCF-B966-2C050D4CFBBA}"/>
                </a:ext>
              </a:extLst>
            </p:cNvPr>
            <p:cNvSpPr txBox="1"/>
            <p:nvPr/>
          </p:nvSpPr>
          <p:spPr>
            <a:xfrm>
              <a:off x="2304221" y="3886833"/>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sp>
          <p:nvSpPr>
            <p:cNvPr id="26" name="文本框 25">
              <a:extLst>
                <a:ext uri="{FF2B5EF4-FFF2-40B4-BE49-F238E27FC236}">
                  <a16:creationId xmlns:a16="http://schemas.microsoft.com/office/drawing/2014/main" id="{C80A2BCB-68B0-422C-99C3-59E581351EF5}"/>
                </a:ext>
              </a:extLst>
            </p:cNvPr>
            <p:cNvSpPr txBox="1"/>
            <p:nvPr/>
          </p:nvSpPr>
          <p:spPr>
            <a:xfrm>
              <a:off x="4328093" y="3911217"/>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28" name="文本框 27">
              <a:extLst>
                <a:ext uri="{FF2B5EF4-FFF2-40B4-BE49-F238E27FC236}">
                  <a16:creationId xmlns:a16="http://schemas.microsoft.com/office/drawing/2014/main" id="{7D4D66D7-474D-4504-B164-2DE3A18B7ABB}"/>
                </a:ext>
              </a:extLst>
            </p:cNvPr>
            <p:cNvSpPr txBox="1"/>
            <p:nvPr/>
          </p:nvSpPr>
          <p:spPr>
            <a:xfrm>
              <a:off x="5937437" y="3947793"/>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128]</a:t>
              </a:r>
              <a:endParaRPr lang="zh-CN" sz="600">
                <a:ea typeface="宋体"/>
                <a:cs typeface="Calibri"/>
              </a:endParaRPr>
            </a:p>
          </p:txBody>
        </p:sp>
        <p:cxnSp>
          <p:nvCxnSpPr>
            <p:cNvPr id="31" name="直接箭头连接符 30">
              <a:extLst>
                <a:ext uri="{FF2B5EF4-FFF2-40B4-BE49-F238E27FC236}">
                  <a16:creationId xmlns:a16="http://schemas.microsoft.com/office/drawing/2014/main" id="{0B918D3C-F57A-4127-8D86-91A140D95895}"/>
                </a:ext>
              </a:extLst>
            </p:cNvPr>
            <p:cNvCxnSpPr/>
            <p:nvPr/>
          </p:nvCxnSpPr>
          <p:spPr>
            <a:xfrm flipV="1">
              <a:off x="1269332" y="4142324"/>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F481E71-4AF6-426F-8FBF-5BC2D13C2786}"/>
                </a:ext>
              </a:extLst>
            </p:cNvPr>
            <p:cNvCxnSpPr>
              <a:cxnSpLocks/>
            </p:cNvCxnSpPr>
            <p:nvPr/>
          </p:nvCxnSpPr>
          <p:spPr>
            <a:xfrm>
              <a:off x="2250787" y="4116091"/>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A5973262-1024-471F-AE47-6998AC55D371}"/>
                </a:ext>
              </a:extLst>
            </p:cNvPr>
            <p:cNvCxnSpPr>
              <a:cxnSpLocks/>
            </p:cNvCxnSpPr>
            <p:nvPr/>
          </p:nvCxnSpPr>
          <p:spPr>
            <a:xfrm>
              <a:off x="4347811" y="4183147"/>
              <a:ext cx="860117" cy="7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09FDA919-017A-4B89-B928-47C80F0AA7D2}"/>
                </a:ext>
              </a:extLst>
            </p:cNvPr>
            <p:cNvCxnSpPr>
              <a:cxnSpLocks/>
            </p:cNvCxnSpPr>
            <p:nvPr/>
          </p:nvCxnSpPr>
          <p:spPr>
            <a:xfrm>
              <a:off x="5993731" y="4183147"/>
              <a:ext cx="658949"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454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D4BFA1C-CED0-4386-BDF1-FC3508BF90D2}"/>
              </a:ext>
            </a:extLst>
          </p:cNvPr>
          <p:cNvSpPr>
            <a:spLocks noGrp="1"/>
          </p:cNvSpPr>
          <p:nvPr/>
        </p:nvSpPr>
        <p:spPr>
          <a:xfrm>
            <a:off x="683504" y="393753"/>
            <a:ext cx="8516730" cy="13366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latin typeface="SimSun"/>
                <a:ea typeface="SimSun"/>
                <a:cs typeface="Calibri Light"/>
              </a:rPr>
              <a:t>Top_l </a:t>
            </a:r>
            <a:r>
              <a:rPr lang="zh-CN" b="1">
                <a:latin typeface="SimSun"/>
                <a:ea typeface="SimSun"/>
                <a:cs typeface="+mj-lt"/>
              </a:rPr>
              <a:t>under</a:t>
            </a:r>
            <a:endParaRPr lang="zh-CN" altLang="en-US"/>
          </a:p>
          <a:p>
            <a:r>
              <a:rPr lang="zh-CN" b="1">
                <a:latin typeface="SimSun"/>
                <a:ea typeface="SimSun"/>
                <a:cs typeface="+mj-lt"/>
              </a:rPr>
              <a:t>the</a:t>
            </a:r>
            <a:r>
              <a:rPr lang="zh-CN" altLang="en-US" b="1">
                <a:latin typeface="SimSun"/>
                <a:ea typeface="SimSun"/>
                <a:cs typeface="+mj-lt"/>
              </a:rPr>
              <a:t> </a:t>
            </a:r>
            <a:r>
              <a:rPr lang="zh-CN" b="1">
                <a:latin typeface="SimSun"/>
                <a:ea typeface="SimSun"/>
                <a:cs typeface="+mj-lt"/>
              </a:rPr>
              <a:t>'run_and_time.sh'</a:t>
            </a:r>
            <a:r>
              <a:rPr lang="zh-CN" altLang="en-US" b="1">
                <a:latin typeface="SimSun"/>
                <a:ea typeface="SimSun"/>
                <a:cs typeface="+mj-lt"/>
              </a:rPr>
              <a:t> </a:t>
            </a:r>
            <a:r>
              <a:rPr lang="zh-CN" b="1">
                <a:latin typeface="SimSun"/>
                <a:ea typeface="SimSun"/>
                <a:cs typeface="+mj-lt"/>
              </a:rPr>
              <a:t>setting</a:t>
            </a:r>
            <a:endParaRPr lang="zh-CN"/>
          </a:p>
        </p:txBody>
      </p:sp>
      <p:sp>
        <p:nvSpPr>
          <p:cNvPr id="7" name="文本框 2">
            <a:extLst>
              <a:ext uri="{FF2B5EF4-FFF2-40B4-BE49-F238E27FC236}">
                <a16:creationId xmlns:a16="http://schemas.microsoft.com/office/drawing/2014/main" id="{2AB0E7BF-6B9D-4BFC-A380-B44E4E03C957}"/>
              </a:ext>
            </a:extLst>
          </p:cNvPr>
          <p:cNvSpPr txBox="1"/>
          <p:nvPr/>
        </p:nvSpPr>
        <p:spPr>
          <a:xfrm>
            <a:off x="712878" y="1713770"/>
            <a:ext cx="8960676"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Times New Roman"/>
                <a:ea typeface="+mn-lt"/>
                <a:cs typeface="Times New Roman"/>
              </a:rPr>
              <a:t>Input: N=[</a:t>
            </a:r>
            <a:r>
              <a:rPr lang="en-US">
                <a:highlight>
                  <a:srgbClr val="FFFF00"/>
                </a:highlight>
                <a:latin typeface="Times New Roman"/>
                <a:ea typeface="+mn-lt"/>
                <a:cs typeface="Times New Roman"/>
              </a:rPr>
              <a:t>479</a:t>
            </a:r>
            <a:r>
              <a:rPr lang="en-US">
                <a:latin typeface="Times New Roman"/>
                <a:ea typeface="+mn-lt"/>
                <a:cs typeface="Times New Roman"/>
              </a:rPr>
              <a:t>, 1024, 1024, 512, 256, 1], m=4</a:t>
            </a:r>
            <a:endParaRPr lang="zh-CN">
              <a:ea typeface="宋体"/>
              <a:cs typeface="Calibri"/>
            </a:endParaRPr>
          </a:p>
          <a:p>
            <a:r>
              <a:rPr lang="en-US">
                <a:latin typeface="Times New Roman"/>
                <a:ea typeface="+mn-lt"/>
                <a:cs typeface="Times New Roman"/>
              </a:rPr>
              <a:t>Linear (</a:t>
            </a:r>
            <a:r>
              <a:rPr lang="en-US">
                <a:latin typeface="Times New Roman"/>
                <a:ea typeface="+mn-lt"/>
                <a:cs typeface="+mn-lt"/>
              </a:rPr>
              <a:t>479,</a:t>
            </a:r>
            <a:r>
              <a:rPr lang="en-US" altLang="zh-CN">
                <a:latin typeface="Times New Roman"/>
                <a:ea typeface="+mn-lt"/>
                <a:cs typeface="+mn-lt"/>
              </a:rPr>
              <a:t> </a:t>
            </a:r>
            <a:r>
              <a:rPr lang="en-US">
                <a:latin typeface="Times New Roman"/>
                <a:ea typeface="+mn-lt"/>
                <a:cs typeface="+mn-lt"/>
              </a:rPr>
              <a:t>1024)</a:t>
            </a:r>
            <a:r>
              <a:rPr lang="en-US">
                <a:latin typeface="Times New Roman"/>
                <a:ea typeface="+mn-lt"/>
                <a:cs typeface="Times New Roman"/>
              </a:rPr>
              <a:t>=&gt;</a:t>
            </a:r>
            <a:r>
              <a:rPr lang="en-US" err="1">
                <a:latin typeface="Times New Roman"/>
                <a:ea typeface="+mn-lt"/>
                <a:cs typeface="+mn-lt"/>
              </a:rPr>
              <a:t>ReLU</a:t>
            </a:r>
            <a:r>
              <a:rPr lang="en-US">
                <a:latin typeface="Times New Roman"/>
                <a:ea typeface="+mn-lt"/>
                <a:cs typeface="Times New Roman"/>
              </a:rPr>
              <a:t>=&gt;Linear (</a:t>
            </a:r>
            <a:r>
              <a:rPr lang="en-US">
                <a:latin typeface="Times New Roman"/>
                <a:ea typeface="+mn-lt"/>
                <a:cs typeface="+mn-lt"/>
              </a:rPr>
              <a:t>1024,</a:t>
            </a:r>
            <a:r>
              <a:rPr lang="en-US" altLang="zh-CN">
                <a:latin typeface="Times New Roman"/>
                <a:ea typeface="+mn-lt"/>
                <a:cs typeface="+mn-lt"/>
              </a:rPr>
              <a:t> </a:t>
            </a:r>
            <a:r>
              <a:rPr lang="en-US">
                <a:latin typeface="Times New Roman"/>
                <a:ea typeface="+mn-lt"/>
                <a:cs typeface="+mn-lt"/>
              </a:rPr>
              <a:t>1024)</a:t>
            </a:r>
            <a:r>
              <a:rPr lang="en-US">
                <a:latin typeface="Times New Roman"/>
                <a:ea typeface="+mn-lt"/>
                <a:cs typeface="Times New Roman"/>
              </a:rPr>
              <a:t>=&gt;</a:t>
            </a:r>
            <a:r>
              <a:rPr lang="en-US" err="1">
                <a:latin typeface="Times New Roman"/>
                <a:ea typeface="+mn-lt"/>
                <a:cs typeface="+mn-lt"/>
              </a:rPr>
              <a:t>ReLU</a:t>
            </a:r>
            <a:endParaRPr lang="zh-CN" altLang="en-US">
              <a:latin typeface="Times New Roman"/>
              <a:ea typeface="SimSun"/>
              <a:cs typeface="Calibri" panose="020F0502020204030204"/>
            </a:endParaRPr>
          </a:p>
          <a:p>
            <a:r>
              <a:rPr lang="en-US">
                <a:latin typeface="Times New Roman"/>
                <a:ea typeface="+mn-lt"/>
                <a:cs typeface="Times New Roman"/>
              </a:rPr>
              <a:t>=&gt;Linear (</a:t>
            </a:r>
            <a:r>
              <a:rPr lang="en-US">
                <a:latin typeface="Times New Roman"/>
                <a:ea typeface="+mn-lt"/>
                <a:cs typeface="+mn-lt"/>
              </a:rPr>
              <a:t>1024,</a:t>
            </a:r>
            <a:r>
              <a:rPr lang="en-US" altLang="zh-CN">
                <a:latin typeface="Times New Roman"/>
                <a:ea typeface="+mn-lt"/>
                <a:cs typeface="+mn-lt"/>
              </a:rPr>
              <a:t> </a:t>
            </a:r>
            <a:r>
              <a:rPr lang="en-US">
                <a:latin typeface="Times New Roman"/>
                <a:ea typeface="+mn-lt"/>
                <a:cs typeface="+mn-lt"/>
              </a:rPr>
              <a:t>512)</a:t>
            </a:r>
            <a:r>
              <a:rPr lang="en-US">
                <a:latin typeface="Times New Roman"/>
                <a:ea typeface="+mn-lt"/>
                <a:cs typeface="Times New Roman"/>
              </a:rPr>
              <a:t>=&gt;</a:t>
            </a:r>
            <a:r>
              <a:rPr lang="en-US" err="1">
                <a:latin typeface="Times New Roman"/>
                <a:ea typeface="+mn-lt"/>
                <a:cs typeface="+mn-lt"/>
              </a:rPr>
              <a:t>ReLU</a:t>
            </a:r>
            <a:r>
              <a:rPr lang="en-US">
                <a:latin typeface="Times New Roman"/>
                <a:ea typeface="+mn-lt"/>
                <a:cs typeface="Times New Roman"/>
              </a:rPr>
              <a:t>=&gt;Linear (</a:t>
            </a:r>
            <a:r>
              <a:rPr lang="en-US">
                <a:latin typeface="Times New Roman"/>
                <a:ea typeface="+mn-lt"/>
                <a:cs typeface="+mn-lt"/>
              </a:rPr>
              <a:t>512,</a:t>
            </a:r>
            <a:r>
              <a:rPr lang="en-US" altLang="zh-CN">
                <a:latin typeface="Times New Roman"/>
                <a:ea typeface="+mn-lt"/>
                <a:cs typeface="+mn-lt"/>
              </a:rPr>
              <a:t> </a:t>
            </a:r>
            <a:r>
              <a:rPr lang="en-US">
                <a:latin typeface="Times New Roman"/>
                <a:ea typeface="+mn-lt"/>
                <a:cs typeface="+mn-lt"/>
              </a:rPr>
              <a:t>256)</a:t>
            </a:r>
            <a:r>
              <a:rPr lang="en-US">
                <a:latin typeface="Times New Roman"/>
                <a:ea typeface="+mn-lt"/>
                <a:cs typeface="Times New Roman"/>
              </a:rPr>
              <a:t>=&gt;</a:t>
            </a:r>
            <a:r>
              <a:rPr lang="en-US" err="1">
                <a:latin typeface="Times New Roman"/>
                <a:ea typeface="+mn-lt"/>
                <a:cs typeface="+mn-lt"/>
              </a:rPr>
              <a:t>ReLU</a:t>
            </a:r>
            <a:endParaRPr lang="zh-CN" altLang="en-US">
              <a:latin typeface="Times New Roman"/>
              <a:ea typeface="SimSun"/>
              <a:cs typeface="Calibri" panose="020F0502020204030204"/>
            </a:endParaRPr>
          </a:p>
          <a:p>
            <a:r>
              <a:rPr lang="en-US">
                <a:latin typeface="Times New Roman"/>
                <a:ea typeface="+mn-lt"/>
                <a:cs typeface="Times New Roman"/>
              </a:rPr>
              <a:t>=&gt;Linear (</a:t>
            </a:r>
            <a:r>
              <a:rPr lang="en-US">
                <a:latin typeface="Times New Roman"/>
                <a:ea typeface="+mn-lt"/>
                <a:cs typeface="+mn-lt"/>
              </a:rPr>
              <a:t>256,</a:t>
            </a:r>
            <a:r>
              <a:rPr lang="en-US" altLang="zh-CN">
                <a:latin typeface="Times New Roman"/>
                <a:ea typeface="+mn-lt"/>
                <a:cs typeface="+mn-lt"/>
              </a:rPr>
              <a:t> </a:t>
            </a:r>
            <a:r>
              <a:rPr lang="en-US">
                <a:latin typeface="Times New Roman"/>
                <a:ea typeface="+mn-lt"/>
                <a:cs typeface="+mn-lt"/>
              </a:rPr>
              <a:t>1)</a:t>
            </a:r>
            <a:r>
              <a:rPr lang="en-US">
                <a:latin typeface="Times New Roman"/>
                <a:ea typeface="+mn-lt"/>
                <a:cs typeface="Times New Roman"/>
              </a:rPr>
              <a:t>=&gt;</a:t>
            </a:r>
            <a:r>
              <a:rPr lang="en-US">
                <a:latin typeface="Times New Roman"/>
                <a:ea typeface="+mn-lt"/>
                <a:cs typeface="+mn-lt"/>
              </a:rPr>
              <a:t>Sigmoid</a:t>
            </a:r>
            <a:endParaRPr lang="zh-CN">
              <a:latin typeface="Times New Roman"/>
              <a:ea typeface="SimSun"/>
              <a:cs typeface="+mn-lt"/>
            </a:endParaRPr>
          </a:p>
        </p:txBody>
      </p:sp>
      <p:grpSp>
        <p:nvGrpSpPr>
          <p:cNvPr id="2" name="组合 1">
            <a:extLst>
              <a:ext uri="{FF2B5EF4-FFF2-40B4-BE49-F238E27FC236}">
                <a16:creationId xmlns:a16="http://schemas.microsoft.com/office/drawing/2014/main" id="{FF62BC35-AA3F-4448-95AE-6E36C9B5036E}"/>
              </a:ext>
            </a:extLst>
          </p:cNvPr>
          <p:cNvGrpSpPr/>
          <p:nvPr/>
        </p:nvGrpSpPr>
        <p:grpSpPr>
          <a:xfrm>
            <a:off x="780222" y="3426412"/>
            <a:ext cx="10784225" cy="1774633"/>
            <a:chOff x="786318" y="3328876"/>
            <a:chExt cx="10784225" cy="1774633"/>
          </a:xfrm>
        </p:grpSpPr>
        <p:sp>
          <p:nvSpPr>
            <p:cNvPr id="9" name="文本框 8">
              <a:extLst>
                <a:ext uri="{FF2B5EF4-FFF2-40B4-BE49-F238E27FC236}">
                  <a16:creationId xmlns:a16="http://schemas.microsoft.com/office/drawing/2014/main" id="{42F21D04-4ADC-4ED6-B628-1AF4E4406F64}"/>
                </a:ext>
              </a:extLst>
            </p:cNvPr>
            <p:cNvSpPr txBox="1"/>
            <p:nvPr/>
          </p:nvSpPr>
          <p:spPr>
            <a:xfrm>
              <a:off x="786318" y="3789297"/>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479]</a:t>
              </a:r>
              <a:endParaRPr lang="zh-CN" sz="600">
                <a:ea typeface="宋体"/>
                <a:cs typeface="Calibri"/>
              </a:endParaRPr>
            </a:p>
          </p:txBody>
        </p:sp>
        <p:sp>
          <p:nvSpPr>
            <p:cNvPr id="13" name="矩形 12">
              <a:extLst>
                <a:ext uri="{FF2B5EF4-FFF2-40B4-BE49-F238E27FC236}">
                  <a16:creationId xmlns:a16="http://schemas.microsoft.com/office/drawing/2014/main" id="{ADDF71BB-61F2-4E2C-9A26-6A11897F54D9}"/>
                </a:ext>
              </a:extLst>
            </p:cNvPr>
            <p:cNvSpPr/>
            <p:nvPr/>
          </p:nvSpPr>
          <p:spPr>
            <a:xfrm>
              <a:off x="1591056" y="3392424"/>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62E954AE-CEA6-4E35-A6DB-6310D9DC6544}"/>
                </a:ext>
              </a:extLst>
            </p:cNvPr>
            <p:cNvSpPr txBox="1"/>
            <p:nvPr/>
          </p:nvSpPr>
          <p:spPr>
            <a:xfrm>
              <a:off x="1627565" y="4685409"/>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479]</a:t>
              </a:r>
            </a:p>
            <a:p>
              <a:r>
                <a:rPr lang="zh-CN" altLang="en-US" sz="600">
                  <a:ea typeface="宋体"/>
                  <a:cs typeface="Calibri"/>
                </a:rPr>
                <a:t>+</a:t>
              </a:r>
            </a:p>
            <a:p>
              <a:r>
                <a:rPr lang="zh-CN" altLang="en-US" sz="600">
                  <a:ea typeface="宋体"/>
                  <a:cs typeface="Calibri"/>
                </a:rPr>
                <a:t>ReLU</a:t>
              </a:r>
            </a:p>
          </p:txBody>
        </p:sp>
        <p:sp>
          <p:nvSpPr>
            <p:cNvPr id="17" name="文本框 16">
              <a:extLst>
                <a:ext uri="{FF2B5EF4-FFF2-40B4-BE49-F238E27FC236}">
                  <a16:creationId xmlns:a16="http://schemas.microsoft.com/office/drawing/2014/main" id="{B37F1CF8-6590-48AF-BF32-EE6E302B5655}"/>
                </a:ext>
              </a:extLst>
            </p:cNvPr>
            <p:cNvSpPr txBox="1"/>
            <p:nvPr/>
          </p:nvSpPr>
          <p:spPr>
            <a:xfrm>
              <a:off x="7967405" y="4417185"/>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dirty="0">
                  <a:ea typeface="+mn-lt"/>
                  <a:cs typeface="+mn-lt"/>
                </a:rPr>
                <a:t>56</a:t>
              </a:r>
              <a:r>
                <a:rPr lang="zh-CN" sz="600" dirty="0">
                  <a:ea typeface="+mn-lt"/>
                  <a:cs typeface="+mn-lt"/>
                </a:rPr>
                <a:t>, </a:t>
              </a:r>
              <a:r>
                <a:rPr lang="en-US" altLang="zh-CN" sz="600" dirty="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9" name="矩形 18">
              <a:extLst>
                <a:ext uri="{FF2B5EF4-FFF2-40B4-BE49-F238E27FC236}">
                  <a16:creationId xmlns:a16="http://schemas.microsoft.com/office/drawing/2014/main" id="{1008DFA1-7FC7-46A9-AB2A-9E5F412620B0}"/>
                </a:ext>
              </a:extLst>
            </p:cNvPr>
            <p:cNvSpPr/>
            <p:nvPr/>
          </p:nvSpPr>
          <p:spPr>
            <a:xfrm>
              <a:off x="8010144" y="3672840"/>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0F153C9-462E-41F7-8890-C27FED134D72}"/>
                </a:ext>
              </a:extLst>
            </p:cNvPr>
            <p:cNvSpPr/>
            <p:nvPr/>
          </p:nvSpPr>
          <p:spPr>
            <a:xfrm rot="16200000">
              <a:off x="1837944" y="4005072"/>
              <a:ext cx="1292352"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2A0EF93-0FAB-4857-B496-1173FE6F2049}"/>
                </a:ext>
              </a:extLst>
            </p:cNvPr>
            <p:cNvSpPr/>
            <p:nvPr/>
          </p:nvSpPr>
          <p:spPr>
            <a:xfrm rot="16200000">
              <a:off x="8805672" y="3992880"/>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C6101473-B4A1-4562-99F3-E54A5216CCAD}"/>
                </a:ext>
              </a:extLst>
            </p:cNvPr>
            <p:cNvSpPr txBox="1"/>
            <p:nvPr/>
          </p:nvSpPr>
          <p:spPr>
            <a:xfrm>
              <a:off x="9948605" y="4100193"/>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[1</a:t>
              </a:r>
              <a:r>
                <a:rPr lang="en-US" altLang="zh-CN" sz="600">
                  <a:ea typeface="+mn-lt"/>
                  <a:cs typeface="+mn-lt"/>
                </a:rPr>
                <a:t>,</a:t>
              </a:r>
              <a:r>
                <a:rPr lang="zh-CN" altLang="en-US" sz="600" dirty="0">
                  <a:ea typeface="+mn-lt"/>
                  <a:cs typeface="+mn-lt"/>
                </a:rPr>
                <a:t> </a:t>
              </a:r>
              <a:r>
                <a:rPr lang="en-US" altLang="en-US" sz="600">
                  <a:ea typeface="+mn-lt"/>
                  <a:cs typeface="+mn-lt"/>
                </a:rPr>
                <a:t>256</a:t>
              </a:r>
              <a:r>
                <a:rPr lang="zh-CN" sz="600">
                  <a:ea typeface="+mn-lt"/>
                  <a:cs typeface="+mn-lt"/>
                </a:rPr>
                <a:t>]</a:t>
              </a:r>
            </a:p>
            <a:p>
              <a:r>
                <a:rPr lang="zh-CN" altLang="en-US" sz="600">
                  <a:ea typeface="+mn-lt"/>
                  <a:cs typeface="+mn-lt"/>
                </a:rPr>
                <a:t>+</a:t>
              </a:r>
            </a:p>
            <a:p>
              <a:r>
                <a:rPr lang="zh-CN" altLang="en-US" sz="600">
                  <a:ea typeface="+mn-lt"/>
                  <a:cs typeface="+mn-lt"/>
                </a:rPr>
                <a:t>Sigmoid</a:t>
              </a:r>
            </a:p>
          </p:txBody>
        </p:sp>
        <p:sp>
          <p:nvSpPr>
            <p:cNvPr id="27" name="矩形 26">
              <a:extLst>
                <a:ext uri="{FF2B5EF4-FFF2-40B4-BE49-F238E27FC236}">
                  <a16:creationId xmlns:a16="http://schemas.microsoft.com/office/drawing/2014/main" id="{FBB98257-0EE0-4EA3-AD19-AC9B17E25CDA}"/>
                </a:ext>
              </a:extLst>
            </p:cNvPr>
            <p:cNvSpPr/>
            <p:nvPr/>
          </p:nvSpPr>
          <p:spPr>
            <a:xfrm rot="5400000">
              <a:off x="10192512" y="3715511"/>
              <a:ext cx="54864"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2EA2BC58-FA88-4918-8D82-ABEFF8D350B4}"/>
                </a:ext>
              </a:extLst>
            </p:cNvPr>
            <p:cNvSpPr/>
            <p:nvPr/>
          </p:nvSpPr>
          <p:spPr>
            <a:xfrm rot="16200000">
              <a:off x="10588752" y="4050792"/>
              <a:ext cx="60960" cy="4876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482BD23B-C1B2-46A4-98CB-59C965AFC3FD}"/>
                </a:ext>
              </a:extLst>
            </p:cNvPr>
            <p:cNvSpPr txBox="1"/>
            <p:nvPr/>
          </p:nvSpPr>
          <p:spPr>
            <a:xfrm>
              <a:off x="2487101" y="3746625"/>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sp>
          <p:nvSpPr>
            <p:cNvPr id="35" name="文本框 34">
              <a:extLst>
                <a:ext uri="{FF2B5EF4-FFF2-40B4-BE49-F238E27FC236}">
                  <a16:creationId xmlns:a16="http://schemas.microsoft.com/office/drawing/2014/main" id="{D6981BD1-A4EA-46DF-8818-12FEE72B81D7}"/>
                </a:ext>
              </a:extLst>
            </p:cNvPr>
            <p:cNvSpPr txBox="1"/>
            <p:nvPr/>
          </p:nvSpPr>
          <p:spPr>
            <a:xfrm>
              <a:off x="9168317" y="3850257"/>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4: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39" name="文本框 38">
              <a:extLst>
                <a:ext uri="{FF2B5EF4-FFF2-40B4-BE49-F238E27FC236}">
                  <a16:creationId xmlns:a16="http://schemas.microsoft.com/office/drawing/2014/main" id="{B5BAAAB6-F828-4F46-8775-8868382930C4}"/>
                </a:ext>
              </a:extLst>
            </p:cNvPr>
            <p:cNvSpPr txBox="1"/>
            <p:nvPr/>
          </p:nvSpPr>
          <p:spPr>
            <a:xfrm>
              <a:off x="10655741" y="3844161"/>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5: </a:t>
              </a:r>
              <a:endParaRPr lang="zh-CN" sz="600">
                <a:ea typeface="宋体"/>
                <a:cs typeface="Calibri"/>
              </a:endParaRPr>
            </a:p>
            <a:p>
              <a:r>
                <a:rPr lang="zh-CN" altLang="en-US" sz="600">
                  <a:ea typeface="宋体"/>
                  <a:cs typeface="Calibri"/>
                </a:rPr>
                <a:t>[batch_size, 1]</a:t>
              </a:r>
              <a:endParaRPr lang="zh-CN" sz="600">
                <a:ea typeface="宋体"/>
                <a:cs typeface="Calibri"/>
              </a:endParaRPr>
            </a:p>
          </p:txBody>
        </p:sp>
        <p:cxnSp>
          <p:nvCxnSpPr>
            <p:cNvPr id="43" name="直接箭头连接符 42">
              <a:extLst>
                <a:ext uri="{FF2B5EF4-FFF2-40B4-BE49-F238E27FC236}">
                  <a16:creationId xmlns:a16="http://schemas.microsoft.com/office/drawing/2014/main" id="{7A8B5441-916D-4DF2-AE53-E9DCF5E52CED}"/>
                </a:ext>
              </a:extLst>
            </p:cNvPr>
            <p:cNvCxnSpPr/>
            <p:nvPr/>
          </p:nvCxnSpPr>
          <p:spPr>
            <a:xfrm flipV="1">
              <a:off x="860900" y="4032596"/>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BA7582B6-31D7-4750-9212-0317F1D69688}"/>
                </a:ext>
              </a:extLst>
            </p:cNvPr>
            <p:cNvCxnSpPr>
              <a:cxnSpLocks/>
            </p:cNvCxnSpPr>
            <p:nvPr/>
          </p:nvCxnSpPr>
          <p:spPr>
            <a:xfrm>
              <a:off x="2525107" y="4018555"/>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269CD65D-18C1-4A64-8E86-F91966CCF409}"/>
                </a:ext>
              </a:extLst>
            </p:cNvPr>
            <p:cNvCxnSpPr>
              <a:cxnSpLocks/>
            </p:cNvCxnSpPr>
            <p:nvPr/>
          </p:nvCxnSpPr>
          <p:spPr>
            <a:xfrm flipV="1">
              <a:off x="9230707" y="4081363"/>
              <a:ext cx="597989" cy="4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96E34BB6-46E7-49A7-AA8C-AB47B0726CCF}"/>
                </a:ext>
              </a:extLst>
            </p:cNvPr>
            <p:cNvCxnSpPr>
              <a:cxnSpLocks/>
            </p:cNvCxnSpPr>
            <p:nvPr/>
          </p:nvCxnSpPr>
          <p:spPr>
            <a:xfrm>
              <a:off x="10724227" y="4073419"/>
              <a:ext cx="555317"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82668CCA-524C-44B7-80C6-495F78513B81}"/>
                </a:ext>
              </a:extLst>
            </p:cNvPr>
            <p:cNvSpPr/>
            <p:nvPr/>
          </p:nvSpPr>
          <p:spPr>
            <a:xfrm>
              <a:off x="3396736" y="3328876"/>
              <a:ext cx="1527107" cy="14111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ADB08DED-29D1-454F-BDB8-1BC9F20C7769}"/>
                </a:ext>
              </a:extLst>
            </p:cNvPr>
            <p:cNvSpPr txBox="1"/>
            <p:nvPr/>
          </p:nvSpPr>
          <p:spPr>
            <a:xfrm>
              <a:off x="3584381" y="4734177"/>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1024]</a:t>
              </a:r>
            </a:p>
            <a:p>
              <a:r>
                <a:rPr lang="zh-CN" altLang="en-US" sz="600">
                  <a:ea typeface="宋体"/>
                  <a:cs typeface="Calibri"/>
                </a:rPr>
                <a:t>+</a:t>
              </a:r>
            </a:p>
            <a:p>
              <a:r>
                <a:rPr lang="zh-CN" altLang="en-US" sz="600">
                  <a:ea typeface="宋体"/>
                  <a:cs typeface="Calibri"/>
                </a:rPr>
                <a:t>ReLU</a:t>
              </a:r>
            </a:p>
          </p:txBody>
        </p:sp>
        <p:sp>
          <p:nvSpPr>
            <p:cNvPr id="63" name="矩形 62">
              <a:extLst>
                <a:ext uri="{FF2B5EF4-FFF2-40B4-BE49-F238E27FC236}">
                  <a16:creationId xmlns:a16="http://schemas.microsoft.com/office/drawing/2014/main" id="{95CF54B7-7E01-41B8-A409-956BA03176F1}"/>
                </a:ext>
              </a:extLst>
            </p:cNvPr>
            <p:cNvSpPr/>
            <p:nvPr/>
          </p:nvSpPr>
          <p:spPr>
            <a:xfrm rot="16200000">
              <a:off x="4273296" y="3983736"/>
              <a:ext cx="1414272" cy="12192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AEEB73CF-5810-4CBA-8BA6-3499129BF53B}"/>
                </a:ext>
              </a:extLst>
            </p:cNvPr>
            <p:cNvSpPr txBox="1"/>
            <p:nvPr/>
          </p:nvSpPr>
          <p:spPr>
            <a:xfrm>
              <a:off x="5041325" y="3734433"/>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cxnSp>
          <p:nvCxnSpPr>
            <p:cNvPr id="65" name="直接箭头连接符 64">
              <a:extLst>
                <a:ext uri="{FF2B5EF4-FFF2-40B4-BE49-F238E27FC236}">
                  <a16:creationId xmlns:a16="http://schemas.microsoft.com/office/drawing/2014/main" id="{E0680DC0-523F-4315-AA45-FD186D523C66}"/>
                </a:ext>
              </a:extLst>
            </p:cNvPr>
            <p:cNvCxnSpPr>
              <a:cxnSpLocks/>
            </p:cNvCxnSpPr>
            <p:nvPr/>
          </p:nvCxnSpPr>
          <p:spPr>
            <a:xfrm>
              <a:off x="5030563" y="4012459"/>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368309CC-70B4-411B-AD9F-5E0E7A0B0F41}"/>
                </a:ext>
              </a:extLst>
            </p:cNvPr>
            <p:cNvSpPr/>
            <p:nvPr/>
          </p:nvSpPr>
          <p:spPr>
            <a:xfrm rot="16200000">
              <a:off x="6108191" y="3380232"/>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B6720A98-44E8-420D-A22A-FAFE8AD8293E}"/>
                </a:ext>
              </a:extLst>
            </p:cNvPr>
            <p:cNvSpPr txBox="1"/>
            <p:nvPr/>
          </p:nvSpPr>
          <p:spPr>
            <a:xfrm>
              <a:off x="5906957" y="4441569"/>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1024]</a:t>
              </a:r>
            </a:p>
            <a:p>
              <a:r>
                <a:rPr lang="zh-CN" altLang="en-US" sz="600">
                  <a:ea typeface="宋体"/>
                  <a:cs typeface="Calibri"/>
                </a:rPr>
                <a:t>+</a:t>
              </a:r>
            </a:p>
            <a:p>
              <a:r>
                <a:rPr lang="zh-CN" altLang="en-US" sz="600">
                  <a:ea typeface="宋体"/>
                  <a:cs typeface="Calibri"/>
                </a:rPr>
                <a:t>ReLU</a:t>
              </a:r>
            </a:p>
          </p:txBody>
        </p:sp>
        <p:sp>
          <p:nvSpPr>
            <p:cNvPr id="69" name="矩形 68">
              <a:extLst>
                <a:ext uri="{FF2B5EF4-FFF2-40B4-BE49-F238E27FC236}">
                  <a16:creationId xmlns:a16="http://schemas.microsoft.com/office/drawing/2014/main" id="{5D14930A-5770-4FAE-BA64-01A47D74C376}"/>
                </a:ext>
              </a:extLst>
            </p:cNvPr>
            <p:cNvSpPr/>
            <p:nvPr/>
          </p:nvSpPr>
          <p:spPr>
            <a:xfrm rot="16200000">
              <a:off x="6809232" y="3977640"/>
              <a:ext cx="841248" cy="975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204FD5EB-A569-4AF1-8957-D0461A2FEF76}"/>
                </a:ext>
              </a:extLst>
            </p:cNvPr>
            <p:cNvSpPr txBox="1"/>
            <p:nvPr/>
          </p:nvSpPr>
          <p:spPr>
            <a:xfrm>
              <a:off x="7223693" y="3789297"/>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cxnSp>
          <p:nvCxnSpPr>
            <p:cNvPr id="71" name="直接箭头连接符 70">
              <a:extLst>
                <a:ext uri="{FF2B5EF4-FFF2-40B4-BE49-F238E27FC236}">
                  <a16:creationId xmlns:a16="http://schemas.microsoft.com/office/drawing/2014/main" id="{4E44FB92-9D54-41F6-9904-78B21A198322}"/>
                </a:ext>
              </a:extLst>
            </p:cNvPr>
            <p:cNvCxnSpPr>
              <a:cxnSpLocks/>
            </p:cNvCxnSpPr>
            <p:nvPr/>
          </p:nvCxnSpPr>
          <p:spPr>
            <a:xfrm flipV="1">
              <a:off x="7279987" y="4038691"/>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354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9017D-FE57-4C71-A40B-C720A623864F}"/>
              </a:ext>
            </a:extLst>
          </p:cNvPr>
          <p:cNvSpPr>
            <a:spLocks noGrp="1"/>
          </p:cNvSpPr>
          <p:nvPr>
            <p:ph type="title"/>
          </p:nvPr>
        </p:nvSpPr>
        <p:spPr/>
        <p:txBody>
          <a:bodyPr/>
          <a:lstStyle/>
          <a:p>
            <a:r>
              <a:rPr lang="zh-CN" altLang="en-US">
                <a:ea typeface="宋体"/>
                <a:cs typeface="Calibri Light"/>
              </a:rPr>
              <a:t>Replicating all MLP layers for data parallelism</a:t>
            </a:r>
          </a:p>
        </p:txBody>
      </p:sp>
      <p:sp>
        <p:nvSpPr>
          <p:cNvPr id="31" name="椭圆 30">
            <a:extLst>
              <a:ext uri="{FF2B5EF4-FFF2-40B4-BE49-F238E27FC236}">
                <a16:creationId xmlns:a16="http://schemas.microsoft.com/office/drawing/2014/main" id="{3EA4307B-24A4-4E9B-9E23-FD3A76C86631}"/>
              </a:ext>
            </a:extLst>
          </p:cNvPr>
          <p:cNvSpPr/>
          <p:nvPr/>
        </p:nvSpPr>
        <p:spPr>
          <a:xfrm>
            <a:off x="1814361" y="4778120"/>
            <a:ext cx="1969007" cy="536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a:t>
            </a:r>
            <a:endParaRPr lang="zh-CN" altLang="en-US"/>
          </a:p>
        </p:txBody>
      </p:sp>
      <p:sp>
        <p:nvSpPr>
          <p:cNvPr id="32" name="椭圆 31">
            <a:extLst>
              <a:ext uri="{FF2B5EF4-FFF2-40B4-BE49-F238E27FC236}">
                <a16:creationId xmlns:a16="http://schemas.microsoft.com/office/drawing/2014/main" id="{D4521356-0350-44B0-AC7A-6137F6E860D0}"/>
              </a:ext>
            </a:extLst>
          </p:cNvPr>
          <p:cNvSpPr/>
          <p:nvPr/>
        </p:nvSpPr>
        <p:spPr>
          <a:xfrm>
            <a:off x="6788519" y="4357231"/>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cxnSp>
        <p:nvCxnSpPr>
          <p:cNvPr id="46" name="直接箭头连接符 45">
            <a:extLst>
              <a:ext uri="{FF2B5EF4-FFF2-40B4-BE49-F238E27FC236}">
                <a16:creationId xmlns:a16="http://schemas.microsoft.com/office/drawing/2014/main" id="{FA3F10FA-1B85-4F1A-9CB5-20E668528A61}"/>
              </a:ext>
            </a:extLst>
          </p:cNvPr>
          <p:cNvCxnSpPr>
            <a:cxnSpLocks/>
          </p:cNvCxnSpPr>
          <p:nvPr/>
        </p:nvCxnSpPr>
        <p:spPr>
          <a:xfrm flipV="1">
            <a:off x="4115981" y="4738877"/>
            <a:ext cx="2493264" cy="121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09B4058F-00CB-4939-BA0B-42B82033B774}"/>
              </a:ext>
            </a:extLst>
          </p:cNvPr>
          <p:cNvCxnSpPr>
            <a:cxnSpLocks/>
          </p:cNvCxnSpPr>
          <p:nvPr/>
        </p:nvCxnSpPr>
        <p:spPr>
          <a:xfrm flipV="1">
            <a:off x="4256190" y="4946141"/>
            <a:ext cx="2444496" cy="48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8B79C2B1-A20E-4539-B49B-1E332394D1FB}"/>
              </a:ext>
            </a:extLst>
          </p:cNvPr>
          <p:cNvCxnSpPr>
            <a:cxnSpLocks/>
          </p:cNvCxnSpPr>
          <p:nvPr/>
        </p:nvCxnSpPr>
        <p:spPr>
          <a:xfrm>
            <a:off x="4396398" y="5147309"/>
            <a:ext cx="2462784" cy="7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6B5B79B6-9934-4EF2-8D89-AC5583BB5100}"/>
              </a:ext>
            </a:extLst>
          </p:cNvPr>
          <p:cNvCxnSpPr>
            <a:cxnSpLocks/>
          </p:cNvCxnSpPr>
          <p:nvPr/>
        </p:nvCxnSpPr>
        <p:spPr>
          <a:xfrm>
            <a:off x="4469550" y="5269229"/>
            <a:ext cx="2517648" cy="1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DE78C017-A460-4B95-80AF-C4B79D93A033}"/>
              </a:ext>
            </a:extLst>
          </p:cNvPr>
          <p:cNvCxnSpPr>
            <a:cxnSpLocks/>
          </p:cNvCxnSpPr>
          <p:nvPr/>
        </p:nvCxnSpPr>
        <p:spPr>
          <a:xfrm>
            <a:off x="4676814" y="5427725"/>
            <a:ext cx="2511552" cy="249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19381EB-D16C-4A03-A3A5-D818092EDCCC}"/>
              </a:ext>
            </a:extLst>
          </p:cNvPr>
          <p:cNvCxnSpPr>
            <a:cxnSpLocks/>
          </p:cNvCxnSpPr>
          <p:nvPr/>
        </p:nvCxnSpPr>
        <p:spPr>
          <a:xfrm>
            <a:off x="4817022" y="5561837"/>
            <a:ext cx="2511552" cy="353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C85931B2-FE35-4D60-B466-AF23CBAFCB67}"/>
              </a:ext>
            </a:extLst>
          </p:cNvPr>
          <p:cNvCxnSpPr>
            <a:cxnSpLocks/>
          </p:cNvCxnSpPr>
          <p:nvPr/>
        </p:nvCxnSpPr>
        <p:spPr>
          <a:xfrm>
            <a:off x="4957229" y="5708141"/>
            <a:ext cx="2456688" cy="414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EE6F8E59-9A2E-4A09-8059-68A57503C8E4}"/>
              </a:ext>
            </a:extLst>
          </p:cNvPr>
          <p:cNvCxnSpPr>
            <a:cxnSpLocks/>
          </p:cNvCxnSpPr>
          <p:nvPr/>
        </p:nvCxnSpPr>
        <p:spPr>
          <a:xfrm>
            <a:off x="5097438" y="5842253"/>
            <a:ext cx="2383536" cy="44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09E1740E-AD7C-4A3F-8AA2-8EABD8A5C3AB}"/>
              </a:ext>
            </a:extLst>
          </p:cNvPr>
          <p:cNvCxnSpPr>
            <a:cxnSpLocks/>
          </p:cNvCxnSpPr>
          <p:nvPr/>
        </p:nvCxnSpPr>
        <p:spPr>
          <a:xfrm>
            <a:off x="5237646" y="5976365"/>
            <a:ext cx="2237232" cy="463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1769907B-9E9C-4F95-8CE3-F2FBCBA87257}"/>
              </a:ext>
            </a:extLst>
          </p:cNvPr>
          <p:cNvSpPr/>
          <p:nvPr/>
        </p:nvSpPr>
        <p:spPr>
          <a:xfrm>
            <a:off x="1748100" y="2072468"/>
            <a:ext cx="1969007" cy="536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a:t>
            </a:r>
            <a:endParaRPr lang="zh-CN" altLang="en-US"/>
          </a:p>
        </p:txBody>
      </p:sp>
      <p:sp>
        <p:nvSpPr>
          <p:cNvPr id="56" name="椭圆 55">
            <a:extLst>
              <a:ext uri="{FF2B5EF4-FFF2-40B4-BE49-F238E27FC236}">
                <a16:creationId xmlns:a16="http://schemas.microsoft.com/office/drawing/2014/main" id="{681D8A9C-1ACA-49C6-96C8-3B56910610B3}"/>
              </a:ext>
            </a:extLst>
          </p:cNvPr>
          <p:cNvSpPr/>
          <p:nvPr/>
        </p:nvSpPr>
        <p:spPr>
          <a:xfrm>
            <a:off x="6667041" y="1717840"/>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cxnSp>
        <p:nvCxnSpPr>
          <p:cNvPr id="67" name="直接箭头连接符 66">
            <a:extLst>
              <a:ext uri="{FF2B5EF4-FFF2-40B4-BE49-F238E27FC236}">
                <a16:creationId xmlns:a16="http://schemas.microsoft.com/office/drawing/2014/main" id="{EBB3BE09-68E9-4968-A990-539959282BB3}"/>
              </a:ext>
            </a:extLst>
          </p:cNvPr>
          <p:cNvCxnSpPr>
            <a:cxnSpLocks/>
          </p:cNvCxnSpPr>
          <p:nvPr/>
        </p:nvCxnSpPr>
        <p:spPr>
          <a:xfrm flipV="1">
            <a:off x="4049720" y="2033225"/>
            <a:ext cx="2493264" cy="121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24C0E069-B7C8-4409-B083-04EB1CA19D65}"/>
              </a:ext>
            </a:extLst>
          </p:cNvPr>
          <p:cNvCxnSpPr>
            <a:cxnSpLocks/>
          </p:cNvCxnSpPr>
          <p:nvPr/>
        </p:nvCxnSpPr>
        <p:spPr>
          <a:xfrm flipV="1">
            <a:off x="4189929" y="2240489"/>
            <a:ext cx="2444496" cy="48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C2B910F7-E5F0-406C-A98A-4324285D71AD}"/>
              </a:ext>
            </a:extLst>
          </p:cNvPr>
          <p:cNvCxnSpPr>
            <a:cxnSpLocks/>
          </p:cNvCxnSpPr>
          <p:nvPr/>
        </p:nvCxnSpPr>
        <p:spPr>
          <a:xfrm>
            <a:off x="4330137" y="2441657"/>
            <a:ext cx="2462784" cy="7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9A1BD137-0624-414A-A1C2-8E8E139A578E}"/>
              </a:ext>
            </a:extLst>
          </p:cNvPr>
          <p:cNvCxnSpPr>
            <a:cxnSpLocks/>
          </p:cNvCxnSpPr>
          <p:nvPr/>
        </p:nvCxnSpPr>
        <p:spPr>
          <a:xfrm>
            <a:off x="4403289" y="2563577"/>
            <a:ext cx="2517648" cy="1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1BEBAE51-7CBC-49C9-815A-0D2E0F499A0B}"/>
              </a:ext>
            </a:extLst>
          </p:cNvPr>
          <p:cNvCxnSpPr>
            <a:cxnSpLocks/>
          </p:cNvCxnSpPr>
          <p:nvPr/>
        </p:nvCxnSpPr>
        <p:spPr>
          <a:xfrm>
            <a:off x="4610553" y="2722073"/>
            <a:ext cx="2511552" cy="249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8816E0D7-D15F-4CBE-9D16-2954C10B3F35}"/>
              </a:ext>
            </a:extLst>
          </p:cNvPr>
          <p:cNvCxnSpPr>
            <a:cxnSpLocks/>
          </p:cNvCxnSpPr>
          <p:nvPr/>
        </p:nvCxnSpPr>
        <p:spPr>
          <a:xfrm>
            <a:off x="4750761" y="2856185"/>
            <a:ext cx="2511552" cy="353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555C6C8E-E369-456B-A259-E061C49B3B0E}"/>
              </a:ext>
            </a:extLst>
          </p:cNvPr>
          <p:cNvCxnSpPr>
            <a:cxnSpLocks/>
          </p:cNvCxnSpPr>
          <p:nvPr/>
        </p:nvCxnSpPr>
        <p:spPr>
          <a:xfrm>
            <a:off x="4890968" y="3002489"/>
            <a:ext cx="2456688" cy="414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CD19A6C-9342-4FB0-914E-EECE0A3736CB}"/>
              </a:ext>
            </a:extLst>
          </p:cNvPr>
          <p:cNvCxnSpPr>
            <a:cxnSpLocks/>
          </p:cNvCxnSpPr>
          <p:nvPr/>
        </p:nvCxnSpPr>
        <p:spPr>
          <a:xfrm>
            <a:off x="5031177" y="3136601"/>
            <a:ext cx="2383536" cy="44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C6B0A955-1818-42F2-9CE7-B36639C89627}"/>
              </a:ext>
            </a:extLst>
          </p:cNvPr>
          <p:cNvCxnSpPr>
            <a:cxnSpLocks/>
          </p:cNvCxnSpPr>
          <p:nvPr/>
        </p:nvCxnSpPr>
        <p:spPr>
          <a:xfrm>
            <a:off x="5171385" y="3270713"/>
            <a:ext cx="2237232" cy="463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B9FB5CE6-1DBE-4D9A-85FC-D6E27EAE6EF4}"/>
              </a:ext>
            </a:extLst>
          </p:cNvPr>
          <p:cNvSpPr/>
          <p:nvPr/>
        </p:nvSpPr>
        <p:spPr>
          <a:xfrm>
            <a:off x="6810606" y="1861405"/>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77" name="椭圆 76">
            <a:extLst>
              <a:ext uri="{FF2B5EF4-FFF2-40B4-BE49-F238E27FC236}">
                <a16:creationId xmlns:a16="http://schemas.microsoft.com/office/drawing/2014/main" id="{919EAD04-8BB3-4C13-BA08-3008CB05F20C}"/>
              </a:ext>
            </a:extLst>
          </p:cNvPr>
          <p:cNvSpPr/>
          <p:nvPr/>
        </p:nvSpPr>
        <p:spPr>
          <a:xfrm>
            <a:off x="6954171" y="2004970"/>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78" name="椭圆 77">
            <a:extLst>
              <a:ext uri="{FF2B5EF4-FFF2-40B4-BE49-F238E27FC236}">
                <a16:creationId xmlns:a16="http://schemas.microsoft.com/office/drawing/2014/main" id="{8745BC37-4033-479A-8E04-92254C8C297D}"/>
              </a:ext>
            </a:extLst>
          </p:cNvPr>
          <p:cNvSpPr/>
          <p:nvPr/>
        </p:nvSpPr>
        <p:spPr>
          <a:xfrm>
            <a:off x="7097736" y="2148535"/>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79" name="椭圆 78">
            <a:extLst>
              <a:ext uri="{FF2B5EF4-FFF2-40B4-BE49-F238E27FC236}">
                <a16:creationId xmlns:a16="http://schemas.microsoft.com/office/drawing/2014/main" id="{04E2BBB3-AC11-408F-BEC4-2D1206B1C3D8}"/>
              </a:ext>
            </a:extLst>
          </p:cNvPr>
          <p:cNvSpPr/>
          <p:nvPr/>
        </p:nvSpPr>
        <p:spPr>
          <a:xfrm>
            <a:off x="7241301" y="2292100"/>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0" name="椭圆 79">
            <a:extLst>
              <a:ext uri="{FF2B5EF4-FFF2-40B4-BE49-F238E27FC236}">
                <a16:creationId xmlns:a16="http://schemas.microsoft.com/office/drawing/2014/main" id="{DDA18148-75CD-4D17-9535-9208CD646AC2}"/>
              </a:ext>
            </a:extLst>
          </p:cNvPr>
          <p:cNvSpPr/>
          <p:nvPr/>
        </p:nvSpPr>
        <p:spPr>
          <a:xfrm>
            <a:off x="7384867" y="2435666"/>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1" name="椭圆 80">
            <a:extLst>
              <a:ext uri="{FF2B5EF4-FFF2-40B4-BE49-F238E27FC236}">
                <a16:creationId xmlns:a16="http://schemas.microsoft.com/office/drawing/2014/main" id="{C5880B75-399D-437B-92CA-E4BFED57642E}"/>
              </a:ext>
            </a:extLst>
          </p:cNvPr>
          <p:cNvSpPr/>
          <p:nvPr/>
        </p:nvSpPr>
        <p:spPr>
          <a:xfrm>
            <a:off x="7528432" y="2579231"/>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2" name="椭圆 81">
            <a:extLst>
              <a:ext uri="{FF2B5EF4-FFF2-40B4-BE49-F238E27FC236}">
                <a16:creationId xmlns:a16="http://schemas.microsoft.com/office/drawing/2014/main" id="{F7377C9C-878C-4589-8AD6-706B71F0F46D}"/>
              </a:ext>
            </a:extLst>
          </p:cNvPr>
          <p:cNvSpPr/>
          <p:nvPr/>
        </p:nvSpPr>
        <p:spPr>
          <a:xfrm>
            <a:off x="7671997" y="2722796"/>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3" name="椭圆 82">
            <a:extLst>
              <a:ext uri="{FF2B5EF4-FFF2-40B4-BE49-F238E27FC236}">
                <a16:creationId xmlns:a16="http://schemas.microsoft.com/office/drawing/2014/main" id="{A9A03FA0-7473-499E-A456-E082A891CA4F}"/>
              </a:ext>
            </a:extLst>
          </p:cNvPr>
          <p:cNvSpPr/>
          <p:nvPr/>
        </p:nvSpPr>
        <p:spPr>
          <a:xfrm>
            <a:off x="7815562" y="2866361"/>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4" name="椭圆 83">
            <a:extLst>
              <a:ext uri="{FF2B5EF4-FFF2-40B4-BE49-F238E27FC236}">
                <a16:creationId xmlns:a16="http://schemas.microsoft.com/office/drawing/2014/main" id="{09DA64AE-360E-4F14-9B4D-19C7FC83EAF8}"/>
              </a:ext>
            </a:extLst>
          </p:cNvPr>
          <p:cNvSpPr/>
          <p:nvPr/>
        </p:nvSpPr>
        <p:spPr>
          <a:xfrm>
            <a:off x="7959127" y="3009927"/>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5" name="椭圆 84">
            <a:extLst>
              <a:ext uri="{FF2B5EF4-FFF2-40B4-BE49-F238E27FC236}">
                <a16:creationId xmlns:a16="http://schemas.microsoft.com/office/drawing/2014/main" id="{3FC34209-B444-4FF2-B77B-7416FB44193F}"/>
              </a:ext>
            </a:extLst>
          </p:cNvPr>
          <p:cNvSpPr/>
          <p:nvPr/>
        </p:nvSpPr>
        <p:spPr>
          <a:xfrm>
            <a:off x="8102693" y="3153492"/>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6" name="椭圆 85">
            <a:extLst>
              <a:ext uri="{FF2B5EF4-FFF2-40B4-BE49-F238E27FC236}">
                <a16:creationId xmlns:a16="http://schemas.microsoft.com/office/drawing/2014/main" id="{EF717F18-B726-409D-8398-E410930CB1A2}"/>
              </a:ext>
            </a:extLst>
          </p:cNvPr>
          <p:cNvSpPr/>
          <p:nvPr/>
        </p:nvSpPr>
        <p:spPr>
          <a:xfrm>
            <a:off x="8246258" y="3297057"/>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8" name="椭圆 87">
            <a:extLst>
              <a:ext uri="{FF2B5EF4-FFF2-40B4-BE49-F238E27FC236}">
                <a16:creationId xmlns:a16="http://schemas.microsoft.com/office/drawing/2014/main" id="{259BE636-569E-4613-9CF4-47E897A4430B}"/>
              </a:ext>
            </a:extLst>
          </p:cNvPr>
          <p:cNvSpPr/>
          <p:nvPr/>
        </p:nvSpPr>
        <p:spPr>
          <a:xfrm>
            <a:off x="8356692" y="3462709"/>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 Replicas</a:t>
            </a:r>
            <a:endParaRPr lang="zh-CN" altLang="en-US"/>
          </a:p>
        </p:txBody>
      </p:sp>
      <p:sp>
        <p:nvSpPr>
          <p:cNvPr id="89" name="椭圆 88">
            <a:extLst>
              <a:ext uri="{FF2B5EF4-FFF2-40B4-BE49-F238E27FC236}">
                <a16:creationId xmlns:a16="http://schemas.microsoft.com/office/drawing/2014/main" id="{5527B6F3-4CF3-4BA2-B8FA-8A71EAF9BC8D}"/>
              </a:ext>
            </a:extLst>
          </p:cNvPr>
          <p:cNvSpPr/>
          <p:nvPr/>
        </p:nvSpPr>
        <p:spPr>
          <a:xfrm>
            <a:off x="6932084" y="4500796"/>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0" name="椭圆 89">
            <a:extLst>
              <a:ext uri="{FF2B5EF4-FFF2-40B4-BE49-F238E27FC236}">
                <a16:creationId xmlns:a16="http://schemas.microsoft.com/office/drawing/2014/main" id="{611A2041-CFAA-4CE3-9251-C8E222A2AE4E}"/>
              </a:ext>
            </a:extLst>
          </p:cNvPr>
          <p:cNvSpPr/>
          <p:nvPr/>
        </p:nvSpPr>
        <p:spPr>
          <a:xfrm>
            <a:off x="7075649" y="4644361"/>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1" name="椭圆 90">
            <a:extLst>
              <a:ext uri="{FF2B5EF4-FFF2-40B4-BE49-F238E27FC236}">
                <a16:creationId xmlns:a16="http://schemas.microsoft.com/office/drawing/2014/main" id="{859AD772-E340-44B6-87DA-4E5B91DE9E2F}"/>
              </a:ext>
            </a:extLst>
          </p:cNvPr>
          <p:cNvSpPr/>
          <p:nvPr/>
        </p:nvSpPr>
        <p:spPr>
          <a:xfrm>
            <a:off x="7219214" y="4787926"/>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2" name="椭圆 91">
            <a:extLst>
              <a:ext uri="{FF2B5EF4-FFF2-40B4-BE49-F238E27FC236}">
                <a16:creationId xmlns:a16="http://schemas.microsoft.com/office/drawing/2014/main" id="{9261148B-C7BA-4736-BD81-DAA19903AFFE}"/>
              </a:ext>
            </a:extLst>
          </p:cNvPr>
          <p:cNvSpPr/>
          <p:nvPr/>
        </p:nvSpPr>
        <p:spPr>
          <a:xfrm>
            <a:off x="7362779" y="4931491"/>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3" name="椭圆 92">
            <a:extLst>
              <a:ext uri="{FF2B5EF4-FFF2-40B4-BE49-F238E27FC236}">
                <a16:creationId xmlns:a16="http://schemas.microsoft.com/office/drawing/2014/main" id="{DB57D08E-A9A0-42C9-B0E8-3E13C5CD9835}"/>
              </a:ext>
            </a:extLst>
          </p:cNvPr>
          <p:cNvSpPr/>
          <p:nvPr/>
        </p:nvSpPr>
        <p:spPr>
          <a:xfrm>
            <a:off x="7506345" y="5075057"/>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4" name="椭圆 93">
            <a:extLst>
              <a:ext uri="{FF2B5EF4-FFF2-40B4-BE49-F238E27FC236}">
                <a16:creationId xmlns:a16="http://schemas.microsoft.com/office/drawing/2014/main" id="{1A0F25B3-165E-4332-BC16-5B57AF691FC3}"/>
              </a:ext>
            </a:extLst>
          </p:cNvPr>
          <p:cNvSpPr/>
          <p:nvPr/>
        </p:nvSpPr>
        <p:spPr>
          <a:xfrm>
            <a:off x="7649910" y="5218622"/>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5" name="椭圆 94">
            <a:extLst>
              <a:ext uri="{FF2B5EF4-FFF2-40B4-BE49-F238E27FC236}">
                <a16:creationId xmlns:a16="http://schemas.microsoft.com/office/drawing/2014/main" id="{F79FEBBA-0FD5-46CB-9FF3-2EE1A518425A}"/>
              </a:ext>
            </a:extLst>
          </p:cNvPr>
          <p:cNvSpPr/>
          <p:nvPr/>
        </p:nvSpPr>
        <p:spPr>
          <a:xfrm>
            <a:off x="7793475" y="5362187"/>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6" name="椭圆 95">
            <a:extLst>
              <a:ext uri="{FF2B5EF4-FFF2-40B4-BE49-F238E27FC236}">
                <a16:creationId xmlns:a16="http://schemas.microsoft.com/office/drawing/2014/main" id="{1D1E71F8-074B-48AE-9B3B-FC60130E1D0A}"/>
              </a:ext>
            </a:extLst>
          </p:cNvPr>
          <p:cNvSpPr/>
          <p:nvPr/>
        </p:nvSpPr>
        <p:spPr>
          <a:xfrm>
            <a:off x="7937040" y="5505752"/>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7" name="椭圆 96">
            <a:extLst>
              <a:ext uri="{FF2B5EF4-FFF2-40B4-BE49-F238E27FC236}">
                <a16:creationId xmlns:a16="http://schemas.microsoft.com/office/drawing/2014/main" id="{82D94705-58A9-4257-ADE2-0AF99311F52E}"/>
              </a:ext>
            </a:extLst>
          </p:cNvPr>
          <p:cNvSpPr/>
          <p:nvPr/>
        </p:nvSpPr>
        <p:spPr>
          <a:xfrm>
            <a:off x="8080605" y="5649317"/>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8" name="椭圆 97">
            <a:extLst>
              <a:ext uri="{FF2B5EF4-FFF2-40B4-BE49-F238E27FC236}">
                <a16:creationId xmlns:a16="http://schemas.microsoft.com/office/drawing/2014/main" id="{D31E3393-97E1-4EDF-B52B-BC220944F990}"/>
              </a:ext>
            </a:extLst>
          </p:cNvPr>
          <p:cNvSpPr/>
          <p:nvPr/>
        </p:nvSpPr>
        <p:spPr>
          <a:xfrm>
            <a:off x="8224171" y="5792883"/>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99" name="椭圆 98">
            <a:extLst>
              <a:ext uri="{FF2B5EF4-FFF2-40B4-BE49-F238E27FC236}">
                <a16:creationId xmlns:a16="http://schemas.microsoft.com/office/drawing/2014/main" id="{904E5018-1704-4CB2-AA72-6FB9017B6220}"/>
              </a:ext>
            </a:extLst>
          </p:cNvPr>
          <p:cNvSpPr/>
          <p:nvPr/>
        </p:nvSpPr>
        <p:spPr>
          <a:xfrm>
            <a:off x="8367736" y="5936448"/>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
        <p:nvSpPr>
          <p:cNvPr id="100" name="椭圆 99">
            <a:extLst>
              <a:ext uri="{FF2B5EF4-FFF2-40B4-BE49-F238E27FC236}">
                <a16:creationId xmlns:a16="http://schemas.microsoft.com/office/drawing/2014/main" id="{043BE251-6D17-4D01-8FF6-3881D98830EC}"/>
              </a:ext>
            </a:extLst>
          </p:cNvPr>
          <p:cNvSpPr/>
          <p:nvPr/>
        </p:nvSpPr>
        <p:spPr>
          <a:xfrm>
            <a:off x="8511301" y="6080013"/>
            <a:ext cx="3093233"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 Replicas</a:t>
            </a:r>
            <a:endParaRPr lang="zh-CN" altLang="en-US"/>
          </a:p>
        </p:txBody>
      </p:sp>
    </p:spTree>
    <p:extLst>
      <p:ext uri="{BB962C8B-B14F-4D97-AF65-F5344CB8AC3E}">
        <p14:creationId xmlns:p14="http://schemas.microsoft.com/office/powerpoint/2010/main" val="3750941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5788C-2915-4832-B400-091ADD5F2B32}"/>
              </a:ext>
            </a:extLst>
          </p:cNvPr>
          <p:cNvSpPr>
            <a:spLocks noGrp="1"/>
          </p:cNvSpPr>
          <p:nvPr>
            <p:ph type="title"/>
          </p:nvPr>
        </p:nvSpPr>
        <p:spPr/>
        <p:txBody>
          <a:bodyPr/>
          <a:lstStyle/>
          <a:p>
            <a:r>
              <a:rPr lang="zh-CN" altLang="en-US">
                <a:ea typeface="宋体"/>
                <a:cs typeface="Calibri Light"/>
              </a:rPr>
              <a:t>Scattering data for data parallelism</a:t>
            </a:r>
            <a:endParaRPr lang="zh-CN" altLang="en-US"/>
          </a:p>
        </p:txBody>
      </p:sp>
      <p:sp>
        <p:nvSpPr>
          <p:cNvPr id="4" name="矩形 3">
            <a:extLst>
              <a:ext uri="{FF2B5EF4-FFF2-40B4-BE49-F238E27FC236}">
                <a16:creationId xmlns:a16="http://schemas.microsoft.com/office/drawing/2014/main" id="{2C7210DB-981C-4451-8EF0-45D34787D7D1}"/>
              </a:ext>
            </a:extLst>
          </p:cNvPr>
          <p:cNvSpPr/>
          <p:nvPr/>
        </p:nvSpPr>
        <p:spPr>
          <a:xfrm>
            <a:off x="1274064" y="5081016"/>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X_1</a:t>
            </a:r>
          </a:p>
        </p:txBody>
      </p:sp>
      <p:sp>
        <p:nvSpPr>
          <p:cNvPr id="5" name="矩形 4">
            <a:extLst>
              <a:ext uri="{FF2B5EF4-FFF2-40B4-BE49-F238E27FC236}">
                <a16:creationId xmlns:a16="http://schemas.microsoft.com/office/drawing/2014/main" id="{CAE7892A-FC1D-4F47-93EA-0F25930300A4}"/>
              </a:ext>
            </a:extLst>
          </p:cNvPr>
          <p:cNvSpPr/>
          <p:nvPr/>
        </p:nvSpPr>
        <p:spPr>
          <a:xfrm>
            <a:off x="5321808" y="5074919"/>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X_3</a:t>
            </a:r>
            <a:endParaRPr lang="zh-CN" altLang="en-US"/>
          </a:p>
        </p:txBody>
      </p:sp>
      <p:sp>
        <p:nvSpPr>
          <p:cNvPr id="6" name="矩形 5">
            <a:extLst>
              <a:ext uri="{FF2B5EF4-FFF2-40B4-BE49-F238E27FC236}">
                <a16:creationId xmlns:a16="http://schemas.microsoft.com/office/drawing/2014/main" id="{2CA79127-5F1E-4CB7-B023-F03E7E7E4621}"/>
              </a:ext>
            </a:extLst>
          </p:cNvPr>
          <p:cNvSpPr/>
          <p:nvPr/>
        </p:nvSpPr>
        <p:spPr>
          <a:xfrm>
            <a:off x="3255264" y="5081015"/>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X_2</a:t>
            </a:r>
            <a:endParaRPr lang="zh-CN" altLang="en-US"/>
          </a:p>
        </p:txBody>
      </p:sp>
      <p:sp>
        <p:nvSpPr>
          <p:cNvPr id="7" name="矩形 6">
            <a:extLst>
              <a:ext uri="{FF2B5EF4-FFF2-40B4-BE49-F238E27FC236}">
                <a16:creationId xmlns:a16="http://schemas.microsoft.com/office/drawing/2014/main" id="{DA32C233-99BC-41B3-8C4B-C13DA7A2DCE7}"/>
              </a:ext>
            </a:extLst>
          </p:cNvPr>
          <p:cNvSpPr/>
          <p:nvPr/>
        </p:nvSpPr>
        <p:spPr>
          <a:xfrm>
            <a:off x="7406640" y="5081015"/>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X_4</a:t>
            </a:r>
            <a:endParaRPr lang="zh-CN" altLang="en-US"/>
          </a:p>
        </p:txBody>
      </p:sp>
      <p:sp>
        <p:nvSpPr>
          <p:cNvPr id="11" name="矩形 10">
            <a:extLst>
              <a:ext uri="{FF2B5EF4-FFF2-40B4-BE49-F238E27FC236}">
                <a16:creationId xmlns:a16="http://schemas.microsoft.com/office/drawing/2014/main" id="{1B8C6C2F-CA77-43FD-A219-E464919B6A7D}"/>
              </a:ext>
            </a:extLst>
          </p:cNvPr>
          <p:cNvSpPr/>
          <p:nvPr/>
        </p:nvSpPr>
        <p:spPr>
          <a:xfrm>
            <a:off x="1273302" y="2160270"/>
            <a:ext cx="9924287"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A batch of continuous/densed inputs</a:t>
            </a:r>
            <a:endParaRPr lang="zh-CN" altLang="en-US"/>
          </a:p>
        </p:txBody>
      </p:sp>
      <p:sp>
        <p:nvSpPr>
          <p:cNvPr id="12" name="文本框 11">
            <a:extLst>
              <a:ext uri="{FF2B5EF4-FFF2-40B4-BE49-F238E27FC236}">
                <a16:creationId xmlns:a16="http://schemas.microsoft.com/office/drawing/2014/main" id="{1041AACE-C547-4636-B2E7-C4F117E880DB}"/>
              </a:ext>
            </a:extLst>
          </p:cNvPr>
          <p:cNvSpPr txBox="1"/>
          <p:nvPr/>
        </p:nvSpPr>
        <p:spPr>
          <a:xfrm>
            <a:off x="9638748" y="507779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cxnSp>
        <p:nvCxnSpPr>
          <p:cNvPr id="13" name="直接箭头连接符 12">
            <a:extLst>
              <a:ext uri="{FF2B5EF4-FFF2-40B4-BE49-F238E27FC236}">
                <a16:creationId xmlns:a16="http://schemas.microsoft.com/office/drawing/2014/main" id="{DAB33CCF-BC7D-4BF1-932E-2120C99426C8}"/>
              </a:ext>
            </a:extLst>
          </p:cNvPr>
          <p:cNvCxnSpPr/>
          <p:nvPr/>
        </p:nvCxnSpPr>
        <p:spPr>
          <a:xfrm flipH="1">
            <a:off x="2643119" y="3114674"/>
            <a:ext cx="3392555" cy="1477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F81CF561-6779-4AC4-A561-7CDBA3454E08}"/>
              </a:ext>
            </a:extLst>
          </p:cNvPr>
          <p:cNvCxnSpPr>
            <a:cxnSpLocks/>
          </p:cNvCxnSpPr>
          <p:nvPr/>
        </p:nvCxnSpPr>
        <p:spPr>
          <a:xfrm flipH="1">
            <a:off x="4211292" y="3125717"/>
            <a:ext cx="1813339" cy="1477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E6F7C87-BADE-4851-8F6F-3C804264405C}"/>
              </a:ext>
            </a:extLst>
          </p:cNvPr>
          <p:cNvCxnSpPr>
            <a:cxnSpLocks/>
          </p:cNvCxnSpPr>
          <p:nvPr/>
        </p:nvCxnSpPr>
        <p:spPr>
          <a:xfrm>
            <a:off x="6046719" y="3125717"/>
            <a:ext cx="53007" cy="151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672DEF5-047D-4DE1-A010-FC9328E2C247}"/>
              </a:ext>
            </a:extLst>
          </p:cNvPr>
          <p:cNvCxnSpPr>
            <a:cxnSpLocks/>
          </p:cNvCxnSpPr>
          <p:nvPr/>
        </p:nvCxnSpPr>
        <p:spPr>
          <a:xfrm>
            <a:off x="6090891" y="3125717"/>
            <a:ext cx="2361095" cy="1554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BDC3115-EB07-40E2-B279-FCBDFA292476}"/>
              </a:ext>
            </a:extLst>
          </p:cNvPr>
          <p:cNvCxnSpPr>
            <a:cxnSpLocks/>
          </p:cNvCxnSpPr>
          <p:nvPr/>
        </p:nvCxnSpPr>
        <p:spPr>
          <a:xfrm>
            <a:off x="6090892" y="3114674"/>
            <a:ext cx="3708398" cy="1554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99F566AE-179D-47BA-8BCE-B32D3C2D3FCA}"/>
              </a:ext>
            </a:extLst>
          </p:cNvPr>
          <p:cNvSpPr/>
          <p:nvPr/>
        </p:nvSpPr>
        <p:spPr>
          <a:xfrm>
            <a:off x="6023941" y="3080854"/>
            <a:ext cx="88348" cy="993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A1FDF33-9AAB-49FE-B077-1A7A9A53C4F0}"/>
              </a:ext>
            </a:extLst>
          </p:cNvPr>
          <p:cNvSpPr txBox="1"/>
          <p:nvPr/>
        </p:nvSpPr>
        <p:spPr>
          <a:xfrm>
            <a:off x="8545443" y="5950225"/>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*Data are cut into equal sizes for each devices available</a:t>
            </a:r>
          </a:p>
        </p:txBody>
      </p:sp>
    </p:spTree>
    <p:extLst>
      <p:ext uri="{BB962C8B-B14F-4D97-AF65-F5344CB8AC3E}">
        <p14:creationId xmlns:p14="http://schemas.microsoft.com/office/powerpoint/2010/main" val="2121498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5788C-2915-4832-B400-091ADD5F2B32}"/>
              </a:ext>
            </a:extLst>
          </p:cNvPr>
          <p:cNvSpPr>
            <a:spLocks noGrp="1"/>
          </p:cNvSpPr>
          <p:nvPr>
            <p:ph type="title"/>
          </p:nvPr>
        </p:nvSpPr>
        <p:spPr/>
        <p:txBody>
          <a:bodyPr/>
          <a:lstStyle/>
          <a:p>
            <a:r>
              <a:rPr lang="zh-CN" altLang="en-US">
                <a:ea typeface="宋体"/>
                <a:cs typeface="Calibri Light"/>
              </a:rPr>
              <a:t>Zip data with devices and MLPs</a:t>
            </a:r>
            <a:endParaRPr lang="zh-CN" altLang="en-US"/>
          </a:p>
        </p:txBody>
      </p:sp>
      <p:sp>
        <p:nvSpPr>
          <p:cNvPr id="4" name="矩形 3">
            <a:extLst>
              <a:ext uri="{FF2B5EF4-FFF2-40B4-BE49-F238E27FC236}">
                <a16:creationId xmlns:a16="http://schemas.microsoft.com/office/drawing/2014/main" id="{2C7210DB-981C-4451-8EF0-45D34787D7D1}"/>
              </a:ext>
            </a:extLst>
          </p:cNvPr>
          <p:cNvSpPr/>
          <p:nvPr/>
        </p:nvSpPr>
        <p:spPr>
          <a:xfrm>
            <a:off x="1274064" y="5081016"/>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X_1, D_1</a:t>
            </a:r>
          </a:p>
        </p:txBody>
      </p:sp>
      <p:sp>
        <p:nvSpPr>
          <p:cNvPr id="5" name="矩形 4">
            <a:extLst>
              <a:ext uri="{FF2B5EF4-FFF2-40B4-BE49-F238E27FC236}">
                <a16:creationId xmlns:a16="http://schemas.microsoft.com/office/drawing/2014/main" id="{CAE7892A-FC1D-4F47-93EA-0F25930300A4}"/>
              </a:ext>
            </a:extLst>
          </p:cNvPr>
          <p:cNvSpPr/>
          <p:nvPr/>
        </p:nvSpPr>
        <p:spPr>
          <a:xfrm>
            <a:off x="5321808" y="5074919"/>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X_3, D_3</a:t>
            </a:r>
            <a:endParaRPr lang="zh-CN" altLang="en-US"/>
          </a:p>
        </p:txBody>
      </p:sp>
      <p:sp>
        <p:nvSpPr>
          <p:cNvPr id="6" name="矩形 5">
            <a:extLst>
              <a:ext uri="{FF2B5EF4-FFF2-40B4-BE49-F238E27FC236}">
                <a16:creationId xmlns:a16="http://schemas.microsoft.com/office/drawing/2014/main" id="{2CA79127-5F1E-4CB7-B023-F03E7E7E4621}"/>
              </a:ext>
            </a:extLst>
          </p:cNvPr>
          <p:cNvSpPr/>
          <p:nvPr/>
        </p:nvSpPr>
        <p:spPr>
          <a:xfrm>
            <a:off x="3255264" y="5081015"/>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X_2, D_2</a:t>
            </a:r>
            <a:endParaRPr lang="zh-CN" altLang="en-US"/>
          </a:p>
        </p:txBody>
      </p:sp>
      <p:sp>
        <p:nvSpPr>
          <p:cNvPr id="7" name="矩形 6">
            <a:extLst>
              <a:ext uri="{FF2B5EF4-FFF2-40B4-BE49-F238E27FC236}">
                <a16:creationId xmlns:a16="http://schemas.microsoft.com/office/drawing/2014/main" id="{DA32C233-99BC-41B3-8C4B-C13DA7A2DCE7}"/>
              </a:ext>
            </a:extLst>
          </p:cNvPr>
          <p:cNvSpPr/>
          <p:nvPr/>
        </p:nvSpPr>
        <p:spPr>
          <a:xfrm>
            <a:off x="7406640" y="5081015"/>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X_4, D_4</a:t>
            </a:r>
            <a:endParaRPr lang="zh-CN" altLang="en-US"/>
          </a:p>
        </p:txBody>
      </p:sp>
      <p:sp>
        <p:nvSpPr>
          <p:cNvPr id="12" name="文本框 11">
            <a:extLst>
              <a:ext uri="{FF2B5EF4-FFF2-40B4-BE49-F238E27FC236}">
                <a16:creationId xmlns:a16="http://schemas.microsoft.com/office/drawing/2014/main" id="{1041AACE-C547-4636-B2E7-C4F117E880DB}"/>
              </a:ext>
            </a:extLst>
          </p:cNvPr>
          <p:cNvSpPr txBox="1"/>
          <p:nvPr/>
        </p:nvSpPr>
        <p:spPr>
          <a:xfrm>
            <a:off x="9638748" y="5077790"/>
            <a:ext cx="8073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cxnSp>
        <p:nvCxnSpPr>
          <p:cNvPr id="13" name="直接箭头连接符 12">
            <a:extLst>
              <a:ext uri="{FF2B5EF4-FFF2-40B4-BE49-F238E27FC236}">
                <a16:creationId xmlns:a16="http://schemas.microsoft.com/office/drawing/2014/main" id="{DAB33CCF-BC7D-4BF1-932E-2120C99426C8}"/>
              </a:ext>
            </a:extLst>
          </p:cNvPr>
          <p:cNvCxnSpPr/>
          <p:nvPr/>
        </p:nvCxnSpPr>
        <p:spPr>
          <a:xfrm flipH="1">
            <a:off x="2643119" y="3258836"/>
            <a:ext cx="3392555" cy="1477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F81CF561-6779-4AC4-A561-7CDBA3454E08}"/>
              </a:ext>
            </a:extLst>
          </p:cNvPr>
          <p:cNvCxnSpPr>
            <a:cxnSpLocks/>
          </p:cNvCxnSpPr>
          <p:nvPr/>
        </p:nvCxnSpPr>
        <p:spPr>
          <a:xfrm flipH="1">
            <a:off x="4211292" y="3269879"/>
            <a:ext cx="1813339" cy="1477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E6F7C87-BADE-4851-8F6F-3C804264405C}"/>
              </a:ext>
            </a:extLst>
          </p:cNvPr>
          <p:cNvCxnSpPr>
            <a:cxnSpLocks/>
          </p:cNvCxnSpPr>
          <p:nvPr/>
        </p:nvCxnSpPr>
        <p:spPr>
          <a:xfrm>
            <a:off x="6046719" y="3269879"/>
            <a:ext cx="53007" cy="1510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672DEF5-047D-4DE1-A010-FC9328E2C247}"/>
              </a:ext>
            </a:extLst>
          </p:cNvPr>
          <p:cNvCxnSpPr>
            <a:cxnSpLocks/>
          </p:cNvCxnSpPr>
          <p:nvPr/>
        </p:nvCxnSpPr>
        <p:spPr>
          <a:xfrm>
            <a:off x="6090891" y="3269879"/>
            <a:ext cx="2361095" cy="1554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BDC3115-EB07-40E2-B279-FCBDFA292476}"/>
              </a:ext>
            </a:extLst>
          </p:cNvPr>
          <p:cNvCxnSpPr>
            <a:cxnSpLocks/>
          </p:cNvCxnSpPr>
          <p:nvPr/>
        </p:nvCxnSpPr>
        <p:spPr>
          <a:xfrm>
            <a:off x="6090892" y="3258836"/>
            <a:ext cx="3708398" cy="1554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99F566AE-179D-47BA-8BCE-B32D3C2D3FCA}"/>
              </a:ext>
            </a:extLst>
          </p:cNvPr>
          <p:cNvSpPr/>
          <p:nvPr/>
        </p:nvSpPr>
        <p:spPr>
          <a:xfrm>
            <a:off x="6023941" y="3225015"/>
            <a:ext cx="88348" cy="993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FED99944-2D93-4689-AE44-971BEE99FA8D}"/>
              </a:ext>
            </a:extLst>
          </p:cNvPr>
          <p:cNvSpPr/>
          <p:nvPr/>
        </p:nvSpPr>
        <p:spPr>
          <a:xfrm>
            <a:off x="1269168" y="2053789"/>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D_1</a:t>
            </a:r>
          </a:p>
        </p:txBody>
      </p:sp>
      <p:sp>
        <p:nvSpPr>
          <p:cNvPr id="24" name="矩形 23">
            <a:extLst>
              <a:ext uri="{FF2B5EF4-FFF2-40B4-BE49-F238E27FC236}">
                <a16:creationId xmlns:a16="http://schemas.microsoft.com/office/drawing/2014/main" id="{38B45EE4-379D-44A6-AACA-6E39437489B9}"/>
              </a:ext>
            </a:extLst>
          </p:cNvPr>
          <p:cNvSpPr/>
          <p:nvPr/>
        </p:nvSpPr>
        <p:spPr>
          <a:xfrm>
            <a:off x="5316912" y="2047692"/>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D_3</a:t>
            </a:r>
            <a:endParaRPr lang="zh-CN" altLang="en-US"/>
          </a:p>
        </p:txBody>
      </p:sp>
      <p:sp>
        <p:nvSpPr>
          <p:cNvPr id="25" name="矩形 24">
            <a:extLst>
              <a:ext uri="{FF2B5EF4-FFF2-40B4-BE49-F238E27FC236}">
                <a16:creationId xmlns:a16="http://schemas.microsoft.com/office/drawing/2014/main" id="{C56BC106-8855-4667-9769-A049E3EE4F25}"/>
              </a:ext>
            </a:extLst>
          </p:cNvPr>
          <p:cNvSpPr/>
          <p:nvPr/>
        </p:nvSpPr>
        <p:spPr>
          <a:xfrm>
            <a:off x="3250368" y="2053788"/>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D_2</a:t>
            </a:r>
            <a:endParaRPr lang="zh-CN" altLang="en-US"/>
          </a:p>
        </p:txBody>
      </p:sp>
      <p:sp>
        <p:nvSpPr>
          <p:cNvPr id="26" name="矩形 25">
            <a:extLst>
              <a:ext uri="{FF2B5EF4-FFF2-40B4-BE49-F238E27FC236}">
                <a16:creationId xmlns:a16="http://schemas.microsoft.com/office/drawing/2014/main" id="{F7EECEEF-5A72-41C0-9904-F6A08D5F1634}"/>
              </a:ext>
            </a:extLst>
          </p:cNvPr>
          <p:cNvSpPr/>
          <p:nvPr/>
        </p:nvSpPr>
        <p:spPr>
          <a:xfrm>
            <a:off x="7401744" y="2053788"/>
            <a:ext cx="1780031" cy="505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D_4</a:t>
            </a:r>
            <a:endParaRPr lang="zh-CN" altLang="en-US"/>
          </a:p>
        </p:txBody>
      </p:sp>
      <p:sp>
        <p:nvSpPr>
          <p:cNvPr id="28" name="文本框 27">
            <a:extLst>
              <a:ext uri="{FF2B5EF4-FFF2-40B4-BE49-F238E27FC236}">
                <a16:creationId xmlns:a16="http://schemas.microsoft.com/office/drawing/2014/main" id="{CEF38FEA-B4EF-4C71-8529-61F644A0837B}"/>
              </a:ext>
            </a:extLst>
          </p:cNvPr>
          <p:cNvSpPr txBox="1"/>
          <p:nvPr/>
        </p:nvSpPr>
        <p:spPr>
          <a:xfrm>
            <a:off x="9627704" y="2114556"/>
            <a:ext cx="8896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
        <p:nvSpPr>
          <p:cNvPr id="29" name="加号 28">
            <a:extLst>
              <a:ext uri="{FF2B5EF4-FFF2-40B4-BE49-F238E27FC236}">
                <a16:creationId xmlns:a16="http://schemas.microsoft.com/office/drawing/2014/main" id="{DB57A55A-6DF9-4A3A-B390-333CFD8F48CC}"/>
              </a:ext>
            </a:extLst>
          </p:cNvPr>
          <p:cNvSpPr/>
          <p:nvPr/>
        </p:nvSpPr>
        <p:spPr>
          <a:xfrm>
            <a:off x="5841761" y="3093577"/>
            <a:ext cx="419652" cy="452782"/>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8926C7D-D1FB-4348-B514-D29BD112C43F}"/>
              </a:ext>
            </a:extLst>
          </p:cNvPr>
          <p:cNvSpPr/>
          <p:nvPr/>
        </p:nvSpPr>
        <p:spPr>
          <a:xfrm>
            <a:off x="1224097" y="1478762"/>
            <a:ext cx="1919342"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a:t>
            </a:r>
            <a:endParaRPr lang="zh-CN" altLang="en-US"/>
          </a:p>
        </p:txBody>
      </p:sp>
      <p:sp>
        <p:nvSpPr>
          <p:cNvPr id="31" name="椭圆 30">
            <a:extLst>
              <a:ext uri="{FF2B5EF4-FFF2-40B4-BE49-F238E27FC236}">
                <a16:creationId xmlns:a16="http://schemas.microsoft.com/office/drawing/2014/main" id="{21AAD744-372A-4C81-B086-6568614B4387}"/>
              </a:ext>
            </a:extLst>
          </p:cNvPr>
          <p:cNvSpPr/>
          <p:nvPr/>
        </p:nvSpPr>
        <p:spPr>
          <a:xfrm>
            <a:off x="3201178" y="1485627"/>
            <a:ext cx="1919342"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a:t>
            </a:r>
            <a:endParaRPr lang="zh-CN" altLang="en-US"/>
          </a:p>
        </p:txBody>
      </p:sp>
      <p:sp>
        <p:nvSpPr>
          <p:cNvPr id="32" name="椭圆 31">
            <a:extLst>
              <a:ext uri="{FF2B5EF4-FFF2-40B4-BE49-F238E27FC236}">
                <a16:creationId xmlns:a16="http://schemas.microsoft.com/office/drawing/2014/main" id="{2A1500F6-1FF3-441F-AA24-C1FC7AA263CE}"/>
              </a:ext>
            </a:extLst>
          </p:cNvPr>
          <p:cNvSpPr/>
          <p:nvPr/>
        </p:nvSpPr>
        <p:spPr>
          <a:xfrm>
            <a:off x="5260637" y="1485627"/>
            <a:ext cx="1919342"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a:t>
            </a:r>
            <a:endParaRPr lang="zh-CN" altLang="en-US"/>
          </a:p>
        </p:txBody>
      </p:sp>
      <p:sp>
        <p:nvSpPr>
          <p:cNvPr id="33" name="椭圆 32">
            <a:extLst>
              <a:ext uri="{FF2B5EF4-FFF2-40B4-BE49-F238E27FC236}">
                <a16:creationId xmlns:a16="http://schemas.microsoft.com/office/drawing/2014/main" id="{73234361-57A0-4863-8C2C-2CC54877B1F5}"/>
              </a:ext>
            </a:extLst>
          </p:cNvPr>
          <p:cNvSpPr/>
          <p:nvPr/>
        </p:nvSpPr>
        <p:spPr>
          <a:xfrm>
            <a:off x="7347556" y="1485628"/>
            <a:ext cx="1919342" cy="514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a:t>
            </a:r>
            <a:endParaRPr lang="zh-CN" altLang="en-US"/>
          </a:p>
        </p:txBody>
      </p:sp>
      <p:sp>
        <p:nvSpPr>
          <p:cNvPr id="34" name="矩形 33">
            <a:extLst>
              <a:ext uri="{FF2B5EF4-FFF2-40B4-BE49-F238E27FC236}">
                <a16:creationId xmlns:a16="http://schemas.microsoft.com/office/drawing/2014/main" id="{8A4DA3C5-3D85-430F-B218-930AC7BA1A65}"/>
              </a:ext>
            </a:extLst>
          </p:cNvPr>
          <p:cNvSpPr/>
          <p:nvPr/>
        </p:nvSpPr>
        <p:spPr>
          <a:xfrm>
            <a:off x="1266482" y="2631930"/>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宋体"/>
                <a:cs typeface="Calibri"/>
              </a:rPr>
              <a:t>X_1</a:t>
            </a:r>
          </a:p>
        </p:txBody>
      </p:sp>
      <p:sp>
        <p:nvSpPr>
          <p:cNvPr id="35" name="矩形 34">
            <a:extLst>
              <a:ext uri="{FF2B5EF4-FFF2-40B4-BE49-F238E27FC236}">
                <a16:creationId xmlns:a16="http://schemas.microsoft.com/office/drawing/2014/main" id="{ED5BE36F-7C1C-4613-A7DD-1AABF2D6249D}"/>
              </a:ext>
            </a:extLst>
          </p:cNvPr>
          <p:cNvSpPr/>
          <p:nvPr/>
        </p:nvSpPr>
        <p:spPr>
          <a:xfrm>
            <a:off x="5314226" y="2632698"/>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宋体"/>
                <a:cs typeface="Calibri"/>
              </a:rPr>
              <a:t>X_3</a:t>
            </a:r>
            <a:endParaRPr lang="zh-CN" altLang="en-US"/>
          </a:p>
        </p:txBody>
      </p:sp>
      <p:sp>
        <p:nvSpPr>
          <p:cNvPr id="36" name="矩形 35">
            <a:extLst>
              <a:ext uri="{FF2B5EF4-FFF2-40B4-BE49-F238E27FC236}">
                <a16:creationId xmlns:a16="http://schemas.microsoft.com/office/drawing/2014/main" id="{0730FCF0-7F2D-4A24-A43C-7E0A5670FADF}"/>
              </a:ext>
            </a:extLst>
          </p:cNvPr>
          <p:cNvSpPr/>
          <p:nvPr/>
        </p:nvSpPr>
        <p:spPr>
          <a:xfrm>
            <a:off x="3247682" y="2638794"/>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宋体"/>
                <a:cs typeface="Calibri"/>
              </a:rPr>
              <a:t>X_2</a:t>
            </a:r>
            <a:endParaRPr lang="zh-CN" altLang="en-US"/>
          </a:p>
        </p:txBody>
      </p:sp>
      <p:sp>
        <p:nvSpPr>
          <p:cNvPr id="37" name="矩形 36">
            <a:extLst>
              <a:ext uri="{FF2B5EF4-FFF2-40B4-BE49-F238E27FC236}">
                <a16:creationId xmlns:a16="http://schemas.microsoft.com/office/drawing/2014/main" id="{5D83B854-6081-4118-84DE-9BD19EEB7856}"/>
              </a:ext>
            </a:extLst>
          </p:cNvPr>
          <p:cNvSpPr/>
          <p:nvPr/>
        </p:nvSpPr>
        <p:spPr>
          <a:xfrm>
            <a:off x="7399058" y="2638794"/>
            <a:ext cx="1780031" cy="50596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宋体"/>
                <a:cs typeface="Calibri"/>
              </a:rPr>
              <a:t>X_4</a:t>
            </a:r>
            <a:endParaRPr lang="zh-CN" altLang="en-US"/>
          </a:p>
        </p:txBody>
      </p:sp>
      <p:sp>
        <p:nvSpPr>
          <p:cNvPr id="38" name="文本框 5">
            <a:extLst>
              <a:ext uri="{FF2B5EF4-FFF2-40B4-BE49-F238E27FC236}">
                <a16:creationId xmlns:a16="http://schemas.microsoft.com/office/drawing/2014/main" id="{35C9A8BA-1F84-49D4-BB1F-8883BCA5D023}"/>
              </a:ext>
            </a:extLst>
          </p:cNvPr>
          <p:cNvSpPr txBox="1"/>
          <p:nvPr/>
        </p:nvSpPr>
        <p:spPr>
          <a:xfrm>
            <a:off x="9613974" y="2630914"/>
            <a:ext cx="862228" cy="37619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ea typeface="宋体"/>
              </a:rPr>
              <a:t>.........</a:t>
            </a:r>
            <a:endParaRPr lang="zh-CN" altLang="en-US"/>
          </a:p>
        </p:txBody>
      </p:sp>
      <p:sp>
        <p:nvSpPr>
          <p:cNvPr id="39" name="文本框 38">
            <a:extLst>
              <a:ext uri="{FF2B5EF4-FFF2-40B4-BE49-F238E27FC236}">
                <a16:creationId xmlns:a16="http://schemas.microsoft.com/office/drawing/2014/main" id="{C360B91C-76A6-4D23-A43C-2D9522238242}"/>
              </a:ext>
            </a:extLst>
          </p:cNvPr>
          <p:cNvSpPr txBox="1"/>
          <p:nvPr/>
        </p:nvSpPr>
        <p:spPr>
          <a:xfrm>
            <a:off x="9613974" y="1551637"/>
            <a:ext cx="8896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Tree>
    <p:extLst>
      <p:ext uri="{BB962C8B-B14F-4D97-AF65-F5344CB8AC3E}">
        <p14:creationId xmlns:p14="http://schemas.microsoft.com/office/powerpoint/2010/main" val="3339466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endParaRPr lang="zh-CN" altLang="en-US"/>
          </a:p>
        </p:txBody>
      </p:sp>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43487A17-0583-4A9C-9D6B-F7030EA88E4F}"/>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433940" y="2718417"/>
            <a:ext cx="2377809" cy="67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241172" y="4451626"/>
            <a:ext cx="212918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5BF4ED17-53A6-4B8A-A31E-770493A545C1}"/>
              </a:ext>
            </a:extLst>
          </p:cNvPr>
          <p:cNvSpPr/>
          <p:nvPr/>
        </p:nvSpPr>
        <p:spPr>
          <a:xfrm>
            <a:off x="773998" y="2391568"/>
            <a:ext cx="4008780" cy="45427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下 4">
            <a:extLst>
              <a:ext uri="{FF2B5EF4-FFF2-40B4-BE49-F238E27FC236}">
                <a16:creationId xmlns:a16="http://schemas.microsoft.com/office/drawing/2014/main" id="{9B42E73B-41D1-4142-9ED3-2A89209EB0A1}"/>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FD43348A-B4A2-4C99-923D-766806C583B0}"/>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sp>
        <p:nvSpPr>
          <p:cNvPr id="8" name="矩形 7">
            <a:extLst>
              <a:ext uri="{FF2B5EF4-FFF2-40B4-BE49-F238E27FC236}">
                <a16:creationId xmlns:a16="http://schemas.microsoft.com/office/drawing/2014/main" id="{CDEFAB73-6CDC-4072-A9F2-7842A6C035D8}"/>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10" name="矩形 9">
            <a:extLst>
              <a:ext uri="{FF2B5EF4-FFF2-40B4-BE49-F238E27FC236}">
                <a16:creationId xmlns:a16="http://schemas.microsoft.com/office/drawing/2014/main" id="{D392BFEA-A301-4138-B229-9A4E41EC59D4}"/>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1" name="矩形 10">
            <a:extLst>
              <a:ext uri="{FF2B5EF4-FFF2-40B4-BE49-F238E27FC236}">
                <a16:creationId xmlns:a16="http://schemas.microsoft.com/office/drawing/2014/main" id="{84A82076-0DC9-4AEB-B89D-CC49590F0E0B}"/>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2" name="椭圆 11">
            <a:extLst>
              <a:ext uri="{FF2B5EF4-FFF2-40B4-BE49-F238E27FC236}">
                <a16:creationId xmlns:a16="http://schemas.microsoft.com/office/drawing/2014/main" id="{80FF2C75-61E7-4616-875F-C0EF7F15FF30}"/>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13" name="椭圆 12">
            <a:extLst>
              <a:ext uri="{FF2B5EF4-FFF2-40B4-BE49-F238E27FC236}">
                <a16:creationId xmlns:a16="http://schemas.microsoft.com/office/drawing/2014/main" id="{682F3BE5-9651-431B-8950-81D1D7BCECCD}"/>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sp>
        <p:nvSpPr>
          <p:cNvPr id="9" name="矩形 8">
            <a:extLst>
              <a:ext uri="{FF2B5EF4-FFF2-40B4-BE49-F238E27FC236}">
                <a16:creationId xmlns:a16="http://schemas.microsoft.com/office/drawing/2014/main" id="{5D5D3CE7-1095-4D71-8BF0-5B729E273E0F}"/>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14" name="直接箭头连接符 13">
            <a:extLst>
              <a:ext uri="{FF2B5EF4-FFF2-40B4-BE49-F238E27FC236}">
                <a16:creationId xmlns:a16="http://schemas.microsoft.com/office/drawing/2014/main" id="{D03370FA-6363-4575-A648-6818C387CD15}"/>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6A30AEC5-8041-4EAD-B34D-AFBD7040DEDD}"/>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A8796FFD-EFCD-496F-BFDE-4C27B88FDCBA}"/>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27753BBB-C51D-40B6-B066-33C43103C3EA}"/>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8E95BC2B-C1AD-4DDD-962F-D130C03BB9AE}"/>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sp>
        <p:nvSpPr>
          <p:cNvPr id="22" name="矩形 21">
            <a:extLst>
              <a:ext uri="{FF2B5EF4-FFF2-40B4-BE49-F238E27FC236}">
                <a16:creationId xmlns:a16="http://schemas.microsoft.com/office/drawing/2014/main" id="{F89CDBC1-A6BE-456B-B425-6B3457E68221}"/>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23" name="矩形 22">
            <a:extLst>
              <a:ext uri="{FF2B5EF4-FFF2-40B4-BE49-F238E27FC236}">
                <a16:creationId xmlns:a16="http://schemas.microsoft.com/office/drawing/2014/main" id="{7BE56E9B-CB57-491B-A66B-105C1D2FBDAD}"/>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24" name="矩形 23">
            <a:extLst>
              <a:ext uri="{FF2B5EF4-FFF2-40B4-BE49-F238E27FC236}">
                <a16:creationId xmlns:a16="http://schemas.microsoft.com/office/drawing/2014/main" id="{EBC878E3-54B2-47F7-A8C5-2818198CE152}"/>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25" name="椭圆 24">
            <a:extLst>
              <a:ext uri="{FF2B5EF4-FFF2-40B4-BE49-F238E27FC236}">
                <a16:creationId xmlns:a16="http://schemas.microsoft.com/office/drawing/2014/main" id="{0F8D78FD-8D93-4E75-B92F-870655B8F267}"/>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26" name="椭圆 25">
            <a:extLst>
              <a:ext uri="{FF2B5EF4-FFF2-40B4-BE49-F238E27FC236}">
                <a16:creationId xmlns:a16="http://schemas.microsoft.com/office/drawing/2014/main" id="{C2F4A404-91CE-4049-BD47-40C00D01D873}"/>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spTree>
    <p:extLst>
      <p:ext uri="{BB962C8B-B14F-4D97-AF65-F5344CB8AC3E}">
        <p14:creationId xmlns:p14="http://schemas.microsoft.com/office/powerpoint/2010/main" val="2153513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Operations of X_i on device D_i</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6" name="椭圆 5">
            <a:extLst>
              <a:ext uri="{FF2B5EF4-FFF2-40B4-BE49-F238E27FC236}">
                <a16:creationId xmlns:a16="http://schemas.microsoft.com/office/drawing/2014/main" id="{6EAC3049-61D9-4853-B335-362AAD4A1968}"/>
              </a:ext>
            </a:extLst>
          </p:cNvPr>
          <p:cNvSpPr/>
          <p:nvPr/>
        </p:nvSpPr>
        <p:spPr>
          <a:xfrm>
            <a:off x="834887" y="2132496"/>
            <a:ext cx="3964607" cy="142460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A89B86F-EF68-46D1-80BB-C3E1E40EA55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5" name="直接箭头连接符 14">
            <a:extLst>
              <a:ext uri="{FF2B5EF4-FFF2-40B4-BE49-F238E27FC236}">
                <a16:creationId xmlns:a16="http://schemas.microsoft.com/office/drawing/2014/main" id="{B447234C-DF46-4196-891E-B4ADF9936369}"/>
              </a:ext>
            </a:extLst>
          </p:cNvPr>
          <p:cNvCxnSpPr>
            <a:cxnSpLocks/>
          </p:cNvCxnSpPr>
          <p:nvPr/>
        </p:nvCxnSpPr>
        <p:spPr>
          <a:xfrm flipH="1">
            <a:off x="9325114" y="2132495"/>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AC9942DA-D827-4A76-BCD5-D18E5E584AE2}"/>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7" name="矩形 6">
            <a:extLst>
              <a:ext uri="{FF2B5EF4-FFF2-40B4-BE49-F238E27FC236}">
                <a16:creationId xmlns:a16="http://schemas.microsoft.com/office/drawing/2014/main" id="{52D835EA-773E-487D-BB2B-E0ECBBAA081B}"/>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8" name="直接箭头连接符 7">
            <a:extLst>
              <a:ext uri="{FF2B5EF4-FFF2-40B4-BE49-F238E27FC236}">
                <a16:creationId xmlns:a16="http://schemas.microsoft.com/office/drawing/2014/main" id="{912E80E5-7FC1-4AD6-8C73-C63ACBA3D852}"/>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FB853FD1-FFCD-4029-87FC-E6196533AB0F}"/>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19" name="直接箭头连接符 18">
            <a:extLst>
              <a:ext uri="{FF2B5EF4-FFF2-40B4-BE49-F238E27FC236}">
                <a16:creationId xmlns:a16="http://schemas.microsoft.com/office/drawing/2014/main" id="{C219C10C-F47F-47CD-9C1E-E9AD28A03594}"/>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01A9A17-0351-4381-97AA-183E5E0CB75C}"/>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Tree>
    <p:extLst>
      <p:ext uri="{BB962C8B-B14F-4D97-AF65-F5344CB8AC3E}">
        <p14:creationId xmlns:p14="http://schemas.microsoft.com/office/powerpoint/2010/main" val="398493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B73D61-CE69-46F7-92CF-917A4BAD9CBF}"/>
              </a:ext>
            </a:extLst>
          </p:cNvPr>
          <p:cNvSpPr>
            <a:spLocks noGrp="1"/>
          </p:cNvSpPr>
          <p:nvPr>
            <p:ph type="title"/>
          </p:nvPr>
        </p:nvSpPr>
        <p:spPr/>
        <p:txBody>
          <a:bodyPr/>
          <a:lstStyle/>
          <a:p>
            <a:r>
              <a:rPr lang="zh-CN" altLang="en-US">
                <a:ea typeface="宋体"/>
                <a:cs typeface="Calibri Light"/>
              </a:rPr>
              <a:t>Embeddings in DLRM</a:t>
            </a:r>
            <a:endParaRPr lang="zh-CN" altLang="en-US"/>
          </a:p>
        </p:txBody>
      </p:sp>
      <p:sp>
        <p:nvSpPr>
          <p:cNvPr id="3" name="内容占位符 2">
            <a:extLst>
              <a:ext uri="{FF2B5EF4-FFF2-40B4-BE49-F238E27FC236}">
                <a16:creationId xmlns:a16="http://schemas.microsoft.com/office/drawing/2014/main" id="{9745318B-0740-4404-B8F2-7875F55EEB54}"/>
              </a:ext>
            </a:extLst>
          </p:cNvPr>
          <p:cNvSpPr>
            <a:spLocks noGrp="1"/>
          </p:cNvSpPr>
          <p:nvPr>
            <p:ph idx="1"/>
          </p:nvPr>
        </p:nvSpPr>
        <p:spPr/>
        <p:txBody>
          <a:bodyPr vert="horz" lIns="91440" tIns="45720" rIns="91440" bIns="45720" rtlCol="0" anchor="t">
            <a:normAutofit/>
          </a:bodyPr>
          <a:lstStyle/>
          <a:p>
            <a:r>
              <a:rPr lang="zh-CN" b="1">
                <a:latin typeface="SimSun"/>
                <a:ea typeface="SimSun"/>
                <a:cs typeface="+mn-lt"/>
              </a:rPr>
              <a:t>Inputs</a:t>
            </a:r>
            <a:r>
              <a:rPr lang="zh-CN">
                <a:latin typeface="SimSun"/>
                <a:ea typeface="SimSun"/>
                <a:cs typeface="+mn-lt"/>
              </a:rPr>
              <a:t>: </a:t>
            </a:r>
            <a:r>
              <a:rPr lang="en-US" altLang="zh-CN">
                <a:latin typeface="SimSun"/>
                <a:ea typeface="SimSun"/>
                <a:cs typeface="+mn-lt"/>
              </a:rPr>
              <a:t>list</a:t>
            </a:r>
            <a:r>
              <a:rPr lang="zh-CN" altLang="en-US">
                <a:latin typeface="SimSun"/>
                <a:ea typeface="SimSun"/>
                <a:cs typeface="+mn-lt"/>
              </a:rPr>
              <a:t> </a:t>
            </a:r>
            <a:r>
              <a:rPr lang="en-US" altLang="zh-CN" i="1">
                <a:latin typeface="SimSun"/>
                <a:ea typeface="SimSun"/>
                <a:cs typeface="+mn-lt"/>
              </a:rPr>
              <a:t>ln</a:t>
            </a:r>
            <a:r>
              <a:rPr lang="zh-CN" altLang="en-US">
                <a:latin typeface="SimSun"/>
                <a:ea typeface="SimSun"/>
                <a:cs typeface="+mn-lt"/>
              </a:rPr>
              <a:t> </a:t>
            </a:r>
            <a:r>
              <a:rPr lang="en-US" altLang="zh-CN">
                <a:latin typeface="SimSun"/>
                <a:ea typeface="SimSun"/>
                <a:cs typeface="+mn-lt"/>
              </a:rPr>
              <a:t>of</a:t>
            </a:r>
            <a:r>
              <a:rPr lang="zh-CN" altLang="en-US">
                <a:latin typeface="SimSun"/>
                <a:ea typeface="SimSun"/>
                <a:cs typeface="+mn-lt"/>
              </a:rPr>
              <a:t> </a:t>
            </a:r>
            <a:r>
              <a:rPr lang="en-US" altLang="zh-CN">
                <a:latin typeface="SimSun"/>
                <a:ea typeface="SimSun"/>
                <a:cs typeface="+mn-lt"/>
              </a:rPr>
              <a:t>num_Embeddings</a:t>
            </a:r>
            <a:r>
              <a:rPr lang="zh-CN" altLang="en-US">
                <a:latin typeface="SimSun"/>
                <a:ea typeface="SimSun"/>
                <a:cs typeface="+mn-lt"/>
              </a:rPr>
              <a:t> </a:t>
            </a:r>
            <a:r>
              <a:rPr lang="en-US" altLang="zh-CN">
                <a:latin typeface="SimSun"/>
                <a:ea typeface="SimSun"/>
                <a:cs typeface="+mn-lt"/>
              </a:rPr>
              <a:t>or</a:t>
            </a:r>
            <a:r>
              <a:rPr lang="zh-CN" altLang="en-US">
                <a:latin typeface="SimSun"/>
                <a:ea typeface="SimSun"/>
                <a:cs typeface="+mn-lt"/>
              </a:rPr>
              <a:t> </a:t>
            </a:r>
            <a:r>
              <a:rPr lang="en-US" altLang="zh-CN">
                <a:latin typeface="SimSun"/>
                <a:ea typeface="SimSun"/>
                <a:cs typeface="+mn-lt"/>
              </a:rPr>
              <a:t>num_Categories</a:t>
            </a:r>
            <a:r>
              <a:rPr lang="zh-CN" altLang="en-US">
                <a:latin typeface="SimSun"/>
                <a:ea typeface="SimSun"/>
                <a:cs typeface="+mn-lt"/>
              </a:rPr>
              <a:t> </a:t>
            </a:r>
            <a:r>
              <a:rPr lang="en-US" altLang="zh-CN">
                <a:latin typeface="SimSun"/>
                <a:ea typeface="SimSun"/>
                <a:cs typeface="+mn-lt"/>
              </a:rPr>
              <a:t>in</a:t>
            </a:r>
            <a:r>
              <a:rPr lang="zh-CN" altLang="en-US">
                <a:latin typeface="SimSun"/>
                <a:ea typeface="SimSun"/>
                <a:cs typeface="+mn-lt"/>
              </a:rPr>
              <a:t> </a:t>
            </a:r>
            <a:r>
              <a:rPr lang="en-US" altLang="zh-CN">
                <a:latin typeface="SimSun"/>
                <a:ea typeface="SimSun"/>
                <a:cs typeface="+mn-lt"/>
              </a:rPr>
              <a:t>QREmbeddingBag, </a:t>
            </a:r>
            <a:r>
              <a:rPr lang="zh-CN">
                <a:latin typeface="SimSun"/>
                <a:ea typeface="SimSun"/>
                <a:cs typeface="+mn-lt"/>
              </a:rPr>
              <a:t>e</a:t>
            </a:r>
            <a:r>
              <a:rPr lang="en-US" altLang="zh-CN">
                <a:latin typeface="SimSun"/>
                <a:ea typeface="SimSun"/>
                <a:cs typeface="+mn-lt"/>
              </a:rPr>
              <a:t>mb</a:t>
            </a:r>
            <a:r>
              <a:rPr lang="zh-CN">
                <a:latin typeface="SimSun"/>
                <a:ea typeface="SimSun"/>
                <a:cs typeface="+mn-lt"/>
              </a:rPr>
              <a:t>e</a:t>
            </a:r>
            <a:r>
              <a:rPr lang="en-US" altLang="zh-CN">
                <a:latin typeface="SimSun"/>
                <a:ea typeface="SimSun"/>
                <a:cs typeface="+mn-lt"/>
              </a:rPr>
              <a:t>ddingDim(s)</a:t>
            </a:r>
            <a:r>
              <a:rPr lang="zh-CN">
                <a:latin typeface="SimSun"/>
                <a:ea typeface="SimSun"/>
                <a:cs typeface="+mn-lt"/>
              </a:rPr>
              <a:t> </a:t>
            </a:r>
            <a:r>
              <a:rPr lang="zh-CN" i="1">
                <a:latin typeface="SimSun"/>
                <a:ea typeface="SimSun"/>
                <a:cs typeface="+mn-lt"/>
              </a:rPr>
              <a:t>m</a:t>
            </a:r>
            <a:r>
              <a:rPr lang="zh-CN" altLang="en-US">
                <a:latin typeface="SimSun"/>
                <a:ea typeface="SimSun"/>
                <a:cs typeface="+mn-lt"/>
              </a:rPr>
              <a:t>.</a:t>
            </a:r>
            <a:endParaRPr lang="zh-CN">
              <a:latin typeface="SimSun"/>
              <a:ea typeface="SimSun"/>
              <a:cs typeface="+mn-lt"/>
            </a:endParaRPr>
          </a:p>
          <a:p>
            <a:r>
              <a:rPr lang="zh-CN" b="1">
                <a:latin typeface="SimSun"/>
                <a:ea typeface="SimSun"/>
                <a:cs typeface="+mn-lt"/>
              </a:rPr>
              <a:t>Output</a:t>
            </a:r>
            <a:r>
              <a:rPr lang="zh-CN">
                <a:latin typeface="SimSun"/>
                <a:ea typeface="SimSun"/>
                <a:cs typeface="+mn-lt"/>
              </a:rPr>
              <a:t>: a nn.ModuleList </a:t>
            </a:r>
            <a:r>
              <a:rPr lang="zh-CN" i="1">
                <a:latin typeface="SimSun"/>
                <a:ea typeface="SimSun"/>
                <a:cs typeface="+mn-lt"/>
              </a:rPr>
              <a:t>emb_l</a:t>
            </a:r>
            <a:r>
              <a:rPr lang="zh-CN">
                <a:latin typeface="SimSun"/>
                <a:ea typeface="SimSun"/>
                <a:cs typeface="+mn-lt"/>
              </a:rPr>
              <a:t> containing a </a:t>
            </a:r>
            <a:r>
              <a:rPr lang="zh-CN">
                <a:highlight>
                  <a:srgbClr val="FFFF00"/>
                </a:highlight>
                <a:latin typeface="SimSun"/>
                <a:ea typeface="SimSun"/>
                <a:cs typeface="+mn-lt"/>
              </a:rPr>
              <a:t>sequence</a:t>
            </a:r>
            <a:r>
              <a:rPr lang="zh-CN">
                <a:latin typeface="SimSun"/>
                <a:ea typeface="SimSun"/>
                <a:cs typeface="+mn-lt"/>
              </a:rPr>
              <a:t> of embedding bags.</a:t>
            </a:r>
          </a:p>
          <a:p>
            <a:endParaRPr lang="zh-CN">
              <a:latin typeface="SimSun"/>
              <a:ea typeface="SimSun"/>
              <a:cs typeface="Calibri"/>
            </a:endParaRPr>
          </a:p>
          <a:p>
            <a:r>
              <a:rPr lang="zh-CN" altLang="en-US" b="1">
                <a:latin typeface="SimSun"/>
                <a:ea typeface="SimSun"/>
                <a:cs typeface="Calibri"/>
              </a:rPr>
              <a:t>Three possible implementations of embedding bags</a:t>
            </a:r>
            <a:r>
              <a:rPr lang="zh-CN" altLang="en-US">
                <a:latin typeface="SimSun"/>
                <a:ea typeface="SimSun"/>
                <a:cs typeface="Calibri"/>
              </a:rPr>
              <a:t>:</a:t>
            </a:r>
          </a:p>
          <a:p>
            <a:r>
              <a:rPr lang="zh-CN" altLang="en-US">
                <a:latin typeface="SimSun"/>
                <a:ea typeface="SimSun"/>
                <a:cs typeface="Calibri"/>
              </a:rPr>
              <a:t>1. nn.EmbeddingBag (set by default)</a:t>
            </a:r>
            <a:endParaRPr lang="zh-CN">
              <a:latin typeface="SimSun"/>
              <a:ea typeface="SimSun"/>
            </a:endParaRPr>
          </a:p>
          <a:p>
            <a:r>
              <a:rPr lang="zh-CN" altLang="en-US">
                <a:latin typeface="SimSun"/>
                <a:ea typeface="SimSun"/>
                <a:cs typeface="Calibri"/>
              </a:rPr>
              <a:t>2. PrEmbeddingBag (set by md_flag)</a:t>
            </a:r>
          </a:p>
          <a:p>
            <a:r>
              <a:rPr lang="zh-CN" altLang="en-US">
                <a:latin typeface="SimSun"/>
                <a:ea typeface="SimSun"/>
                <a:cs typeface="Calibri"/>
              </a:rPr>
              <a:t>3. QREmbeddingBag (set by qr_flag)</a:t>
            </a:r>
          </a:p>
        </p:txBody>
      </p:sp>
      <p:sp>
        <p:nvSpPr>
          <p:cNvPr id="4" name="文本框 3">
            <a:extLst>
              <a:ext uri="{FF2B5EF4-FFF2-40B4-BE49-F238E27FC236}">
                <a16:creationId xmlns:a16="http://schemas.microsoft.com/office/drawing/2014/main" id="{B199DFB7-13F2-4AF8-ACA3-08F090BFB0EA}"/>
              </a:ext>
            </a:extLst>
          </p:cNvPr>
          <p:cNvSpPr txBox="1"/>
          <p:nvPr/>
        </p:nvSpPr>
        <p:spPr>
          <a:xfrm>
            <a:off x="8528304" y="5102352"/>
            <a:ext cx="27432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*Parameter m is a hyperparameter unless md_flag is true. In that case we will use an external function to determine m. </a:t>
            </a:r>
            <a:endParaRPr lang="zh-CN"/>
          </a:p>
          <a:p>
            <a:endParaRPr lang="zh-CN" altLang="en-US" sz="1200">
              <a:ea typeface="宋体"/>
              <a:cs typeface="Calibri"/>
            </a:endParaRPr>
          </a:p>
          <a:p>
            <a:r>
              <a:rPr lang="zh-CN" altLang="en-US" sz="1200">
                <a:ea typeface="宋体"/>
                <a:cs typeface="Calibri"/>
              </a:rPr>
              <a:t>Parameter ln is retrived from the raw data.</a:t>
            </a:r>
            <a:endParaRPr lang="zh-CN"/>
          </a:p>
        </p:txBody>
      </p:sp>
    </p:spTree>
    <p:extLst>
      <p:ext uri="{BB962C8B-B14F-4D97-AF65-F5344CB8AC3E}">
        <p14:creationId xmlns:p14="http://schemas.microsoft.com/office/powerpoint/2010/main" val="38169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F0850-24EB-4E57-B7E6-319CDF0E098F}"/>
              </a:ext>
            </a:extLst>
          </p:cNvPr>
          <p:cNvSpPr>
            <a:spLocks noGrp="1"/>
          </p:cNvSpPr>
          <p:nvPr>
            <p:ph type="title"/>
          </p:nvPr>
        </p:nvSpPr>
        <p:spPr/>
        <p:txBody>
          <a:bodyPr/>
          <a:lstStyle/>
          <a:p>
            <a:r>
              <a:rPr lang="zh-CN" altLang="en-US">
                <a:ea typeface="宋体"/>
                <a:cs typeface="Calibri Light"/>
              </a:rPr>
              <a:t>EmbeddingBag 1D embedding with example</a:t>
            </a:r>
            <a:endParaRPr lang="zh-CN" altLang="en-US"/>
          </a:p>
        </p:txBody>
      </p:sp>
      <p:sp>
        <p:nvSpPr>
          <p:cNvPr id="3" name="内容占位符 2">
            <a:extLst>
              <a:ext uri="{FF2B5EF4-FFF2-40B4-BE49-F238E27FC236}">
                <a16:creationId xmlns:a16="http://schemas.microsoft.com/office/drawing/2014/main" id="{E02EAD7F-91E5-4324-ABBC-83FA8349476D}"/>
              </a:ext>
            </a:extLst>
          </p:cNvPr>
          <p:cNvSpPr>
            <a:spLocks noGrp="1"/>
          </p:cNvSpPr>
          <p:nvPr>
            <p:ph idx="1"/>
          </p:nvPr>
        </p:nvSpPr>
        <p:spPr>
          <a:xfrm>
            <a:off x="838200" y="1798166"/>
            <a:ext cx="5078628" cy="3211770"/>
          </a:xfrm>
        </p:spPr>
        <p:txBody>
          <a:bodyPr vert="horz" lIns="91440" tIns="45720" rIns="91440" bIns="45720" rtlCol="0" anchor="t">
            <a:normAutofit/>
          </a:bodyPr>
          <a:lstStyle/>
          <a:p>
            <a:r>
              <a:rPr lang="zh-CN" altLang="en-US">
                <a:ea typeface="宋体"/>
                <a:cs typeface="Calibri"/>
              </a:rPr>
              <a:t>A = embedding_bag(n, d)</a:t>
            </a:r>
          </a:p>
          <a:p>
            <a:r>
              <a:rPr lang="zh-CN" altLang="en-US">
                <a:ea typeface="宋体"/>
                <a:cs typeface="Calibri"/>
              </a:rPr>
              <a:t>B=A({a_0, a_1, a_2, …, a_m}, {b_0(=0), b_1, b_2, …, b_k })</a:t>
            </a:r>
          </a:p>
          <a:p>
            <a:r>
              <a:rPr lang="zh-CN">
                <a:ea typeface="+mn-lt"/>
                <a:cs typeface="+mn-lt"/>
              </a:rPr>
              <a:t>B[</a:t>
            </a:r>
            <a:r>
              <a:rPr lang="en-US" altLang="zh-CN">
                <a:ea typeface="+mn-lt"/>
                <a:cs typeface="+mn-lt"/>
              </a:rPr>
              <a:t>x</a:t>
            </a:r>
            <a:r>
              <a:rPr lang="zh-CN">
                <a:ea typeface="+mn-lt"/>
                <a:cs typeface="+mn-lt"/>
              </a:rPr>
              <a:t>] = sum(i from </a:t>
            </a:r>
            <a:r>
              <a:rPr lang="en-US" altLang="zh-CN">
                <a:ea typeface="+mn-lt"/>
                <a:cs typeface="+mn-lt"/>
              </a:rPr>
              <a:t>b_x to b_x+1, </a:t>
            </a:r>
            <a:r>
              <a:rPr lang="zh-CN">
                <a:ea typeface="+mn-lt"/>
                <a:cs typeface="+mn-lt"/>
              </a:rPr>
              <a:t>A.weight[i]) f</a:t>
            </a:r>
            <a:r>
              <a:rPr lang="en-US" altLang="zh-CN">
                <a:ea typeface="+mn-lt"/>
                <a:cs typeface="+mn-lt"/>
              </a:rPr>
              <a:t>or</a:t>
            </a:r>
            <a:r>
              <a:rPr lang="zh-CN" altLang="en-US">
                <a:ea typeface="+mn-lt"/>
                <a:cs typeface="+mn-lt"/>
              </a:rPr>
              <a:t> x in [0, k)</a:t>
            </a:r>
          </a:p>
          <a:p>
            <a:r>
              <a:rPr lang="en-US" altLang="zh-CN">
                <a:ea typeface="宋体"/>
                <a:cs typeface="Calibri"/>
              </a:rPr>
              <a:t>B[k] = </a:t>
            </a:r>
            <a:r>
              <a:rPr lang="en-US" altLang="zh-CN">
                <a:ea typeface="+mn-lt"/>
                <a:cs typeface="+mn-lt"/>
              </a:rPr>
              <a:t>sum(i</a:t>
            </a:r>
            <a:r>
              <a:rPr lang="zh-CN" altLang="en-US">
                <a:ea typeface="+mn-lt"/>
                <a:cs typeface="+mn-lt"/>
              </a:rPr>
              <a:t> </a:t>
            </a:r>
            <a:r>
              <a:rPr lang="en-US" altLang="zh-CN">
                <a:ea typeface="+mn-lt"/>
                <a:cs typeface="+mn-lt"/>
              </a:rPr>
              <a:t>from</a:t>
            </a:r>
            <a:r>
              <a:rPr lang="zh-CN" altLang="en-US">
                <a:ea typeface="+mn-lt"/>
                <a:cs typeface="+mn-lt"/>
              </a:rPr>
              <a:t> </a:t>
            </a:r>
            <a:r>
              <a:rPr lang="en-US">
                <a:ea typeface="+mn-lt"/>
                <a:cs typeface="+mn-lt"/>
              </a:rPr>
              <a:t>b_k to m, </a:t>
            </a:r>
            <a:r>
              <a:rPr lang="en-US" altLang="zh-CN">
                <a:ea typeface="+mn-lt"/>
                <a:cs typeface="+mn-lt"/>
              </a:rPr>
              <a:t>A.weight[i])</a:t>
            </a:r>
            <a:endParaRPr lang="zh-CN">
              <a:ea typeface="宋体"/>
              <a:cs typeface="Calibri"/>
            </a:endParaRPr>
          </a:p>
        </p:txBody>
      </p:sp>
      <p:sp>
        <p:nvSpPr>
          <p:cNvPr id="5" name="内容占位符 2">
            <a:extLst>
              <a:ext uri="{FF2B5EF4-FFF2-40B4-BE49-F238E27FC236}">
                <a16:creationId xmlns:a16="http://schemas.microsoft.com/office/drawing/2014/main" id="{AA1C1335-759B-45D8-BA27-8315365CF08B}"/>
              </a:ext>
            </a:extLst>
          </p:cNvPr>
          <p:cNvSpPr txBox="1">
            <a:spLocks/>
          </p:cNvSpPr>
          <p:nvPr/>
        </p:nvSpPr>
        <p:spPr>
          <a:xfrm>
            <a:off x="5850924" y="1717161"/>
            <a:ext cx="5078628" cy="437879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ea typeface="宋体"/>
                <a:cs typeface="Calibri"/>
              </a:rPr>
              <a:t>A = embedding_bag(6, 3)</a:t>
            </a:r>
          </a:p>
          <a:p>
            <a:r>
              <a:rPr lang="zh-CN" altLang="en-US">
                <a:ea typeface="宋体"/>
                <a:cs typeface="Calibri"/>
              </a:rPr>
              <a:t>B = A({2, 3, 4, 1, 5, 3, 1}, {0, 1, 2, 4})</a:t>
            </a:r>
          </a:p>
          <a:p>
            <a:r>
              <a:rPr lang="zh-CN" altLang="en-US">
                <a:ea typeface="宋体"/>
                <a:cs typeface="Calibri"/>
              </a:rPr>
              <a:t>B[0]=A.weight[2]</a:t>
            </a:r>
          </a:p>
          <a:p>
            <a:r>
              <a:rPr lang="zh-CN" altLang="en-US">
                <a:ea typeface="宋体"/>
                <a:cs typeface="Calibri"/>
              </a:rPr>
              <a:t>B[1]=A.weight[3]</a:t>
            </a:r>
          </a:p>
          <a:p>
            <a:r>
              <a:rPr lang="zh-CN" altLang="en-US">
                <a:ea typeface="宋体"/>
                <a:cs typeface="Calibri"/>
              </a:rPr>
              <a:t>B[3]=A.weight[4]+A.weight[1]</a:t>
            </a:r>
          </a:p>
          <a:p>
            <a:r>
              <a:rPr lang="zh-CN" altLang="en-US">
                <a:ea typeface="宋体"/>
                <a:cs typeface="Calibri"/>
              </a:rPr>
              <a:t>B[4]=</a:t>
            </a:r>
            <a:r>
              <a:rPr lang="zh-CN">
                <a:ea typeface="+mn-lt"/>
                <a:cs typeface="+mn-lt"/>
              </a:rPr>
              <a:t>A.weight[</a:t>
            </a:r>
            <a:r>
              <a:rPr lang="en-US" altLang="zh-CN">
                <a:ea typeface="+mn-lt"/>
                <a:cs typeface="+mn-lt"/>
              </a:rPr>
              <a:t>5</a:t>
            </a:r>
            <a:r>
              <a:rPr lang="zh-CN">
                <a:ea typeface="+mn-lt"/>
                <a:cs typeface="+mn-lt"/>
              </a:rPr>
              <a:t>]+A.weight[</a:t>
            </a:r>
            <a:r>
              <a:rPr lang="en-US" altLang="zh-CN">
                <a:ea typeface="+mn-lt"/>
                <a:cs typeface="+mn-lt"/>
              </a:rPr>
              <a:t>3</a:t>
            </a:r>
            <a:r>
              <a:rPr lang="zh-CN">
                <a:ea typeface="+mn-lt"/>
                <a:cs typeface="+mn-lt"/>
              </a:rPr>
              <a:t>]</a:t>
            </a:r>
            <a:r>
              <a:rPr lang="en-US" altLang="zh-CN">
                <a:ea typeface="+mn-lt"/>
                <a:cs typeface="+mn-lt"/>
              </a:rPr>
              <a:t>+A.weight[1]</a:t>
            </a:r>
            <a:endParaRPr lang="zh-CN">
              <a:ea typeface="+mn-lt"/>
              <a:cs typeface="+mn-lt"/>
            </a:endParaRPr>
          </a:p>
          <a:p>
            <a:endParaRPr lang="zh-CN" altLang="en-US">
              <a:ea typeface="宋体"/>
              <a:cs typeface="Calibri"/>
            </a:endParaRPr>
          </a:p>
        </p:txBody>
      </p:sp>
      <p:sp>
        <p:nvSpPr>
          <p:cNvPr id="4" name="文本框 3">
            <a:extLst>
              <a:ext uri="{FF2B5EF4-FFF2-40B4-BE49-F238E27FC236}">
                <a16:creationId xmlns:a16="http://schemas.microsoft.com/office/drawing/2014/main" id="{96182EFD-193B-440E-8D26-495198F7D728}"/>
              </a:ext>
            </a:extLst>
          </p:cNvPr>
          <p:cNvSpPr txBox="1"/>
          <p:nvPr/>
        </p:nvSpPr>
        <p:spPr>
          <a:xfrm>
            <a:off x="1319481" y="5219383"/>
            <a:ext cx="274319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all i in [0,m], 0 &lt;= a_i &lt; n</a:t>
            </a:r>
          </a:p>
          <a:p>
            <a:r>
              <a:rPr lang="zh-CN" altLang="en-US" sz="1200">
                <a:ea typeface="宋体"/>
                <a:cs typeface="Calibri"/>
              </a:rPr>
              <a:t>B.weight[i] is a tensor of dimension d</a:t>
            </a:r>
          </a:p>
          <a:p>
            <a:endParaRPr lang="zh-CN" altLang="en-US" sz="1200">
              <a:ea typeface="宋体"/>
              <a:cs typeface="Calibri"/>
            </a:endParaRPr>
          </a:p>
          <a:p>
            <a:r>
              <a:rPr lang="zh-CN" altLang="en-US" sz="1200">
                <a:ea typeface="宋体"/>
                <a:cs typeface="Calibri"/>
              </a:rPr>
              <a:t>The array of a_i is the data input, and the array of b_i is the offset input.</a:t>
            </a:r>
          </a:p>
        </p:txBody>
      </p:sp>
    </p:spTree>
    <p:extLst>
      <p:ext uri="{BB962C8B-B14F-4D97-AF65-F5344CB8AC3E}">
        <p14:creationId xmlns:p14="http://schemas.microsoft.com/office/powerpoint/2010/main" val="151824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A7B0B-2156-4C09-A7FB-E75D297CD201}"/>
              </a:ext>
            </a:extLst>
          </p:cNvPr>
          <p:cNvSpPr>
            <a:spLocks noGrp="1"/>
          </p:cNvSpPr>
          <p:nvPr>
            <p:ph type="title"/>
          </p:nvPr>
        </p:nvSpPr>
        <p:spPr/>
        <p:txBody>
          <a:bodyPr/>
          <a:lstStyle/>
          <a:p>
            <a:r>
              <a:rPr lang="zh-CN" altLang="en-US">
                <a:ea typeface="宋体"/>
                <a:cs typeface="Calibri Light"/>
              </a:rPr>
              <a:t>Offsets in DLRM</a:t>
            </a:r>
            <a:endParaRPr lang="zh-CN" altLang="en-US"/>
          </a:p>
        </p:txBody>
      </p:sp>
      <p:sp>
        <p:nvSpPr>
          <p:cNvPr id="3" name="内容占位符 2">
            <a:extLst>
              <a:ext uri="{FF2B5EF4-FFF2-40B4-BE49-F238E27FC236}">
                <a16:creationId xmlns:a16="http://schemas.microsoft.com/office/drawing/2014/main" id="{08FECFAA-D25D-439B-ADCE-312A8535FAD7}"/>
              </a:ext>
            </a:extLst>
          </p:cNvPr>
          <p:cNvSpPr>
            <a:spLocks noGrp="1"/>
          </p:cNvSpPr>
          <p:nvPr>
            <p:ph idx="1"/>
          </p:nvPr>
        </p:nvSpPr>
        <p:spPr/>
        <p:txBody>
          <a:bodyPr vert="horz" lIns="91440" tIns="45720" rIns="91440" bIns="45720" rtlCol="0" anchor="t">
            <a:normAutofit/>
          </a:bodyPr>
          <a:lstStyle/>
          <a:p>
            <a:r>
              <a:rPr lang="zh-CN" altLang="en-US">
                <a:ea typeface="宋体"/>
                <a:cs typeface="Calibri"/>
              </a:rPr>
              <a:t>Offset is an important parameter in embedding bags. It decides the size and values of the outcomes.</a:t>
            </a:r>
          </a:p>
          <a:p>
            <a:r>
              <a:rPr lang="zh-CN" altLang="en-US">
                <a:ea typeface="宋体"/>
                <a:cs typeface="Calibri"/>
              </a:rPr>
              <a:t>However, so far, all offsets in DLRM are trivial, they are all simply:</a:t>
            </a:r>
            <a:endParaRPr lang="zh-CN" altLang="en-US">
              <a:ea typeface="宋体" panose="02010600030101010101" pitchFamily="2" charset="-122"/>
              <a:cs typeface="Calibri"/>
            </a:endParaRPr>
          </a:p>
          <a:p>
            <a:pPr marL="0" indent="0" algn="ctr">
              <a:buNone/>
            </a:pPr>
            <a:r>
              <a:rPr lang="zh-CN" altLang="en-US">
                <a:ea typeface="宋体"/>
                <a:cs typeface="Calibri"/>
              </a:rPr>
              <a:t>Tensor [0, 1, 2, 3, …, batch_size-1]</a:t>
            </a:r>
          </a:p>
          <a:p>
            <a:pPr marL="0" indent="0">
              <a:buNone/>
            </a:pPr>
            <a:r>
              <a:rPr lang="zh-CN" altLang="en-US">
                <a:ea typeface="宋体"/>
                <a:cs typeface="Calibri"/>
              </a:rPr>
              <a:t>Hence, so far, offset_size = batch_size</a:t>
            </a:r>
          </a:p>
        </p:txBody>
      </p:sp>
    </p:spTree>
    <p:extLst>
      <p:ext uri="{BB962C8B-B14F-4D97-AF65-F5344CB8AC3E}">
        <p14:creationId xmlns:p14="http://schemas.microsoft.com/office/powerpoint/2010/main" val="3210691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7FCC4D-984E-4A50-AB5E-95B9EE6BB794}"/>
              </a:ext>
            </a:extLst>
          </p:cNvPr>
          <p:cNvSpPr>
            <a:spLocks noGrp="1"/>
          </p:cNvSpPr>
          <p:nvPr>
            <p:ph type="title"/>
          </p:nvPr>
        </p:nvSpPr>
        <p:spPr/>
        <p:txBody>
          <a:bodyPr/>
          <a:lstStyle/>
          <a:p>
            <a:r>
              <a:rPr lang="zh-CN" altLang="en-US">
                <a:ea typeface="宋体"/>
                <a:cs typeface="Calibri Light"/>
              </a:rPr>
              <a:t>nn.EmbeddingBag</a:t>
            </a:r>
            <a:endParaRPr lang="zh-CN" altLang="en-US"/>
          </a:p>
        </p:txBody>
      </p:sp>
      <p:sp>
        <p:nvSpPr>
          <p:cNvPr id="3" name="内容占位符 2">
            <a:extLst>
              <a:ext uri="{FF2B5EF4-FFF2-40B4-BE49-F238E27FC236}">
                <a16:creationId xmlns:a16="http://schemas.microsoft.com/office/drawing/2014/main" id="{F4FBE06A-D334-4411-9655-CB7F1191B824}"/>
              </a:ext>
            </a:extLst>
          </p:cNvPr>
          <p:cNvSpPr>
            <a:spLocks noGrp="1"/>
          </p:cNvSpPr>
          <p:nvPr>
            <p:ph idx="1"/>
          </p:nvPr>
        </p:nvSpPr>
        <p:spPr/>
        <p:txBody>
          <a:bodyPr vert="horz" lIns="91440" tIns="45720" rIns="91440" bIns="45720" rtlCol="0" anchor="t">
            <a:normAutofit/>
          </a:bodyPr>
          <a:lstStyle/>
          <a:p>
            <a:r>
              <a:rPr lang="zh-CN" altLang="en-US" b="1">
                <a:latin typeface="SimSun"/>
                <a:ea typeface="SimSun"/>
                <a:cs typeface="Calibri"/>
              </a:rPr>
              <a:t>Explicit parameters</a:t>
            </a:r>
            <a:r>
              <a:rPr lang="zh-CN" altLang="en-US">
                <a:latin typeface="SimSun"/>
                <a:ea typeface="SimSun"/>
                <a:cs typeface="Calibri"/>
              </a:rPr>
              <a:t>: </a:t>
            </a:r>
            <a:endParaRPr lang="zh-CN">
              <a:latin typeface="SimSun"/>
              <a:ea typeface="SimSun"/>
            </a:endParaRPr>
          </a:p>
          <a:p>
            <a:r>
              <a:rPr lang="zh-CN" altLang="en-US">
                <a:latin typeface="SimSun"/>
                <a:ea typeface="SimSun"/>
                <a:cs typeface="Calibri"/>
              </a:rPr>
              <a:t>num_embedding=n</a:t>
            </a:r>
            <a:r>
              <a:rPr lang="en-US" altLang="zh-CN">
                <a:latin typeface="SimSun"/>
                <a:ea typeface="+mn-lt"/>
                <a:cs typeface="Calibri"/>
              </a:rPr>
              <a:t>∈</a:t>
            </a:r>
            <a:r>
              <a:rPr lang="en-US" altLang="zh-CN">
                <a:latin typeface="SimSun"/>
                <a:ea typeface="宋体"/>
                <a:cs typeface="Calibri"/>
              </a:rPr>
              <a:t>ln</a:t>
            </a:r>
            <a:r>
              <a:rPr lang="zh-CN" altLang="en-US">
                <a:latin typeface="SimSun"/>
                <a:ea typeface="SimSun"/>
                <a:cs typeface="Calibri"/>
              </a:rPr>
              <a:t>,</a:t>
            </a:r>
            <a:endParaRPr lang="zh-CN">
              <a:latin typeface="SimSun"/>
              <a:ea typeface="SimSun"/>
            </a:endParaRPr>
          </a:p>
          <a:p>
            <a:r>
              <a:rPr lang="zh-CN" altLang="en-US">
                <a:latin typeface="SimSun"/>
                <a:ea typeface="SimSun"/>
                <a:cs typeface="Calibri"/>
              </a:rPr>
              <a:t>EmbeddingDim=m,</a:t>
            </a:r>
          </a:p>
          <a:p>
            <a:r>
              <a:rPr lang="zh-CN" altLang="en-US">
                <a:latin typeface="SimSun"/>
                <a:ea typeface="SimSun"/>
                <a:cs typeface="Calibri"/>
              </a:rPr>
              <a:t>Mode="sum",</a:t>
            </a:r>
          </a:p>
          <a:p>
            <a:r>
              <a:rPr lang="zh-CN" altLang="en-US">
                <a:latin typeface="SimSun"/>
                <a:ea typeface="SimSun"/>
                <a:cs typeface="Calibri"/>
              </a:rPr>
              <a:t>sparse=True</a:t>
            </a:r>
          </a:p>
          <a:p>
            <a:endParaRPr lang="zh-CN" altLang="en-US">
              <a:latin typeface="SimSun"/>
              <a:ea typeface="SimSun"/>
              <a:cs typeface="Calibri"/>
            </a:endParaRPr>
          </a:p>
        </p:txBody>
      </p:sp>
      <p:grpSp>
        <p:nvGrpSpPr>
          <p:cNvPr id="6" name="组合 5">
            <a:extLst>
              <a:ext uri="{FF2B5EF4-FFF2-40B4-BE49-F238E27FC236}">
                <a16:creationId xmlns:a16="http://schemas.microsoft.com/office/drawing/2014/main" id="{B003127F-15BD-4F6E-9C13-12EFCF712CB0}"/>
              </a:ext>
            </a:extLst>
          </p:cNvPr>
          <p:cNvGrpSpPr/>
          <p:nvPr/>
        </p:nvGrpSpPr>
        <p:grpSpPr>
          <a:xfrm>
            <a:off x="5443571" y="2403893"/>
            <a:ext cx="5129589" cy="2273116"/>
            <a:chOff x="5443571" y="2403893"/>
            <a:chExt cx="5129589" cy="2273116"/>
          </a:xfrm>
        </p:grpSpPr>
        <p:sp>
          <p:nvSpPr>
            <p:cNvPr id="19" name="文本框 18">
              <a:extLst>
                <a:ext uri="{FF2B5EF4-FFF2-40B4-BE49-F238E27FC236}">
                  <a16:creationId xmlns:a16="http://schemas.microsoft.com/office/drawing/2014/main" id="{133F48EF-D8AE-4E88-A353-E5DAC042691C}"/>
                </a:ext>
              </a:extLst>
            </p:cNvPr>
            <p:cNvSpPr txBox="1"/>
            <p:nvPr/>
          </p:nvSpPr>
          <p:spPr>
            <a:xfrm>
              <a:off x="8852029" y="3107995"/>
              <a:ext cx="172113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Output: [offset_size, m]</a:t>
              </a:r>
              <a:endParaRPr lang="zh-CN"/>
            </a:p>
          </p:txBody>
        </p:sp>
        <p:sp>
          <p:nvSpPr>
            <p:cNvPr id="14" name="文本框 13">
              <a:extLst>
                <a:ext uri="{FF2B5EF4-FFF2-40B4-BE49-F238E27FC236}">
                  <a16:creationId xmlns:a16="http://schemas.microsoft.com/office/drawing/2014/main" id="{73F1CE8E-6CCB-45C4-9B38-AD08CE3C2F1D}"/>
                </a:ext>
              </a:extLst>
            </p:cNvPr>
            <p:cNvSpPr txBox="1"/>
            <p:nvPr/>
          </p:nvSpPr>
          <p:spPr>
            <a:xfrm>
              <a:off x="5904048" y="3430215"/>
              <a:ext cx="23046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Offset: [offset_size]</a:t>
              </a:r>
            </a:p>
            <a:p>
              <a:endParaRPr lang="zh-CN" altLang="en-US" sz="1200">
                <a:ea typeface="宋体"/>
                <a:cs typeface="Calibri"/>
              </a:endParaRPr>
            </a:p>
          </p:txBody>
        </p:sp>
        <p:grpSp>
          <p:nvGrpSpPr>
            <p:cNvPr id="4" name="组合 3">
              <a:extLst>
                <a:ext uri="{FF2B5EF4-FFF2-40B4-BE49-F238E27FC236}">
                  <a16:creationId xmlns:a16="http://schemas.microsoft.com/office/drawing/2014/main" id="{3B598789-EE54-490D-84E2-AEB21B7C287F}"/>
                </a:ext>
              </a:extLst>
            </p:cNvPr>
            <p:cNvGrpSpPr/>
            <p:nvPr/>
          </p:nvGrpSpPr>
          <p:grpSpPr>
            <a:xfrm>
              <a:off x="5443571" y="2403893"/>
              <a:ext cx="4304997" cy="2273116"/>
              <a:chOff x="5443571" y="2403893"/>
              <a:chExt cx="4304997" cy="2273116"/>
            </a:xfrm>
          </p:grpSpPr>
          <p:sp>
            <p:nvSpPr>
              <p:cNvPr id="5" name="文本框 4">
                <a:extLst>
                  <a:ext uri="{FF2B5EF4-FFF2-40B4-BE49-F238E27FC236}">
                    <a16:creationId xmlns:a16="http://schemas.microsoft.com/office/drawing/2014/main" id="{6DD4B35A-33C6-4A92-96C2-5F1E1746027D}"/>
                  </a:ext>
                </a:extLst>
              </p:cNvPr>
              <p:cNvSpPr txBox="1"/>
              <p:nvPr/>
            </p:nvSpPr>
            <p:spPr>
              <a:xfrm>
                <a:off x="5443571" y="2785679"/>
                <a:ext cx="23046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A batch of input: [batch_size]</a:t>
                </a:r>
              </a:p>
              <a:p>
                <a:endParaRPr lang="zh-CN" altLang="en-US" sz="1200">
                  <a:ea typeface="宋体"/>
                  <a:cs typeface="Calibri"/>
                </a:endParaRPr>
              </a:p>
            </p:txBody>
          </p:sp>
          <p:sp>
            <p:nvSpPr>
              <p:cNvPr id="9" name="矩形 8">
                <a:extLst>
                  <a:ext uri="{FF2B5EF4-FFF2-40B4-BE49-F238E27FC236}">
                    <a16:creationId xmlns:a16="http://schemas.microsoft.com/office/drawing/2014/main" id="{5D929B32-B3BF-4471-8B0C-668140371FE8}"/>
                  </a:ext>
                </a:extLst>
              </p:cNvPr>
              <p:cNvSpPr/>
              <p:nvPr/>
            </p:nvSpPr>
            <p:spPr>
              <a:xfrm>
                <a:off x="7364083" y="2403893"/>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0F5F97E-853F-4EA7-81AD-4AD9200D1707}"/>
                  </a:ext>
                </a:extLst>
              </p:cNvPr>
              <p:cNvSpPr txBox="1"/>
              <p:nvPr/>
            </p:nvSpPr>
            <p:spPr>
              <a:xfrm>
                <a:off x="7138899" y="4400010"/>
                <a:ext cx="207465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nn.EmbeddingBag: [n, m]</a:t>
                </a:r>
              </a:p>
            </p:txBody>
          </p:sp>
          <p:cxnSp>
            <p:nvCxnSpPr>
              <p:cNvPr id="13" name="直接箭头连接符 12">
                <a:extLst>
                  <a:ext uri="{FF2B5EF4-FFF2-40B4-BE49-F238E27FC236}">
                    <a16:creationId xmlns:a16="http://schemas.microsoft.com/office/drawing/2014/main" id="{94543450-F954-4945-8EFD-6C12663118CD}"/>
                  </a:ext>
                </a:extLst>
              </p:cNvPr>
              <p:cNvCxnSpPr/>
              <p:nvPr/>
            </p:nvCxnSpPr>
            <p:spPr>
              <a:xfrm flipV="1">
                <a:off x="6092903" y="3063514"/>
                <a:ext cx="1270828" cy="6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C0E9C0F-E24C-4EC1-A0B2-C309678208FB}"/>
                  </a:ext>
                </a:extLst>
              </p:cNvPr>
              <p:cNvCxnSpPr/>
              <p:nvPr/>
            </p:nvCxnSpPr>
            <p:spPr>
              <a:xfrm>
                <a:off x="8884488" y="3442658"/>
                <a:ext cx="864080" cy="1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E4A9D0C-A021-4276-9EA5-72C6EF49E002}"/>
                  </a:ext>
                </a:extLst>
              </p:cNvPr>
              <p:cNvCxnSpPr>
                <a:cxnSpLocks/>
              </p:cNvCxnSpPr>
              <p:nvPr/>
            </p:nvCxnSpPr>
            <p:spPr>
              <a:xfrm>
                <a:off x="6117850" y="3720305"/>
                <a:ext cx="1225135" cy="13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025949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54DF96-088A-4D7D-8395-9836B9E7D8F8}"/>
              </a:ext>
            </a:extLst>
          </p:cNvPr>
          <p:cNvSpPr>
            <a:spLocks noGrp="1"/>
          </p:cNvSpPr>
          <p:nvPr>
            <p:ph type="title"/>
          </p:nvPr>
        </p:nvSpPr>
        <p:spPr/>
        <p:txBody>
          <a:bodyPr/>
          <a:lstStyle/>
          <a:p>
            <a:r>
              <a:rPr lang="zh-CN" altLang="en-US">
                <a:ea typeface="宋体"/>
                <a:cs typeface="Calibri Light"/>
              </a:rPr>
              <a:t>nn.EmbeddingBag dimensions</a:t>
            </a:r>
            <a:endParaRPr lang="zh-CN" altLang="en-US"/>
          </a:p>
        </p:txBody>
      </p:sp>
      <p:sp>
        <p:nvSpPr>
          <p:cNvPr id="3" name="内容占位符 2">
            <a:extLst>
              <a:ext uri="{FF2B5EF4-FFF2-40B4-BE49-F238E27FC236}">
                <a16:creationId xmlns:a16="http://schemas.microsoft.com/office/drawing/2014/main" id="{735A7751-DC9C-4C42-B28D-E69060B99840}"/>
              </a:ext>
            </a:extLst>
          </p:cNvPr>
          <p:cNvSpPr>
            <a:spLocks noGrp="1"/>
          </p:cNvSpPr>
          <p:nvPr>
            <p:ph idx="1"/>
          </p:nvPr>
        </p:nvSpPr>
        <p:spPr>
          <a:xfrm>
            <a:off x="838200" y="1825625"/>
            <a:ext cx="11354904" cy="4351338"/>
          </a:xfrm>
        </p:spPr>
        <p:txBody>
          <a:bodyPr vert="horz" lIns="91440" tIns="45720" rIns="91440" bIns="45720" rtlCol="0" anchor="t">
            <a:normAutofit/>
          </a:bodyPr>
          <a:lstStyle/>
          <a:p>
            <a:r>
              <a:rPr lang="en-US" b="1" err="1">
                <a:latin typeface="SimSun"/>
                <a:ea typeface="SimSun"/>
                <a:cs typeface="+mn-lt"/>
              </a:rPr>
              <a:t>nn.EmbeddingBags</a:t>
            </a:r>
            <a:r>
              <a:rPr lang="en-US" b="1">
                <a:latin typeface="SimSun"/>
                <a:ea typeface="SimSun"/>
                <a:cs typeface="+mn-lt"/>
              </a:rPr>
              <a:t>' [</a:t>
            </a:r>
            <a:r>
              <a:rPr lang="en-US" b="1" err="1">
                <a:latin typeface="SimSun"/>
                <a:ea typeface="SimSun"/>
                <a:cs typeface="+mn-lt"/>
              </a:rPr>
              <a:t>num_embeddings</a:t>
            </a:r>
            <a:r>
              <a:rPr lang="en-US" b="1">
                <a:latin typeface="SimSun"/>
                <a:ea typeface="SimSun"/>
                <a:cs typeface="+mn-lt"/>
              </a:rPr>
              <a:t>, </a:t>
            </a:r>
            <a:r>
              <a:rPr lang="en-US" b="1" err="1">
                <a:latin typeface="SimSun"/>
                <a:ea typeface="SimSun"/>
                <a:cs typeface="+mn-lt"/>
              </a:rPr>
              <a:t>embedding_Dim</a:t>
            </a:r>
            <a:r>
              <a:rPr lang="en-US" b="1">
                <a:latin typeface="SimSun"/>
                <a:ea typeface="SimSun"/>
                <a:cs typeface="+mn-lt"/>
              </a:rPr>
              <a:t>] pairs:</a:t>
            </a:r>
            <a:endParaRPr lang="en-US" b="1">
              <a:ea typeface="+mn-lt"/>
              <a:cs typeface="+mn-lt"/>
            </a:endParaRPr>
          </a:p>
          <a:p>
            <a:r>
              <a:rPr lang="en-US" altLang="zh-CN">
                <a:latin typeface="Times New Roman"/>
                <a:ea typeface="+mn-lt"/>
                <a:cs typeface="+mn-lt"/>
              </a:rPr>
              <a:t>[1460, 128], [583, 128], [10131227, 128], [2202608, 128], [305, 128], [24, 128], [12517, 128], [633, 128], [3, 128], [93145, 128], [5683, 128], [8351593, 128], [3194</a:t>
            </a:r>
            <a:r>
              <a:rPr lang="en-US">
                <a:latin typeface="Times New Roman"/>
                <a:ea typeface="+mn-lt"/>
                <a:cs typeface="+mn-lt"/>
              </a:rPr>
              <a:t>,</a:t>
            </a:r>
            <a:r>
              <a:rPr lang="en-US" altLang="zh-CN">
                <a:latin typeface="Times New Roman"/>
                <a:ea typeface="+mn-lt"/>
                <a:cs typeface="+mn-lt"/>
              </a:rPr>
              <a:t> 128], [27, 128], [14992</a:t>
            </a:r>
            <a:r>
              <a:rPr lang="en-US">
                <a:latin typeface="Times New Roman"/>
                <a:ea typeface="+mn-lt"/>
                <a:cs typeface="+mn-lt"/>
              </a:rPr>
              <a:t>,</a:t>
            </a:r>
            <a:r>
              <a:rPr lang="en-US" altLang="zh-CN">
                <a:latin typeface="Times New Roman"/>
                <a:ea typeface="+mn-lt"/>
                <a:cs typeface="+mn-lt"/>
              </a:rPr>
              <a:t> 128], [5461306, 128], [10</a:t>
            </a:r>
            <a:r>
              <a:rPr lang="en-US">
                <a:latin typeface="Times New Roman"/>
                <a:ea typeface="+mn-lt"/>
                <a:cs typeface="+mn-lt"/>
              </a:rPr>
              <a:t>,</a:t>
            </a:r>
            <a:r>
              <a:rPr lang="en-US" altLang="zh-CN">
                <a:latin typeface="Times New Roman"/>
                <a:ea typeface="+mn-lt"/>
                <a:cs typeface="+mn-lt"/>
              </a:rPr>
              <a:t> 128], [5652, 128], [2173</a:t>
            </a:r>
            <a:r>
              <a:rPr lang="en-US">
                <a:latin typeface="Times New Roman"/>
                <a:ea typeface="+mn-lt"/>
                <a:cs typeface="+mn-lt"/>
              </a:rPr>
              <a:t>,</a:t>
            </a:r>
            <a:r>
              <a:rPr lang="en-US" altLang="zh-CN">
                <a:latin typeface="Times New Roman"/>
                <a:ea typeface="+mn-lt"/>
                <a:cs typeface="+mn-lt"/>
              </a:rPr>
              <a:t> 128], [4, 128], [7046547</a:t>
            </a:r>
            <a:r>
              <a:rPr lang="en-US">
                <a:latin typeface="Times New Roman"/>
                <a:ea typeface="+mn-lt"/>
                <a:cs typeface="+mn-lt"/>
              </a:rPr>
              <a:t>, 128], </a:t>
            </a:r>
            <a:r>
              <a:rPr lang="en-US" altLang="zh-CN">
                <a:latin typeface="Times New Roman"/>
                <a:ea typeface="+mn-lt"/>
                <a:cs typeface="+mn-lt"/>
              </a:rPr>
              <a:t>[18, 128], [15</a:t>
            </a:r>
            <a:r>
              <a:rPr lang="en-US">
                <a:latin typeface="Times New Roman"/>
                <a:ea typeface="+mn-lt"/>
                <a:cs typeface="+mn-lt"/>
              </a:rPr>
              <a:t>, 128], [286181, 128], [105, 128], [142572, 128]</a:t>
            </a:r>
            <a:endParaRPr lang="zh-CN">
              <a:latin typeface="Times New Roman"/>
              <a:ea typeface="SimSun"/>
              <a:cs typeface="+mn-lt"/>
            </a:endParaRPr>
          </a:p>
        </p:txBody>
      </p:sp>
      <p:sp>
        <p:nvSpPr>
          <p:cNvPr id="5" name="矩形 4">
            <a:extLst>
              <a:ext uri="{FF2B5EF4-FFF2-40B4-BE49-F238E27FC236}">
                <a16:creationId xmlns:a16="http://schemas.microsoft.com/office/drawing/2014/main" id="{876F7CD0-D7D9-43D4-BAC9-41CD483C1F77}"/>
              </a:ext>
            </a:extLst>
          </p:cNvPr>
          <p:cNvSpPr/>
          <p:nvPr/>
        </p:nvSpPr>
        <p:spPr>
          <a:xfrm>
            <a:off x="9729158" y="4150742"/>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E81B620-EC6E-480F-B632-2C93AEA5FABC}"/>
              </a:ext>
            </a:extLst>
          </p:cNvPr>
          <p:cNvSpPr txBox="1"/>
          <p:nvPr/>
        </p:nvSpPr>
        <p:spPr>
          <a:xfrm>
            <a:off x="9726823" y="6154047"/>
            <a:ext cx="207465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nn.EmbeddingBag: [n, m]</a:t>
            </a:r>
          </a:p>
        </p:txBody>
      </p:sp>
      <p:sp>
        <p:nvSpPr>
          <p:cNvPr id="4" name="文本框 3">
            <a:extLst>
              <a:ext uri="{FF2B5EF4-FFF2-40B4-BE49-F238E27FC236}">
                <a16:creationId xmlns:a16="http://schemas.microsoft.com/office/drawing/2014/main" id="{9D4E60FC-7178-4205-AD67-37A9C32CCBC0}"/>
              </a:ext>
            </a:extLst>
          </p:cNvPr>
          <p:cNvSpPr txBox="1"/>
          <p:nvPr/>
        </p:nvSpPr>
        <p:spPr>
          <a:xfrm>
            <a:off x="1260763" y="5721927"/>
            <a:ext cx="221672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 All data are acquired through actually running the model</a:t>
            </a:r>
            <a:endParaRPr lang="zh-CN" altLang="en-US" sz="1200">
              <a:ea typeface="宋体"/>
              <a:cs typeface="Calibri"/>
            </a:endParaRPr>
          </a:p>
        </p:txBody>
      </p:sp>
    </p:spTree>
    <p:extLst>
      <p:ext uri="{BB962C8B-B14F-4D97-AF65-F5344CB8AC3E}">
        <p14:creationId xmlns:p14="http://schemas.microsoft.com/office/powerpoint/2010/main" val="3644667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EC5419-83D7-451F-A20D-0EDD714BF016}"/>
              </a:ext>
            </a:extLst>
          </p:cNvPr>
          <p:cNvSpPr>
            <a:spLocks noGrp="1"/>
          </p:cNvSpPr>
          <p:nvPr>
            <p:ph type="title"/>
          </p:nvPr>
        </p:nvSpPr>
        <p:spPr/>
        <p:txBody>
          <a:bodyPr/>
          <a:lstStyle/>
          <a:p>
            <a:r>
              <a:rPr lang="zh-CN" altLang="en-US">
                <a:ea typeface="宋体"/>
                <a:cs typeface="Calibri Light"/>
              </a:rPr>
              <a:t>PrEmbeddingBag</a:t>
            </a:r>
            <a:endParaRPr lang="zh-CN" altLang="en-US"/>
          </a:p>
        </p:txBody>
      </p:sp>
      <p:sp>
        <p:nvSpPr>
          <p:cNvPr id="6" name="矩形 5">
            <a:extLst>
              <a:ext uri="{FF2B5EF4-FFF2-40B4-BE49-F238E27FC236}">
                <a16:creationId xmlns:a16="http://schemas.microsoft.com/office/drawing/2014/main" id="{50483FA0-8613-4410-B21E-D4518ADEBB9A}"/>
              </a:ext>
            </a:extLst>
          </p:cNvPr>
          <p:cNvSpPr/>
          <p:nvPr/>
        </p:nvSpPr>
        <p:spPr>
          <a:xfrm>
            <a:off x="4125154" y="2032413"/>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X_i</a:t>
            </a:r>
          </a:p>
        </p:txBody>
      </p:sp>
      <p:sp>
        <p:nvSpPr>
          <p:cNvPr id="7" name="矩形 6">
            <a:extLst>
              <a:ext uri="{FF2B5EF4-FFF2-40B4-BE49-F238E27FC236}">
                <a16:creationId xmlns:a16="http://schemas.microsoft.com/office/drawing/2014/main" id="{9B7A98E1-1641-4793-A46E-8CDF1133C387}"/>
              </a:ext>
            </a:extLst>
          </p:cNvPr>
          <p:cNvSpPr/>
          <p:nvPr/>
        </p:nvSpPr>
        <p:spPr>
          <a:xfrm>
            <a:off x="4125154" y="3070500"/>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nn.EmbeddingBag</a:t>
            </a:r>
            <a:endParaRPr lang="zh-CN"/>
          </a:p>
        </p:txBody>
      </p:sp>
      <p:cxnSp>
        <p:nvCxnSpPr>
          <p:cNvPr id="8" name="直接箭头连接符 7">
            <a:extLst>
              <a:ext uri="{FF2B5EF4-FFF2-40B4-BE49-F238E27FC236}">
                <a16:creationId xmlns:a16="http://schemas.microsoft.com/office/drawing/2014/main" id="{4326F9C3-1E1D-4E5C-8C50-A6A3BABA6656}"/>
              </a:ext>
            </a:extLst>
          </p:cNvPr>
          <p:cNvCxnSpPr/>
          <p:nvPr/>
        </p:nvCxnSpPr>
        <p:spPr>
          <a:xfrm>
            <a:off x="5968725" y="2440333"/>
            <a:ext cx="8833" cy="62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65D22C6-AB6D-4651-9C55-78FB1DD1D099}"/>
              </a:ext>
            </a:extLst>
          </p:cNvPr>
          <p:cNvCxnSpPr>
            <a:cxnSpLocks/>
          </p:cNvCxnSpPr>
          <p:nvPr/>
        </p:nvCxnSpPr>
        <p:spPr>
          <a:xfrm>
            <a:off x="5979768" y="3533638"/>
            <a:ext cx="8833" cy="62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F37A442-F6B6-48C7-96D2-7B303A49329C}"/>
              </a:ext>
            </a:extLst>
          </p:cNvPr>
          <p:cNvCxnSpPr>
            <a:cxnSpLocks/>
          </p:cNvCxnSpPr>
          <p:nvPr/>
        </p:nvCxnSpPr>
        <p:spPr>
          <a:xfrm>
            <a:off x="5979768" y="4637985"/>
            <a:ext cx="8833" cy="62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E2116D7-474F-44E8-AD38-AEAB91C8FDB6}"/>
              </a:ext>
            </a:extLst>
          </p:cNvPr>
          <p:cNvSpPr/>
          <p:nvPr/>
        </p:nvSpPr>
        <p:spPr>
          <a:xfrm>
            <a:off x="4158284" y="5323369"/>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Embedded_Output_i</a:t>
            </a:r>
          </a:p>
        </p:txBody>
      </p:sp>
      <p:sp>
        <p:nvSpPr>
          <p:cNvPr id="12" name="椭圆 11">
            <a:extLst>
              <a:ext uri="{FF2B5EF4-FFF2-40B4-BE49-F238E27FC236}">
                <a16:creationId xmlns:a16="http://schemas.microsoft.com/office/drawing/2014/main" id="{0551BF31-54C4-42F1-8C3D-FF1242768026}"/>
              </a:ext>
            </a:extLst>
          </p:cNvPr>
          <p:cNvSpPr/>
          <p:nvPr/>
        </p:nvSpPr>
        <p:spPr>
          <a:xfrm>
            <a:off x="3737256" y="4162424"/>
            <a:ext cx="4494690" cy="53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atin typeface="SimSun"/>
                <a:ea typeface="SimSun"/>
                <a:cs typeface="+mn-lt"/>
              </a:rPr>
              <a:t>L</a:t>
            </a:r>
            <a:r>
              <a:rPr lang="en-US" altLang="zh-CN" err="1">
                <a:latin typeface="SimSun"/>
                <a:ea typeface="SimSun"/>
                <a:cs typeface="+mn-lt"/>
              </a:rPr>
              <a:t>inear</a:t>
            </a:r>
            <a:r>
              <a:rPr lang="zh-CN">
                <a:latin typeface="SimSun"/>
                <a:ea typeface="SimSun"/>
                <a:cs typeface="+mn-lt"/>
              </a:rPr>
              <a:t> (</a:t>
            </a:r>
            <a:r>
              <a:rPr lang="en-US" altLang="zh-CN" err="1">
                <a:latin typeface="SimSun"/>
                <a:ea typeface="+mn-lt"/>
                <a:cs typeface="+mn-lt"/>
              </a:rPr>
              <a:t>X_i</a:t>
            </a:r>
            <a:r>
              <a:rPr lang="zh-CN">
                <a:latin typeface="SimSun"/>
                <a:ea typeface="SimSun"/>
                <a:cs typeface="+mn-lt"/>
              </a:rPr>
              <a:t>.size, base_dim)</a:t>
            </a:r>
          </a:p>
        </p:txBody>
      </p:sp>
      <p:sp>
        <p:nvSpPr>
          <p:cNvPr id="3" name="文本框 2">
            <a:extLst>
              <a:ext uri="{FF2B5EF4-FFF2-40B4-BE49-F238E27FC236}">
                <a16:creationId xmlns:a16="http://schemas.microsoft.com/office/drawing/2014/main" id="{F6ED2E56-9759-4570-93F8-D9625561E90C}"/>
              </a:ext>
            </a:extLst>
          </p:cNvPr>
          <p:cNvSpPr txBox="1"/>
          <p:nvPr/>
        </p:nvSpPr>
        <p:spPr>
          <a:xfrm>
            <a:off x="8611705" y="4956312"/>
            <a:ext cx="27432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400">
                <a:ea typeface="宋体"/>
              </a:rPr>
              <a:t>*X_i.size = embeddingDim</a:t>
            </a:r>
          </a:p>
          <a:p>
            <a:r>
              <a:rPr lang="zh-CN" altLang="en-US" sz="1400">
                <a:ea typeface="宋体"/>
                <a:cs typeface="Calibri"/>
              </a:rPr>
              <a:t>External function md_solver provides unique embedding_dims for this embedding bag.</a:t>
            </a:r>
          </a:p>
        </p:txBody>
      </p:sp>
      <p:sp>
        <p:nvSpPr>
          <p:cNvPr id="5" name="箭头: 右 4">
            <a:extLst>
              <a:ext uri="{FF2B5EF4-FFF2-40B4-BE49-F238E27FC236}">
                <a16:creationId xmlns:a16="http://schemas.microsoft.com/office/drawing/2014/main" id="{3F9DAAFE-E084-4DAA-9E87-DC8D268872F3}"/>
              </a:ext>
            </a:extLst>
          </p:cNvPr>
          <p:cNvSpPr/>
          <p:nvPr/>
        </p:nvSpPr>
        <p:spPr>
          <a:xfrm rot="-2100000">
            <a:off x="7792714" y="2920949"/>
            <a:ext cx="872434" cy="154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863578A-1A5A-4656-A110-80B0A43FE083}"/>
              </a:ext>
            </a:extLst>
          </p:cNvPr>
          <p:cNvSpPr/>
          <p:nvPr/>
        </p:nvSpPr>
        <p:spPr>
          <a:xfrm>
            <a:off x="8608115" y="1777724"/>
            <a:ext cx="3434521" cy="13252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SimSun"/>
                <a:ea typeface="SimSun"/>
                <a:cs typeface="Calibri"/>
              </a:rPr>
              <a:t>nn.EmbeddingBag (</a:t>
            </a:r>
            <a:r>
              <a:rPr lang="en-US" altLang="en-US">
                <a:latin typeface="SimSun"/>
                <a:ea typeface="宋体"/>
                <a:cs typeface="+mn-lt"/>
              </a:rPr>
              <a:t>n</a:t>
            </a:r>
            <a:r>
              <a:rPr lang="zh-CN">
                <a:latin typeface="SimSun"/>
                <a:ea typeface="SimSun"/>
                <a:cs typeface="+mn-lt"/>
              </a:rPr>
              <a:t>um_embeddings, embedding_dim, mode="sum", sparse=True</a:t>
            </a:r>
            <a:r>
              <a:rPr lang="en-US" altLang="zh-CN">
                <a:latin typeface="SimSun"/>
                <a:ea typeface="+mn-lt"/>
                <a:cs typeface="+mn-lt"/>
              </a:rPr>
              <a:t>)</a:t>
            </a:r>
            <a:endParaRPr lang="zh-CN" altLang="en-US">
              <a:latin typeface="SimSun"/>
              <a:ea typeface="SimSun"/>
            </a:endParaRPr>
          </a:p>
        </p:txBody>
      </p:sp>
      <p:sp>
        <p:nvSpPr>
          <p:cNvPr id="4" name="文本框 3">
            <a:extLst>
              <a:ext uri="{FF2B5EF4-FFF2-40B4-BE49-F238E27FC236}">
                <a16:creationId xmlns:a16="http://schemas.microsoft.com/office/drawing/2014/main" id="{A0DFEDDE-A502-4182-B633-B3C5C999598F}"/>
              </a:ext>
            </a:extLst>
          </p:cNvPr>
          <p:cNvSpPr txBox="1"/>
          <p:nvPr/>
        </p:nvSpPr>
        <p:spPr>
          <a:xfrm>
            <a:off x="837096" y="1411356"/>
            <a:ext cx="112798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a:latin typeface="SimSun"/>
                <a:ea typeface="+mn-lt"/>
                <a:cs typeface="+mn-lt"/>
              </a:rPr>
              <a:t>P</a:t>
            </a:r>
            <a:r>
              <a:rPr lang="en-US" altLang="en-US" b="1">
                <a:latin typeface="SimSun"/>
                <a:ea typeface="SimSun"/>
                <a:cs typeface="+mn-lt"/>
              </a:rPr>
              <a:t>arame</a:t>
            </a:r>
            <a:r>
              <a:rPr lang="zh-CN" altLang="en-US" b="1">
                <a:latin typeface="SimSun"/>
                <a:ea typeface="SimSun"/>
                <a:cs typeface="+mn-lt"/>
              </a:rPr>
              <a:t>t</a:t>
            </a:r>
            <a:r>
              <a:rPr lang="en-US" altLang="en-US" b="1">
                <a:latin typeface="SimSun"/>
                <a:ea typeface="SimSun"/>
                <a:cs typeface="+mn-lt"/>
              </a:rPr>
              <a:t>ers</a:t>
            </a:r>
            <a:r>
              <a:rPr lang="zh-CN">
                <a:latin typeface="SimSun"/>
                <a:ea typeface="SimSun"/>
                <a:cs typeface="+mn-lt"/>
              </a:rPr>
              <a:t>:</a:t>
            </a:r>
            <a:r>
              <a:rPr lang="zh-CN" altLang="en-US">
                <a:latin typeface="SimSun"/>
                <a:ea typeface="SimSun"/>
                <a:cs typeface="+mn-lt"/>
              </a:rPr>
              <a:t> num_embeddings=n</a:t>
            </a:r>
            <a:r>
              <a:rPr lang="en-US" altLang="zh-CN">
                <a:ea typeface="+mn-lt"/>
                <a:cs typeface="+mn-lt"/>
              </a:rPr>
              <a:t>∈</a:t>
            </a:r>
            <a:r>
              <a:rPr lang="en-US" altLang="zh-CN">
                <a:latin typeface="Calibri"/>
                <a:ea typeface="SimSun"/>
                <a:cs typeface="+mn-lt"/>
              </a:rPr>
              <a:t>ln</a:t>
            </a:r>
            <a:r>
              <a:rPr lang="zh-CN" altLang="en-US">
                <a:latin typeface="SimSun"/>
                <a:ea typeface="SimSun"/>
                <a:cs typeface="+mn-lt"/>
              </a:rPr>
              <a:t>, embedding_dim=m_i</a:t>
            </a:r>
            <a:r>
              <a:rPr lang="en-US" altLang="zh-CN">
                <a:ea typeface="+mn-lt"/>
                <a:cs typeface="+mn-lt"/>
              </a:rPr>
              <a:t>∈</a:t>
            </a:r>
            <a:r>
              <a:rPr lang="en-US" altLang="zh-CN">
                <a:latin typeface="Calibri"/>
                <a:ea typeface="SimSun"/>
                <a:cs typeface="+mn-lt"/>
              </a:rPr>
              <a:t>m</a:t>
            </a:r>
            <a:r>
              <a:rPr lang="zh-CN" altLang="en-US">
                <a:latin typeface="SimSun"/>
                <a:ea typeface="SimSun"/>
                <a:cs typeface="+mn-lt"/>
              </a:rPr>
              <a:t>, </a:t>
            </a:r>
            <a:r>
              <a:rPr lang="zh-CN" altLang="en-US">
                <a:highlight>
                  <a:srgbClr val="FFFF00"/>
                </a:highlight>
                <a:latin typeface="SimSun"/>
                <a:ea typeface="SimSun"/>
                <a:cs typeface="+mn-lt"/>
              </a:rPr>
              <a:t>base_dim=max(m)</a:t>
            </a:r>
            <a:endParaRPr lang="en-US" altLang="zh-CN">
              <a:highlight>
                <a:srgbClr val="FFFF00"/>
              </a:highlight>
              <a:latin typeface="Calibri"/>
              <a:ea typeface="SimSun"/>
              <a:cs typeface="Calibri"/>
            </a:endParaRPr>
          </a:p>
        </p:txBody>
      </p:sp>
    </p:spTree>
    <p:extLst>
      <p:ext uri="{BB962C8B-B14F-4D97-AF65-F5344CB8AC3E}">
        <p14:creationId xmlns:p14="http://schemas.microsoft.com/office/powerpoint/2010/main" val="3786411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1894548-0FEA-41D0-83E1-043D549AFA8A}"/>
              </a:ext>
            </a:extLst>
          </p:cNvPr>
          <p:cNvSpPr>
            <a:spLocks noGrp="1"/>
          </p:cNvSpPr>
          <p:nvPr>
            <p:ph type="title"/>
          </p:nvPr>
        </p:nvSpPr>
        <p:spPr>
          <a:xfrm>
            <a:off x="838200" y="365125"/>
            <a:ext cx="10515600" cy="1325563"/>
          </a:xfrm>
        </p:spPr>
        <p:txBody>
          <a:bodyPr/>
          <a:lstStyle/>
          <a:p>
            <a:r>
              <a:rPr lang="zh-CN" altLang="en-US">
                <a:ea typeface="宋体"/>
                <a:cs typeface="Calibri Light"/>
              </a:rPr>
              <a:t>PrEmbeddingBag</a:t>
            </a:r>
            <a:endParaRPr lang="zh-CN" altLang="en-US"/>
          </a:p>
        </p:txBody>
      </p:sp>
      <p:sp>
        <p:nvSpPr>
          <p:cNvPr id="7" name="文本框 6">
            <a:extLst>
              <a:ext uri="{FF2B5EF4-FFF2-40B4-BE49-F238E27FC236}">
                <a16:creationId xmlns:a16="http://schemas.microsoft.com/office/drawing/2014/main" id="{70CA250A-5FAA-454B-8CB0-E666469E9491}"/>
              </a:ext>
            </a:extLst>
          </p:cNvPr>
          <p:cNvSpPr txBox="1"/>
          <p:nvPr/>
        </p:nvSpPr>
        <p:spPr>
          <a:xfrm>
            <a:off x="837096" y="1411356"/>
            <a:ext cx="112798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a:latin typeface="SimSun"/>
                <a:ea typeface="+mn-lt"/>
                <a:cs typeface="+mn-lt"/>
              </a:rPr>
              <a:t>P</a:t>
            </a:r>
            <a:r>
              <a:rPr lang="en-US" altLang="en-US" b="1">
                <a:latin typeface="SimSun"/>
                <a:ea typeface="SimSun"/>
                <a:cs typeface="+mn-lt"/>
              </a:rPr>
              <a:t>arame</a:t>
            </a:r>
            <a:r>
              <a:rPr lang="zh-CN" altLang="en-US" b="1">
                <a:latin typeface="SimSun"/>
                <a:ea typeface="SimSun"/>
                <a:cs typeface="+mn-lt"/>
              </a:rPr>
              <a:t>t</a:t>
            </a:r>
            <a:r>
              <a:rPr lang="en-US" altLang="en-US" b="1">
                <a:latin typeface="SimSun"/>
                <a:ea typeface="SimSun"/>
                <a:cs typeface="+mn-lt"/>
              </a:rPr>
              <a:t>ers</a:t>
            </a:r>
            <a:r>
              <a:rPr lang="zh-CN">
                <a:latin typeface="SimSun"/>
                <a:ea typeface="SimSun"/>
                <a:cs typeface="+mn-lt"/>
              </a:rPr>
              <a:t>:</a:t>
            </a:r>
            <a:r>
              <a:rPr lang="zh-CN" altLang="en-US">
                <a:latin typeface="SimSun"/>
                <a:ea typeface="SimSun"/>
                <a:cs typeface="+mn-lt"/>
              </a:rPr>
              <a:t> num_embeddings=n</a:t>
            </a:r>
            <a:r>
              <a:rPr lang="en-US" altLang="zh-CN">
                <a:ea typeface="+mn-lt"/>
                <a:cs typeface="+mn-lt"/>
              </a:rPr>
              <a:t>∈</a:t>
            </a:r>
            <a:r>
              <a:rPr lang="en-US" altLang="zh-CN">
                <a:latin typeface="Calibri"/>
                <a:ea typeface="SimSun"/>
                <a:cs typeface="+mn-lt"/>
              </a:rPr>
              <a:t>ln</a:t>
            </a:r>
            <a:r>
              <a:rPr lang="zh-CN" altLang="en-US">
                <a:latin typeface="SimSun"/>
                <a:ea typeface="SimSun"/>
                <a:cs typeface="+mn-lt"/>
              </a:rPr>
              <a:t>, embedding_dim=m_i</a:t>
            </a:r>
            <a:r>
              <a:rPr lang="en-US" altLang="zh-CN">
                <a:ea typeface="+mn-lt"/>
                <a:cs typeface="+mn-lt"/>
              </a:rPr>
              <a:t>∈</a:t>
            </a:r>
            <a:r>
              <a:rPr lang="en-US" altLang="zh-CN">
                <a:latin typeface="Calibri"/>
                <a:ea typeface="SimSun"/>
                <a:cs typeface="+mn-lt"/>
              </a:rPr>
              <a:t>m</a:t>
            </a:r>
            <a:r>
              <a:rPr lang="zh-CN" altLang="en-US">
                <a:latin typeface="SimSun"/>
                <a:ea typeface="SimSun"/>
                <a:cs typeface="+mn-lt"/>
              </a:rPr>
              <a:t>, </a:t>
            </a:r>
            <a:r>
              <a:rPr lang="zh-CN" altLang="en-US">
                <a:highlight>
                  <a:srgbClr val="FFFF00"/>
                </a:highlight>
                <a:latin typeface="SimSun"/>
                <a:ea typeface="SimSun"/>
                <a:cs typeface="+mn-lt"/>
              </a:rPr>
              <a:t>base_dim=max(m)</a:t>
            </a:r>
            <a:endParaRPr lang="en-US" altLang="zh-CN">
              <a:highlight>
                <a:srgbClr val="FFFF00"/>
              </a:highlight>
              <a:latin typeface="Calibri"/>
              <a:ea typeface="SimSun"/>
              <a:cs typeface="Calibri"/>
            </a:endParaRPr>
          </a:p>
        </p:txBody>
      </p:sp>
      <p:grpSp>
        <p:nvGrpSpPr>
          <p:cNvPr id="4" name="组合 3">
            <a:extLst>
              <a:ext uri="{FF2B5EF4-FFF2-40B4-BE49-F238E27FC236}">
                <a16:creationId xmlns:a16="http://schemas.microsoft.com/office/drawing/2014/main" id="{BC16FE72-A055-471A-B04A-1971DB060A90}"/>
              </a:ext>
            </a:extLst>
          </p:cNvPr>
          <p:cNvGrpSpPr/>
          <p:nvPr/>
        </p:nvGrpSpPr>
        <p:grpSpPr>
          <a:xfrm>
            <a:off x="1139886" y="2846371"/>
            <a:ext cx="10679100" cy="2273116"/>
            <a:chOff x="219390" y="2450131"/>
            <a:chExt cx="10679100" cy="2273116"/>
          </a:xfrm>
        </p:grpSpPr>
        <p:sp>
          <p:nvSpPr>
            <p:cNvPr id="8" name="文本框 7">
              <a:extLst>
                <a:ext uri="{FF2B5EF4-FFF2-40B4-BE49-F238E27FC236}">
                  <a16:creationId xmlns:a16="http://schemas.microsoft.com/office/drawing/2014/main" id="{2641F108-CE93-45C8-B87D-9155BDEBEB8C}"/>
                </a:ext>
              </a:extLst>
            </p:cNvPr>
            <p:cNvSpPr txBox="1"/>
            <p:nvPr/>
          </p:nvSpPr>
          <p:spPr>
            <a:xfrm>
              <a:off x="219390" y="2862705"/>
              <a:ext cx="230469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A batch of input: [batch_size]</a:t>
              </a:r>
            </a:p>
          </p:txBody>
        </p:sp>
        <p:sp>
          <p:nvSpPr>
            <p:cNvPr id="19" name="矩形 18">
              <a:extLst>
                <a:ext uri="{FF2B5EF4-FFF2-40B4-BE49-F238E27FC236}">
                  <a16:creationId xmlns:a16="http://schemas.microsoft.com/office/drawing/2014/main" id="{A244ACA5-8370-421F-AE90-BF55BC506185}"/>
                </a:ext>
              </a:extLst>
            </p:cNvPr>
            <p:cNvSpPr/>
            <p:nvPr/>
          </p:nvSpPr>
          <p:spPr>
            <a:xfrm>
              <a:off x="2148149" y="2450131"/>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7DD81DA-306D-4949-BE57-D16D392E2111}"/>
                </a:ext>
              </a:extLst>
            </p:cNvPr>
            <p:cNvSpPr txBox="1"/>
            <p:nvPr/>
          </p:nvSpPr>
          <p:spPr>
            <a:xfrm>
              <a:off x="1922965" y="4446248"/>
              <a:ext cx="207465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nn.EmbeddingBag: [n, m_i]</a:t>
              </a:r>
            </a:p>
          </p:txBody>
        </p:sp>
        <p:cxnSp>
          <p:nvCxnSpPr>
            <p:cNvPr id="22" name="直接箭头连接符 21">
              <a:extLst>
                <a:ext uri="{FF2B5EF4-FFF2-40B4-BE49-F238E27FC236}">
                  <a16:creationId xmlns:a16="http://schemas.microsoft.com/office/drawing/2014/main" id="{A7995578-DF63-4288-A4B1-35C1B3E9E0D4}"/>
                </a:ext>
              </a:extLst>
            </p:cNvPr>
            <p:cNvCxnSpPr/>
            <p:nvPr/>
          </p:nvCxnSpPr>
          <p:spPr>
            <a:xfrm>
              <a:off x="889162" y="3128923"/>
              <a:ext cx="1243986" cy="1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257F6F67-128D-4B3E-9894-7E089C91EC89}"/>
                </a:ext>
              </a:extLst>
            </p:cNvPr>
            <p:cNvCxnSpPr/>
            <p:nvPr/>
          </p:nvCxnSpPr>
          <p:spPr>
            <a:xfrm flipV="1">
              <a:off x="3668555" y="3480328"/>
              <a:ext cx="2308832" cy="14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53753F52-4D63-4220-8D57-507B02591B37}"/>
                </a:ext>
              </a:extLst>
            </p:cNvPr>
            <p:cNvSpPr txBox="1"/>
            <p:nvPr/>
          </p:nvSpPr>
          <p:spPr>
            <a:xfrm>
              <a:off x="3631768" y="3178617"/>
              <a:ext cx="22856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Embeded word: [offset_size, m_i]</a:t>
              </a:r>
              <a:endParaRPr lang="zh-CN" altLang="en-US" sz="1200">
                <a:ea typeface="宋体"/>
                <a:cs typeface="Calibri"/>
              </a:endParaRPr>
            </a:p>
          </p:txBody>
        </p:sp>
        <p:sp>
          <p:nvSpPr>
            <p:cNvPr id="27" name="矩形 26">
              <a:extLst>
                <a:ext uri="{FF2B5EF4-FFF2-40B4-BE49-F238E27FC236}">
                  <a16:creationId xmlns:a16="http://schemas.microsoft.com/office/drawing/2014/main" id="{E53F61BF-DD62-4C18-9522-A180BD4696F0}"/>
                </a:ext>
              </a:extLst>
            </p:cNvPr>
            <p:cNvSpPr/>
            <p:nvPr/>
          </p:nvSpPr>
          <p:spPr>
            <a:xfrm>
              <a:off x="5986926" y="2721828"/>
              <a:ext cx="2242867" cy="1380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2F5C6A6-E8B3-4C3B-B923-11268749FA89}"/>
                </a:ext>
              </a:extLst>
            </p:cNvPr>
            <p:cNvSpPr txBox="1"/>
            <p:nvPr/>
          </p:nvSpPr>
          <p:spPr>
            <a:xfrm>
              <a:off x="5898326" y="4157228"/>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Linear/FC: [m_i, base_dim]</a:t>
              </a:r>
              <a:endParaRPr lang="zh-CN" altLang="en-US" sz="1200">
                <a:ea typeface="宋体"/>
                <a:cs typeface="Calibri"/>
              </a:endParaRPr>
            </a:p>
          </p:txBody>
        </p:sp>
        <p:sp>
          <p:nvSpPr>
            <p:cNvPr id="31" name="文本框 30">
              <a:extLst>
                <a:ext uri="{FF2B5EF4-FFF2-40B4-BE49-F238E27FC236}">
                  <a16:creationId xmlns:a16="http://schemas.microsoft.com/office/drawing/2014/main" id="{B3AA0246-5EE2-490A-9F74-FD62144AA498}"/>
                </a:ext>
              </a:extLst>
            </p:cNvPr>
            <p:cNvSpPr txBox="1"/>
            <p:nvPr/>
          </p:nvSpPr>
          <p:spPr>
            <a:xfrm>
              <a:off x="8155290" y="3135120"/>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Output: [</a:t>
              </a:r>
              <a:r>
                <a:rPr lang="zh-CN" sz="1200">
                  <a:ea typeface="+mn-lt"/>
                  <a:cs typeface="+mn-lt"/>
                </a:rPr>
                <a:t>offset_size</a:t>
              </a:r>
              <a:r>
                <a:rPr lang="zh-CN" altLang="en-US" sz="1200">
                  <a:ea typeface="宋体"/>
                  <a:cs typeface="Calibri"/>
                </a:rPr>
                <a:t>, base_dim]</a:t>
              </a:r>
            </a:p>
          </p:txBody>
        </p:sp>
        <p:sp>
          <p:nvSpPr>
            <p:cNvPr id="2" name="文本框 1">
              <a:extLst>
                <a:ext uri="{FF2B5EF4-FFF2-40B4-BE49-F238E27FC236}">
                  <a16:creationId xmlns:a16="http://schemas.microsoft.com/office/drawing/2014/main" id="{76E7E95A-C257-4DCF-BB7B-330AA4AB4AF1}"/>
                </a:ext>
              </a:extLst>
            </p:cNvPr>
            <p:cNvSpPr txBox="1"/>
            <p:nvPr/>
          </p:nvSpPr>
          <p:spPr>
            <a:xfrm>
              <a:off x="807638" y="3386365"/>
              <a:ext cx="23046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Offset: [offset_size]</a:t>
              </a:r>
            </a:p>
            <a:p>
              <a:endParaRPr lang="zh-CN" altLang="en-US" sz="1200">
                <a:ea typeface="宋体"/>
                <a:cs typeface="Calibri"/>
              </a:endParaRPr>
            </a:p>
          </p:txBody>
        </p:sp>
        <p:cxnSp>
          <p:nvCxnSpPr>
            <p:cNvPr id="32" name="直接箭头连接符 31">
              <a:extLst>
                <a:ext uri="{FF2B5EF4-FFF2-40B4-BE49-F238E27FC236}">
                  <a16:creationId xmlns:a16="http://schemas.microsoft.com/office/drawing/2014/main" id="{5BD2D702-145A-41DD-84C6-69724E7DB6DB}"/>
                </a:ext>
              </a:extLst>
            </p:cNvPr>
            <p:cNvCxnSpPr>
              <a:cxnSpLocks/>
            </p:cNvCxnSpPr>
            <p:nvPr/>
          </p:nvCxnSpPr>
          <p:spPr>
            <a:xfrm>
              <a:off x="897050" y="3689088"/>
              <a:ext cx="1243423" cy="1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34EDE808-ACCD-4C12-A748-B86536BC4F58}"/>
                </a:ext>
              </a:extLst>
            </p:cNvPr>
            <p:cNvCxnSpPr>
              <a:cxnSpLocks/>
            </p:cNvCxnSpPr>
            <p:nvPr/>
          </p:nvCxnSpPr>
          <p:spPr>
            <a:xfrm flipV="1">
              <a:off x="8206153" y="3391653"/>
              <a:ext cx="2035903" cy="4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489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2E40B8-75A3-4D1C-B16E-890CC440AD4E}"/>
              </a:ext>
            </a:extLst>
          </p:cNvPr>
          <p:cNvSpPr>
            <a:spLocks noGrp="1"/>
          </p:cNvSpPr>
          <p:nvPr>
            <p:ph type="title"/>
          </p:nvPr>
        </p:nvSpPr>
        <p:spPr/>
        <p:txBody>
          <a:bodyPr/>
          <a:lstStyle/>
          <a:p>
            <a:r>
              <a:rPr lang="zh-CN" altLang="en-US">
                <a:ea typeface="宋体"/>
                <a:cs typeface="Calibri Light"/>
              </a:rPr>
              <a:t>PrEmbeddingBag dimensions</a:t>
            </a:r>
            <a:endParaRPr lang="zh-CN" altLang="en-US"/>
          </a:p>
        </p:txBody>
      </p:sp>
      <p:sp>
        <p:nvSpPr>
          <p:cNvPr id="3" name="内容占位符 2">
            <a:extLst>
              <a:ext uri="{FF2B5EF4-FFF2-40B4-BE49-F238E27FC236}">
                <a16:creationId xmlns:a16="http://schemas.microsoft.com/office/drawing/2014/main" id="{ADD70D0D-428C-4340-8877-3B961B44A6A8}"/>
              </a:ext>
            </a:extLst>
          </p:cNvPr>
          <p:cNvSpPr>
            <a:spLocks noGrp="1"/>
          </p:cNvSpPr>
          <p:nvPr>
            <p:ph idx="1"/>
          </p:nvPr>
        </p:nvSpPr>
        <p:spPr>
          <a:xfrm>
            <a:off x="838200" y="1825625"/>
            <a:ext cx="11354904" cy="4351338"/>
          </a:xfrm>
        </p:spPr>
        <p:txBody>
          <a:bodyPr vert="horz" lIns="91440" tIns="45720" rIns="91440" bIns="45720" rtlCol="0" anchor="t">
            <a:normAutofit/>
          </a:bodyPr>
          <a:lstStyle/>
          <a:p>
            <a:r>
              <a:rPr lang="en-US" altLang="zh-CN" b="1">
                <a:latin typeface="SimSun"/>
                <a:ea typeface="+mn-lt"/>
                <a:cs typeface="+mn-lt"/>
              </a:rPr>
              <a:t>[num_embeddings, embedding_Dim] pairs of nn.EmbeddingBag in PrEmbeddingBag:</a:t>
            </a:r>
            <a:endParaRPr lang="zh-CN" b="1">
              <a:ea typeface="+mn-lt"/>
              <a:cs typeface="+mn-lt"/>
            </a:endParaRPr>
          </a:p>
          <a:p>
            <a:r>
              <a:rPr lang="zh-CN">
                <a:latin typeface="Times New Roman"/>
                <a:ea typeface="SimSun"/>
                <a:cs typeface="+mn-lt"/>
              </a:rPr>
              <a:t>[1460, 20], [583, 26], [10131227, 1], [2202608, 2], [305, 32], [24, 128], [12517, 10], [633, 26], [3, 128], [93145, 6], [5683, 13], [8351593, 1], [3194, 16], [27, 128], [14992, 10], [5461306, 2], [10, 128], [5652, 13], [2173, 18], [4, 128], [7046547, 2], [18, 128], [15, 128], [286181, 4], [105, 128], [142572, 5]</a:t>
            </a:r>
            <a:endParaRPr lang="zh-CN" altLang="en-US">
              <a:latin typeface="Times New Roman"/>
              <a:ea typeface="SimSun"/>
              <a:cs typeface="Calibri"/>
            </a:endParaRPr>
          </a:p>
        </p:txBody>
      </p:sp>
      <p:sp>
        <p:nvSpPr>
          <p:cNvPr id="5" name="矩形 4">
            <a:extLst>
              <a:ext uri="{FF2B5EF4-FFF2-40B4-BE49-F238E27FC236}">
                <a16:creationId xmlns:a16="http://schemas.microsoft.com/office/drawing/2014/main" id="{D600E87F-FCCD-4289-9178-CDD05F389992}"/>
              </a:ext>
            </a:extLst>
          </p:cNvPr>
          <p:cNvSpPr/>
          <p:nvPr/>
        </p:nvSpPr>
        <p:spPr>
          <a:xfrm>
            <a:off x="9333780" y="4416723"/>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544889B9-A0CC-4FDF-925C-DC51D7FFAE6B}"/>
              </a:ext>
            </a:extLst>
          </p:cNvPr>
          <p:cNvSpPr txBox="1"/>
          <p:nvPr/>
        </p:nvSpPr>
        <p:spPr>
          <a:xfrm>
            <a:off x="9108596" y="6412840"/>
            <a:ext cx="207465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nn.EmbeddingBag: [n, m_i]</a:t>
            </a:r>
          </a:p>
        </p:txBody>
      </p:sp>
      <p:sp>
        <p:nvSpPr>
          <p:cNvPr id="4" name="文本框 3">
            <a:extLst>
              <a:ext uri="{FF2B5EF4-FFF2-40B4-BE49-F238E27FC236}">
                <a16:creationId xmlns:a16="http://schemas.microsoft.com/office/drawing/2014/main" id="{55A00F6E-F649-4B09-9D81-E3C36F0216C9}"/>
              </a:ext>
            </a:extLst>
          </p:cNvPr>
          <p:cNvSpPr txBox="1"/>
          <p:nvPr/>
        </p:nvSpPr>
        <p:spPr>
          <a:xfrm>
            <a:off x="1260763" y="5721927"/>
            <a:ext cx="221672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 All data are acquired through actually running the model</a:t>
            </a:r>
            <a:endParaRPr lang="zh-CN" altLang="en-US" sz="1200">
              <a:ea typeface="宋体"/>
              <a:cs typeface="Calibri"/>
            </a:endParaRPr>
          </a:p>
        </p:txBody>
      </p:sp>
    </p:spTree>
    <p:extLst>
      <p:ext uri="{BB962C8B-B14F-4D97-AF65-F5344CB8AC3E}">
        <p14:creationId xmlns:p14="http://schemas.microsoft.com/office/powerpoint/2010/main" val="3067607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AD588-E773-4506-9C9A-7B7243386409}"/>
              </a:ext>
            </a:extLst>
          </p:cNvPr>
          <p:cNvSpPr>
            <a:spLocks noGrp="1"/>
          </p:cNvSpPr>
          <p:nvPr>
            <p:ph type="title"/>
          </p:nvPr>
        </p:nvSpPr>
        <p:spPr/>
        <p:txBody>
          <a:bodyPr/>
          <a:lstStyle/>
          <a:p>
            <a:r>
              <a:rPr lang="zh-CN" altLang="en-US">
                <a:ea typeface="宋体"/>
                <a:cs typeface="Calibri Light"/>
              </a:rPr>
              <a:t>QREmbeddingBag </a:t>
            </a:r>
            <a:br>
              <a:rPr lang="zh-CN" altLang="en-US">
                <a:ea typeface="宋体"/>
                <a:cs typeface="Calibri Light"/>
              </a:rPr>
            </a:br>
            <a:r>
              <a:rPr lang="zh-CN" altLang="en-US">
                <a:ea typeface="宋体"/>
                <a:cs typeface="Calibri Light"/>
              </a:rPr>
              <a:t>(when num_categories&gt;qr-threshold)</a:t>
            </a:r>
            <a:endParaRPr lang="zh-CN" altLang="en-US"/>
          </a:p>
        </p:txBody>
      </p:sp>
      <p:sp>
        <p:nvSpPr>
          <p:cNvPr id="8" name="文本框 7">
            <a:extLst>
              <a:ext uri="{FF2B5EF4-FFF2-40B4-BE49-F238E27FC236}">
                <a16:creationId xmlns:a16="http://schemas.microsoft.com/office/drawing/2014/main" id="{677A7C06-DA2B-411D-8051-CE38A0D61997}"/>
              </a:ext>
            </a:extLst>
          </p:cNvPr>
          <p:cNvSpPr txBox="1"/>
          <p:nvPr/>
        </p:nvSpPr>
        <p:spPr>
          <a:xfrm>
            <a:off x="914400" y="1599095"/>
            <a:ext cx="112798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err="1">
                <a:latin typeface="SimSun"/>
                <a:ea typeface="+mn-lt"/>
                <a:cs typeface="+mn-lt"/>
              </a:rPr>
              <a:t>P</a:t>
            </a:r>
            <a:r>
              <a:rPr lang="en-US" altLang="en-US" b="1" err="1">
                <a:latin typeface="SimSun"/>
                <a:ea typeface="SimSun"/>
                <a:cs typeface="+mn-lt"/>
              </a:rPr>
              <a:t>arame</a:t>
            </a:r>
            <a:r>
              <a:rPr lang="zh-CN" altLang="en-US" b="1">
                <a:latin typeface="SimSun"/>
                <a:ea typeface="SimSun"/>
                <a:cs typeface="+mn-lt"/>
              </a:rPr>
              <a:t>t</a:t>
            </a:r>
            <a:r>
              <a:rPr lang="en-US" altLang="en-US" b="1" err="1">
                <a:latin typeface="SimSun"/>
                <a:ea typeface="SimSun"/>
                <a:cs typeface="+mn-lt"/>
              </a:rPr>
              <a:t>ers</a:t>
            </a:r>
            <a:r>
              <a:rPr lang="zh-CN">
                <a:latin typeface="SimSun"/>
                <a:ea typeface="SimSun"/>
                <a:cs typeface="+mn-lt"/>
              </a:rPr>
              <a:t>:</a:t>
            </a:r>
            <a:r>
              <a:rPr lang="zh-CN" altLang="en-US">
                <a:latin typeface="SimSun"/>
                <a:ea typeface="SimSun"/>
                <a:cs typeface="+mn-lt"/>
              </a:rPr>
              <a:t> n</a:t>
            </a:r>
            <a:r>
              <a:rPr lang="en-US" altLang="zh-CN" err="1">
                <a:latin typeface="SimSun"/>
                <a:ea typeface="SimSun"/>
                <a:cs typeface="+mn-lt"/>
              </a:rPr>
              <a:t>u</a:t>
            </a:r>
            <a:r>
              <a:rPr lang="en-US" altLang="en-US" err="1">
                <a:latin typeface="SimSun"/>
                <a:ea typeface="SimSun"/>
                <a:cs typeface="+mn-lt"/>
              </a:rPr>
              <a:t>m_categories</a:t>
            </a:r>
            <a:r>
              <a:rPr lang="en-US" altLang="en-US">
                <a:latin typeface="SimSun"/>
                <a:ea typeface="SimSun"/>
                <a:cs typeface="+mn-lt"/>
              </a:rPr>
              <a:t> = </a:t>
            </a:r>
            <a:r>
              <a:rPr lang="en-US" altLang="en-US" err="1">
                <a:latin typeface="SimSun"/>
                <a:ea typeface="SimSun"/>
                <a:cs typeface="+mn-lt"/>
              </a:rPr>
              <a:t>c</a:t>
            </a:r>
            <a:r>
              <a:rPr lang="en-US" err="1">
                <a:latin typeface="SimSun"/>
                <a:ea typeface="SimSun"/>
                <a:cs typeface="+mn-lt"/>
              </a:rPr>
              <a:t>∈ln</a:t>
            </a:r>
            <a:r>
              <a:rPr lang="en-US" altLang="en-US">
                <a:latin typeface="SimSun"/>
                <a:ea typeface="SimSun"/>
                <a:cs typeface="+mn-lt"/>
              </a:rPr>
              <a:t>, </a:t>
            </a:r>
            <a:r>
              <a:rPr lang="en-US" err="1">
                <a:highlight>
                  <a:srgbClr val="FFFF00"/>
                </a:highlight>
                <a:latin typeface="SimSun"/>
                <a:ea typeface="+mn-lt"/>
                <a:cs typeface="+mn-lt"/>
              </a:rPr>
              <a:t>embedding_dim</a:t>
            </a:r>
            <a:r>
              <a:rPr lang="en-US">
                <a:highlight>
                  <a:srgbClr val="FFFF00"/>
                </a:highlight>
                <a:latin typeface="SimSun"/>
                <a:ea typeface="SimSun"/>
                <a:cs typeface="+mn-lt"/>
              </a:rPr>
              <a:t>=[m0, m1] or m</a:t>
            </a:r>
            <a:r>
              <a:rPr lang="en-US">
                <a:latin typeface="SimSun"/>
                <a:ea typeface="SimSun"/>
                <a:cs typeface="+mn-lt"/>
              </a:rPr>
              <a:t>,</a:t>
            </a:r>
            <a:r>
              <a:rPr lang="en-US" altLang="en-US">
                <a:latin typeface="SimSun"/>
                <a:ea typeface="SimSun"/>
                <a:cs typeface="+mn-lt"/>
              </a:rPr>
              <a:t>  </a:t>
            </a:r>
            <a:r>
              <a:rPr lang="zh-CN">
                <a:highlight>
                  <a:srgbClr val="FFFF00"/>
                </a:highlight>
                <a:latin typeface="SimSun"/>
                <a:ea typeface="SimSun"/>
                <a:cs typeface="+mn-lt"/>
              </a:rPr>
              <a:t>num_collisions = k</a:t>
            </a:r>
            <a:r>
              <a:rPr lang="en-US" altLang="zh-CN">
                <a:highlight>
                  <a:srgbClr val="FFFF00"/>
                </a:highlight>
                <a:latin typeface="SimSun"/>
                <a:ea typeface="+mn-lt"/>
                <a:cs typeface="+mn-lt"/>
              </a:rPr>
              <a:t>,</a:t>
            </a:r>
            <a:r>
              <a:rPr lang="zh-CN" altLang="en-US">
                <a:highlight>
                  <a:srgbClr val="FFFF00"/>
                </a:highlight>
                <a:latin typeface="SimSun"/>
                <a:ea typeface="SimSun"/>
                <a:cs typeface="+mn-lt"/>
              </a:rPr>
              <a:t> o</a:t>
            </a:r>
            <a:r>
              <a:rPr lang="en-US" altLang="zh-CN" err="1">
                <a:highlight>
                  <a:srgbClr val="FFFF00"/>
                </a:highlight>
                <a:latin typeface="SimSun"/>
                <a:ea typeface="+mn-lt"/>
                <a:cs typeface="+mn-lt"/>
              </a:rPr>
              <a:t>peration</a:t>
            </a:r>
            <a:r>
              <a:rPr lang="en-US" altLang="zh-CN">
                <a:highlight>
                  <a:srgbClr val="FFFF00"/>
                </a:highlight>
                <a:latin typeface="SimSun"/>
                <a:ea typeface="+mn-lt"/>
                <a:cs typeface="+mn-lt"/>
              </a:rPr>
              <a:t> </a:t>
            </a:r>
            <a:r>
              <a:rPr lang="en-US">
                <a:highlight>
                  <a:srgbClr val="FFFF00"/>
                </a:highlight>
                <a:latin typeface="SimSun"/>
                <a:ea typeface="+mn-lt"/>
                <a:cs typeface="+mn-lt"/>
              </a:rPr>
              <a:t>∈</a:t>
            </a:r>
            <a:r>
              <a:rPr lang="en-US" altLang="zh-CN">
                <a:highlight>
                  <a:srgbClr val="FFFF00"/>
                </a:highlight>
                <a:latin typeface="SimSun"/>
                <a:ea typeface="+mn-lt"/>
                <a:cs typeface="+mn-lt"/>
              </a:rPr>
              <a:t> [ '</a:t>
            </a:r>
            <a:r>
              <a:rPr lang="en-US" altLang="zh-CN" err="1">
                <a:highlight>
                  <a:srgbClr val="FFFF00"/>
                </a:highlight>
                <a:latin typeface="SimSun"/>
                <a:ea typeface="+mn-lt"/>
                <a:cs typeface="+mn-lt"/>
              </a:rPr>
              <a:t>mult</a:t>
            </a:r>
            <a:r>
              <a:rPr lang="en-US" altLang="zh-CN">
                <a:highlight>
                  <a:srgbClr val="FFFF00"/>
                </a:highlight>
                <a:latin typeface="SimSun"/>
                <a:ea typeface="+mn-lt"/>
                <a:cs typeface="+mn-lt"/>
              </a:rPr>
              <a:t>', 'add', '</a:t>
            </a:r>
            <a:r>
              <a:rPr lang="en-US" altLang="zh-CN" err="1">
                <a:highlight>
                  <a:srgbClr val="FFFF00"/>
                </a:highlight>
                <a:latin typeface="SimSun"/>
                <a:ea typeface="+mn-lt"/>
                <a:cs typeface="+mn-lt"/>
              </a:rPr>
              <a:t>concat</a:t>
            </a:r>
            <a:r>
              <a:rPr lang="en-US" altLang="zh-CN">
                <a:highlight>
                  <a:srgbClr val="FFFF00"/>
                </a:highlight>
                <a:latin typeface="SimSun"/>
                <a:ea typeface="+mn-lt"/>
                <a:cs typeface="+mn-lt"/>
              </a:rPr>
              <a:t>']</a:t>
            </a:r>
            <a:r>
              <a:rPr lang="en-US" altLang="zh-CN">
                <a:latin typeface="SimSun"/>
                <a:ea typeface="+mn-lt"/>
                <a:cs typeface="+mn-lt"/>
              </a:rPr>
              <a:t>, </a:t>
            </a:r>
            <a:r>
              <a:rPr lang="en-US">
                <a:latin typeface="SimSun"/>
                <a:ea typeface="+mn-lt"/>
                <a:cs typeface="+mn-lt"/>
              </a:rPr>
              <a:t>mode="sum", sparse=True</a:t>
            </a:r>
            <a:endParaRPr lang="zh-CN">
              <a:latin typeface="SimSun"/>
              <a:ea typeface="SimSun"/>
            </a:endParaRPr>
          </a:p>
        </p:txBody>
      </p:sp>
      <p:sp>
        <p:nvSpPr>
          <p:cNvPr id="11" name="矩形 10">
            <a:extLst>
              <a:ext uri="{FF2B5EF4-FFF2-40B4-BE49-F238E27FC236}">
                <a16:creationId xmlns:a16="http://schemas.microsoft.com/office/drawing/2014/main" id="{E66C60EB-B4F8-49ED-9CD0-A7C909E3B514}"/>
              </a:ext>
            </a:extLst>
          </p:cNvPr>
          <p:cNvSpPr/>
          <p:nvPr/>
        </p:nvSpPr>
        <p:spPr>
          <a:xfrm>
            <a:off x="4191415" y="2352674"/>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X_i</a:t>
            </a:r>
          </a:p>
        </p:txBody>
      </p:sp>
      <p:sp>
        <p:nvSpPr>
          <p:cNvPr id="13" name="矩形 12">
            <a:extLst>
              <a:ext uri="{FF2B5EF4-FFF2-40B4-BE49-F238E27FC236}">
                <a16:creationId xmlns:a16="http://schemas.microsoft.com/office/drawing/2014/main" id="{721C5332-E250-45C6-AF08-63CF2574DA96}"/>
              </a:ext>
            </a:extLst>
          </p:cNvPr>
          <p:cNvSpPr/>
          <p:nvPr/>
        </p:nvSpPr>
        <p:spPr>
          <a:xfrm>
            <a:off x="4191415" y="4539283"/>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Operation</a:t>
            </a:r>
            <a:endParaRPr lang="zh-CN"/>
          </a:p>
        </p:txBody>
      </p:sp>
      <p:cxnSp>
        <p:nvCxnSpPr>
          <p:cNvPr id="19" name="直接箭头连接符 18">
            <a:extLst>
              <a:ext uri="{FF2B5EF4-FFF2-40B4-BE49-F238E27FC236}">
                <a16:creationId xmlns:a16="http://schemas.microsoft.com/office/drawing/2014/main" id="{9A5C4DCE-5C29-4999-B839-FE1A0B7894BF}"/>
              </a:ext>
            </a:extLst>
          </p:cNvPr>
          <p:cNvCxnSpPr>
            <a:cxnSpLocks/>
          </p:cNvCxnSpPr>
          <p:nvPr/>
        </p:nvCxnSpPr>
        <p:spPr>
          <a:xfrm>
            <a:off x="6046029" y="4958246"/>
            <a:ext cx="8833" cy="62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F6A99384-F906-4507-B40C-9ACAE930AAD1}"/>
              </a:ext>
            </a:extLst>
          </p:cNvPr>
          <p:cNvSpPr/>
          <p:nvPr/>
        </p:nvSpPr>
        <p:spPr>
          <a:xfrm>
            <a:off x="4224545" y="5643630"/>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Embedded_Output_i</a:t>
            </a:r>
          </a:p>
        </p:txBody>
      </p:sp>
      <p:sp>
        <p:nvSpPr>
          <p:cNvPr id="25" name="文本框 24">
            <a:extLst>
              <a:ext uri="{FF2B5EF4-FFF2-40B4-BE49-F238E27FC236}">
                <a16:creationId xmlns:a16="http://schemas.microsoft.com/office/drawing/2014/main" id="{0B4F9FD3-7D88-470B-9C21-C41F89C7B8D4}"/>
              </a:ext>
            </a:extLst>
          </p:cNvPr>
          <p:cNvSpPr txBox="1"/>
          <p:nvPr/>
        </p:nvSpPr>
        <p:spPr>
          <a:xfrm>
            <a:off x="4679536" y="3354317"/>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a:ea typeface="宋体"/>
                <a:cs typeface="Calibri"/>
              </a:rPr>
              <a:t>X_i = k </a:t>
            </a:r>
            <a:r>
              <a:rPr lang="zh-CN">
                <a:ea typeface="+mn-lt"/>
                <a:cs typeface="+mn-lt"/>
              </a:rPr>
              <a:t>×</a:t>
            </a:r>
            <a:r>
              <a:rPr lang="zh-CN" altLang="en-US">
                <a:ea typeface="宋体"/>
                <a:cs typeface="Calibri"/>
              </a:rPr>
              <a:t> q + r</a:t>
            </a:r>
            <a:endParaRPr lang="zh-CN"/>
          </a:p>
          <a:p>
            <a:pPr algn="ctr"/>
            <a:r>
              <a:rPr lang="zh-CN" altLang="en-US">
                <a:ea typeface="宋体"/>
                <a:cs typeface="Calibri"/>
              </a:rPr>
              <a:t>(r &lt; k)</a:t>
            </a:r>
          </a:p>
        </p:txBody>
      </p:sp>
      <p:sp>
        <p:nvSpPr>
          <p:cNvPr id="27" name="矩形 26">
            <a:extLst>
              <a:ext uri="{FF2B5EF4-FFF2-40B4-BE49-F238E27FC236}">
                <a16:creationId xmlns:a16="http://schemas.microsoft.com/office/drawing/2014/main" id="{AEA96D53-1B16-4416-B29D-ABB3C60C9553}"/>
              </a:ext>
            </a:extLst>
          </p:cNvPr>
          <p:cNvSpPr/>
          <p:nvPr/>
        </p:nvSpPr>
        <p:spPr>
          <a:xfrm>
            <a:off x="7239415" y="3346587"/>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REmbeddingBag(r)</a:t>
            </a:r>
          </a:p>
        </p:txBody>
      </p:sp>
      <p:sp>
        <p:nvSpPr>
          <p:cNvPr id="28" name="矩形 27">
            <a:extLst>
              <a:ext uri="{FF2B5EF4-FFF2-40B4-BE49-F238E27FC236}">
                <a16:creationId xmlns:a16="http://schemas.microsoft.com/office/drawing/2014/main" id="{22A426EE-1885-4B3E-A2A0-AD9078FC8827}"/>
              </a:ext>
            </a:extLst>
          </p:cNvPr>
          <p:cNvSpPr/>
          <p:nvPr/>
        </p:nvSpPr>
        <p:spPr>
          <a:xfrm>
            <a:off x="1309067" y="3357630"/>
            <a:ext cx="3655390" cy="4086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QEmbeddingBag(q)</a:t>
            </a:r>
          </a:p>
        </p:txBody>
      </p:sp>
      <p:cxnSp>
        <p:nvCxnSpPr>
          <p:cNvPr id="30" name="直接箭头连接符 29">
            <a:extLst>
              <a:ext uri="{FF2B5EF4-FFF2-40B4-BE49-F238E27FC236}">
                <a16:creationId xmlns:a16="http://schemas.microsoft.com/office/drawing/2014/main" id="{AF31B800-4B23-4FE1-A850-6A6383FC92D9}"/>
              </a:ext>
            </a:extLst>
          </p:cNvPr>
          <p:cNvCxnSpPr/>
          <p:nvPr/>
        </p:nvCxnSpPr>
        <p:spPr>
          <a:xfrm flipH="1">
            <a:off x="3969026" y="2806146"/>
            <a:ext cx="2001077" cy="494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65DC4EC-A785-4114-AFA7-8A436EBE438A}"/>
              </a:ext>
            </a:extLst>
          </p:cNvPr>
          <p:cNvCxnSpPr/>
          <p:nvPr/>
        </p:nvCxnSpPr>
        <p:spPr>
          <a:xfrm>
            <a:off x="5947328" y="2816500"/>
            <a:ext cx="2305875" cy="472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FF576A89-00B2-4486-BBEC-11559A79499F}"/>
              </a:ext>
            </a:extLst>
          </p:cNvPr>
          <p:cNvCxnSpPr>
            <a:cxnSpLocks/>
          </p:cNvCxnSpPr>
          <p:nvPr/>
        </p:nvCxnSpPr>
        <p:spPr>
          <a:xfrm>
            <a:off x="3971234" y="3811102"/>
            <a:ext cx="2051879" cy="682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93543BF2-D73D-4A7E-9CEB-CC0C39E80D08}"/>
              </a:ext>
            </a:extLst>
          </p:cNvPr>
          <p:cNvCxnSpPr>
            <a:cxnSpLocks/>
          </p:cNvCxnSpPr>
          <p:nvPr/>
        </p:nvCxnSpPr>
        <p:spPr>
          <a:xfrm flipH="1">
            <a:off x="6033466" y="3821458"/>
            <a:ext cx="2221948" cy="660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2AAAEE9-A074-449B-85DA-F1DE3766E9FE}"/>
              </a:ext>
            </a:extLst>
          </p:cNvPr>
          <p:cNvSpPr txBox="1"/>
          <p:nvPr/>
        </p:nvSpPr>
        <p:spPr>
          <a:xfrm>
            <a:off x="8708340" y="3748808"/>
            <a:ext cx="328402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latin typeface="SimSun"/>
                <a:ea typeface="SimSun"/>
              </a:rPr>
              <a:t>*num_collisions and operation are both hyperparameters.</a:t>
            </a:r>
            <a:endParaRPr lang="zh-CN" altLang="en-US"/>
          </a:p>
          <a:p>
            <a:endParaRPr lang="zh-CN" altLang="en-US" sz="1200">
              <a:latin typeface="SimSun"/>
              <a:ea typeface="SimSun"/>
              <a:cs typeface="+mn-lt"/>
            </a:endParaRPr>
          </a:p>
          <a:p>
            <a:r>
              <a:rPr lang="zh-CN" sz="1200">
                <a:latin typeface="SimSun"/>
                <a:ea typeface="SimSun"/>
                <a:cs typeface="+mn-lt"/>
              </a:rPr>
              <a:t>If Enbedding_dim input is m, then it will be expanded to [m0, m1] = [m, m].</a:t>
            </a:r>
            <a:endParaRPr lang="zh-CN"/>
          </a:p>
          <a:p>
            <a:endParaRPr lang="zh-CN" sz="1200">
              <a:latin typeface="SimSun"/>
              <a:ea typeface="SimSun"/>
              <a:cs typeface="Calibri"/>
            </a:endParaRPr>
          </a:p>
          <a:p>
            <a:r>
              <a:rPr lang="zh-CN" altLang="en-US" sz="1200">
                <a:latin typeface="SimSun"/>
                <a:ea typeface="SimSun"/>
              </a:rPr>
              <a:t>if operation is 'mult' or 'add', </a:t>
            </a:r>
            <a:endParaRPr lang="zh-CN" sz="1200">
              <a:latin typeface="SimSun"/>
              <a:ea typeface="SimSun"/>
            </a:endParaRPr>
          </a:p>
          <a:p>
            <a:r>
              <a:rPr lang="zh-CN" altLang="en-US" sz="1200">
                <a:latin typeface="SimSun"/>
                <a:ea typeface="SimSun"/>
              </a:rPr>
              <a:t>QEmbeddingBag.embeddigDim</a:t>
            </a:r>
          </a:p>
          <a:p>
            <a:r>
              <a:rPr lang="zh-CN" altLang="en-US" sz="1200">
                <a:latin typeface="SimSun"/>
                <a:ea typeface="SimSun"/>
              </a:rPr>
              <a:t>=RembeddingBag(r).embeddingDim. </a:t>
            </a:r>
            <a:endParaRPr lang="zh-CN" altLang="en-US" sz="1200">
              <a:latin typeface="SimSun"/>
              <a:ea typeface="SimSun"/>
              <a:cs typeface="Calibri"/>
            </a:endParaRPr>
          </a:p>
          <a:p>
            <a:endParaRPr lang="zh-CN" altLang="en-US" sz="1200">
              <a:latin typeface="SimSun"/>
              <a:ea typeface="SimSun"/>
            </a:endParaRPr>
          </a:p>
          <a:p>
            <a:r>
              <a:rPr lang="zh-CN" altLang="en-US" sz="1200">
                <a:latin typeface="SimSun"/>
                <a:ea typeface="SimSun"/>
              </a:rPr>
              <a:t>QEmbeddingBag.weight.size()=([c/k), m0). </a:t>
            </a:r>
          </a:p>
          <a:p>
            <a:r>
              <a:rPr lang="zh-CN" altLang="en-US" sz="1200">
                <a:latin typeface="SimSun"/>
                <a:ea typeface="SimSun"/>
              </a:rPr>
              <a:t>REmbeddingBag.weight.size()=(k, m1).</a:t>
            </a:r>
          </a:p>
          <a:p>
            <a:endParaRPr lang="zh-CN" altLang="en-US" sz="1200">
              <a:latin typeface="SimSun"/>
              <a:ea typeface="SimSun"/>
              <a:cs typeface="Calibri"/>
            </a:endParaRPr>
          </a:p>
          <a:p>
            <a:r>
              <a:rPr lang="zh-CN" sz="1200">
                <a:latin typeface="SimSun"/>
                <a:ea typeface="SimSun"/>
                <a:cs typeface="+mn-lt"/>
              </a:rPr>
              <a:t>QEmbeddingBag.</a:t>
            </a:r>
            <a:r>
              <a:rPr lang="en-US" altLang="zh-CN" sz="1200" err="1">
                <a:latin typeface="SimSun"/>
                <a:ea typeface="SimSun"/>
                <a:cs typeface="+mn-lt"/>
              </a:rPr>
              <a:t>num_embeddings</a:t>
            </a:r>
            <a:r>
              <a:rPr lang="zh-CN" sz="1200">
                <a:latin typeface="SimSun"/>
                <a:ea typeface="SimSun"/>
                <a:cs typeface="+mn-lt"/>
              </a:rPr>
              <a:t>=</a:t>
            </a:r>
            <a:r>
              <a:rPr lang="en-US" altLang="zh-CN" sz="1200">
                <a:latin typeface="SimSun"/>
                <a:ea typeface="SimSun"/>
                <a:cs typeface="+mn-lt"/>
              </a:rPr>
              <a:t>[</a:t>
            </a:r>
            <a:r>
              <a:rPr lang="zh-CN" sz="1200">
                <a:latin typeface="SimSun"/>
                <a:ea typeface="SimSun"/>
                <a:cs typeface="+mn-lt"/>
              </a:rPr>
              <a:t>c/k</a:t>
            </a:r>
            <a:r>
              <a:rPr lang="en-US" altLang="zh-CN" sz="1200">
                <a:latin typeface="SimSun"/>
                <a:ea typeface="SimSun"/>
                <a:cs typeface="+mn-lt"/>
              </a:rPr>
              <a:t>].</a:t>
            </a:r>
            <a:r>
              <a:rPr lang="zh-CN" altLang="en-US" sz="1200">
                <a:latin typeface="SimSun"/>
                <a:ea typeface="SimSun"/>
                <a:cs typeface="+mn-lt"/>
              </a:rPr>
              <a:t> </a:t>
            </a:r>
            <a:endParaRPr lang="en-US" altLang="zh-CN" sz="1200">
              <a:latin typeface="SimSun"/>
              <a:ea typeface="SimSun"/>
              <a:cs typeface="+mn-lt"/>
            </a:endParaRPr>
          </a:p>
          <a:p>
            <a:r>
              <a:rPr lang="zh-CN" sz="1200">
                <a:latin typeface="SimSun"/>
                <a:ea typeface="SimSun"/>
                <a:cs typeface="+mn-lt"/>
              </a:rPr>
              <a:t>REmbeddingBag.</a:t>
            </a:r>
            <a:r>
              <a:rPr lang="en-US" altLang="zh-CN" sz="1200" err="1">
                <a:latin typeface="SimSun"/>
                <a:ea typeface="SimSun"/>
                <a:cs typeface="+mn-lt"/>
              </a:rPr>
              <a:t>num_embedding</a:t>
            </a:r>
            <a:r>
              <a:rPr lang="zh-CN" sz="1200">
                <a:latin typeface="SimSun"/>
                <a:ea typeface="SimSun"/>
                <a:cs typeface="+mn-lt"/>
              </a:rPr>
              <a:t>=</a:t>
            </a:r>
            <a:r>
              <a:rPr lang="en-US" altLang="zh-CN" sz="1200">
                <a:latin typeface="SimSun"/>
                <a:ea typeface="SimSun"/>
                <a:cs typeface="+mn-lt"/>
              </a:rPr>
              <a:t>k</a:t>
            </a:r>
            <a:r>
              <a:rPr lang="zh-CN" sz="1200">
                <a:latin typeface="SimSun"/>
                <a:ea typeface="SimSun"/>
                <a:cs typeface="+mn-lt"/>
              </a:rPr>
              <a:t>.</a:t>
            </a:r>
            <a:endParaRPr lang="zh-CN" sz="1200">
              <a:latin typeface="SimSun"/>
              <a:ea typeface="SimSun"/>
            </a:endParaRPr>
          </a:p>
        </p:txBody>
      </p:sp>
      <p:sp>
        <p:nvSpPr>
          <p:cNvPr id="3" name="文本框 2">
            <a:extLst>
              <a:ext uri="{FF2B5EF4-FFF2-40B4-BE49-F238E27FC236}">
                <a16:creationId xmlns:a16="http://schemas.microsoft.com/office/drawing/2014/main" id="{DE0312FF-1CE9-4267-A02E-024B806B42F1}"/>
              </a:ext>
            </a:extLst>
          </p:cNvPr>
          <p:cNvSpPr txBox="1"/>
          <p:nvPr/>
        </p:nvSpPr>
        <p:spPr>
          <a:xfrm>
            <a:off x="4426226" y="2769703"/>
            <a:ext cx="3246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q</a:t>
            </a:r>
            <a:endParaRPr lang="zh-CN" altLang="en-US"/>
          </a:p>
        </p:txBody>
      </p:sp>
      <p:sp>
        <p:nvSpPr>
          <p:cNvPr id="17" name="文本框 16">
            <a:extLst>
              <a:ext uri="{FF2B5EF4-FFF2-40B4-BE49-F238E27FC236}">
                <a16:creationId xmlns:a16="http://schemas.microsoft.com/office/drawing/2014/main" id="{4640938C-3FF3-424A-9B90-B20D079FE926}"/>
              </a:ext>
            </a:extLst>
          </p:cNvPr>
          <p:cNvSpPr txBox="1"/>
          <p:nvPr/>
        </p:nvSpPr>
        <p:spPr>
          <a:xfrm>
            <a:off x="7419008" y="2824920"/>
            <a:ext cx="3246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cs typeface="Calibri"/>
              </a:rPr>
              <a:t>r</a:t>
            </a:r>
          </a:p>
        </p:txBody>
      </p:sp>
      <p:sp>
        <p:nvSpPr>
          <p:cNvPr id="5" name="文本框 4">
            <a:extLst>
              <a:ext uri="{FF2B5EF4-FFF2-40B4-BE49-F238E27FC236}">
                <a16:creationId xmlns:a16="http://schemas.microsoft.com/office/drawing/2014/main" id="{CD51BEA8-F8F8-4A59-8FE5-1ED7DCA1D32A}"/>
              </a:ext>
            </a:extLst>
          </p:cNvPr>
          <p:cNvSpPr txBox="1"/>
          <p:nvPr/>
        </p:nvSpPr>
        <p:spPr>
          <a:xfrm>
            <a:off x="8569678" y="2283177"/>
            <a:ext cx="274319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zh-CN" altLang="en-US" sz="1200">
              <a:ea typeface="宋体"/>
              <a:cs typeface="Calibri"/>
            </a:endParaRPr>
          </a:p>
        </p:txBody>
      </p:sp>
    </p:spTree>
    <p:extLst>
      <p:ext uri="{BB962C8B-B14F-4D97-AF65-F5344CB8AC3E}">
        <p14:creationId xmlns:p14="http://schemas.microsoft.com/office/powerpoint/2010/main" val="4111900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F35CB-3B0D-4A31-8181-28D37A9CA3F2}"/>
              </a:ext>
            </a:extLst>
          </p:cNvPr>
          <p:cNvSpPr>
            <a:spLocks noGrp="1"/>
          </p:cNvSpPr>
          <p:nvPr>
            <p:ph type="title"/>
          </p:nvPr>
        </p:nvSpPr>
        <p:spPr/>
        <p:txBody>
          <a:bodyPr/>
          <a:lstStyle/>
          <a:p>
            <a:r>
              <a:rPr lang="zh-CN" altLang="en-US">
                <a:ea typeface="宋体"/>
                <a:cs typeface="Calibri Light"/>
              </a:rPr>
              <a:t>QREmbeddingBag</a:t>
            </a:r>
            <a:br>
              <a:rPr lang="zh-CN" altLang="en-US">
                <a:ea typeface="宋体"/>
                <a:cs typeface="Calibri Light"/>
              </a:rPr>
            </a:br>
            <a:r>
              <a:rPr lang="zh-CN">
                <a:ea typeface="+mj-lt"/>
                <a:cs typeface="+mj-lt"/>
              </a:rPr>
              <a:t>(when num_categories&gt;qr-threshold)</a:t>
            </a:r>
          </a:p>
        </p:txBody>
      </p:sp>
      <p:sp>
        <p:nvSpPr>
          <p:cNvPr id="14" name="文本框 13">
            <a:extLst>
              <a:ext uri="{FF2B5EF4-FFF2-40B4-BE49-F238E27FC236}">
                <a16:creationId xmlns:a16="http://schemas.microsoft.com/office/drawing/2014/main" id="{877807B6-F267-4CD1-B836-653CC2B7D04E}"/>
              </a:ext>
            </a:extLst>
          </p:cNvPr>
          <p:cNvSpPr txBox="1"/>
          <p:nvPr/>
        </p:nvSpPr>
        <p:spPr>
          <a:xfrm>
            <a:off x="914400" y="1599095"/>
            <a:ext cx="112798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err="1">
                <a:latin typeface="SimSun"/>
                <a:ea typeface="+mn-lt"/>
                <a:cs typeface="+mn-lt"/>
              </a:rPr>
              <a:t>P</a:t>
            </a:r>
            <a:r>
              <a:rPr lang="en-US" altLang="en-US" b="1" err="1">
                <a:latin typeface="SimSun"/>
                <a:ea typeface="SimSun"/>
                <a:cs typeface="+mn-lt"/>
              </a:rPr>
              <a:t>arame</a:t>
            </a:r>
            <a:r>
              <a:rPr lang="zh-CN" altLang="en-US" b="1">
                <a:latin typeface="SimSun"/>
                <a:ea typeface="SimSun"/>
                <a:cs typeface="+mn-lt"/>
              </a:rPr>
              <a:t>t</a:t>
            </a:r>
            <a:r>
              <a:rPr lang="en-US" altLang="en-US" b="1" err="1">
                <a:latin typeface="SimSun"/>
                <a:ea typeface="SimSun"/>
                <a:cs typeface="+mn-lt"/>
              </a:rPr>
              <a:t>ers</a:t>
            </a:r>
            <a:r>
              <a:rPr lang="zh-CN">
                <a:latin typeface="SimSun"/>
                <a:ea typeface="SimSun"/>
                <a:cs typeface="+mn-lt"/>
              </a:rPr>
              <a:t>:</a:t>
            </a:r>
            <a:r>
              <a:rPr lang="zh-CN" altLang="en-US">
                <a:latin typeface="SimSun"/>
                <a:ea typeface="SimSun"/>
                <a:cs typeface="+mn-lt"/>
              </a:rPr>
              <a:t> n</a:t>
            </a:r>
            <a:r>
              <a:rPr lang="en-US" altLang="zh-CN" err="1">
                <a:latin typeface="SimSun"/>
                <a:ea typeface="SimSun"/>
                <a:cs typeface="+mn-lt"/>
              </a:rPr>
              <a:t>u</a:t>
            </a:r>
            <a:r>
              <a:rPr lang="en-US" altLang="en-US" err="1">
                <a:latin typeface="SimSun"/>
                <a:ea typeface="SimSun"/>
                <a:cs typeface="+mn-lt"/>
              </a:rPr>
              <a:t>m_categories</a:t>
            </a:r>
            <a:r>
              <a:rPr lang="en-US" altLang="en-US">
                <a:latin typeface="SimSun"/>
                <a:ea typeface="SimSun"/>
                <a:cs typeface="+mn-lt"/>
              </a:rPr>
              <a:t> = </a:t>
            </a:r>
            <a:r>
              <a:rPr lang="en-US" altLang="en-US" err="1">
                <a:latin typeface="SimSun"/>
                <a:ea typeface="SimSun"/>
                <a:cs typeface="+mn-lt"/>
              </a:rPr>
              <a:t>c</a:t>
            </a:r>
            <a:r>
              <a:rPr lang="en-US" err="1">
                <a:latin typeface="SimSun"/>
                <a:ea typeface="SimSun"/>
                <a:cs typeface="+mn-lt"/>
              </a:rPr>
              <a:t>∈ln</a:t>
            </a:r>
            <a:r>
              <a:rPr lang="en-US" altLang="en-US">
                <a:latin typeface="SimSun"/>
                <a:ea typeface="SimSun"/>
                <a:cs typeface="+mn-lt"/>
              </a:rPr>
              <a:t>, </a:t>
            </a:r>
            <a:r>
              <a:rPr lang="en-US" err="1">
                <a:highlight>
                  <a:srgbClr val="FFFF00"/>
                </a:highlight>
                <a:latin typeface="SimSun"/>
                <a:ea typeface="SimSun"/>
                <a:cs typeface="+mn-lt"/>
              </a:rPr>
              <a:t>embedding_dim</a:t>
            </a:r>
            <a:r>
              <a:rPr lang="en-US">
                <a:highlight>
                  <a:srgbClr val="FFFF00"/>
                </a:highlight>
                <a:latin typeface="SimSun"/>
                <a:ea typeface="+mn-lt"/>
                <a:cs typeface="+mn-lt"/>
              </a:rPr>
              <a:t>=[m0, m1] or</a:t>
            </a:r>
            <a:r>
              <a:rPr lang="en-US">
                <a:highlight>
                  <a:srgbClr val="FFFF00"/>
                </a:highlight>
                <a:latin typeface="SimSun"/>
                <a:ea typeface="SimSun"/>
                <a:cs typeface="+mn-lt"/>
              </a:rPr>
              <a:t> m</a:t>
            </a:r>
            <a:r>
              <a:rPr lang="en-US">
                <a:latin typeface="SimSun"/>
                <a:ea typeface="SimSun"/>
                <a:cs typeface="+mn-lt"/>
              </a:rPr>
              <a:t>,</a:t>
            </a:r>
            <a:r>
              <a:rPr lang="en-US" altLang="en-US">
                <a:latin typeface="SimSun"/>
                <a:ea typeface="SimSun"/>
                <a:cs typeface="+mn-lt"/>
              </a:rPr>
              <a:t>  </a:t>
            </a:r>
            <a:r>
              <a:rPr lang="zh-CN">
                <a:highlight>
                  <a:srgbClr val="FFFF00"/>
                </a:highlight>
                <a:latin typeface="SimSun"/>
                <a:ea typeface="SimSun"/>
                <a:cs typeface="+mn-lt"/>
              </a:rPr>
              <a:t>num_collisions = k</a:t>
            </a:r>
            <a:r>
              <a:rPr lang="en-US" altLang="zh-CN">
                <a:highlight>
                  <a:srgbClr val="FFFF00"/>
                </a:highlight>
                <a:latin typeface="SimSun"/>
                <a:ea typeface="+mn-lt"/>
                <a:cs typeface="+mn-lt"/>
              </a:rPr>
              <a:t>,</a:t>
            </a:r>
            <a:r>
              <a:rPr lang="zh-CN" altLang="en-US">
                <a:highlight>
                  <a:srgbClr val="FFFF00"/>
                </a:highlight>
                <a:latin typeface="SimSun"/>
                <a:ea typeface="SimSun"/>
                <a:cs typeface="+mn-lt"/>
              </a:rPr>
              <a:t> o</a:t>
            </a:r>
            <a:r>
              <a:rPr lang="en-US" altLang="zh-CN" err="1">
                <a:highlight>
                  <a:srgbClr val="FFFF00"/>
                </a:highlight>
                <a:latin typeface="SimSun"/>
                <a:ea typeface="+mn-lt"/>
                <a:cs typeface="+mn-lt"/>
              </a:rPr>
              <a:t>peration</a:t>
            </a:r>
            <a:r>
              <a:rPr lang="en-US" altLang="zh-CN">
                <a:highlight>
                  <a:srgbClr val="FFFF00"/>
                </a:highlight>
                <a:latin typeface="SimSun"/>
                <a:ea typeface="+mn-lt"/>
                <a:cs typeface="+mn-lt"/>
              </a:rPr>
              <a:t> </a:t>
            </a:r>
            <a:r>
              <a:rPr lang="en-US">
                <a:highlight>
                  <a:srgbClr val="FFFF00"/>
                </a:highlight>
                <a:latin typeface="SimSun"/>
                <a:ea typeface="+mn-lt"/>
                <a:cs typeface="+mn-lt"/>
              </a:rPr>
              <a:t>∈</a:t>
            </a:r>
            <a:r>
              <a:rPr lang="en-US" altLang="zh-CN">
                <a:highlight>
                  <a:srgbClr val="FFFF00"/>
                </a:highlight>
                <a:latin typeface="SimSun"/>
                <a:ea typeface="+mn-lt"/>
                <a:cs typeface="+mn-lt"/>
              </a:rPr>
              <a:t> [ '</a:t>
            </a:r>
            <a:r>
              <a:rPr lang="en-US" altLang="zh-CN" err="1">
                <a:highlight>
                  <a:srgbClr val="FFFF00"/>
                </a:highlight>
                <a:latin typeface="SimSun"/>
                <a:ea typeface="+mn-lt"/>
                <a:cs typeface="+mn-lt"/>
              </a:rPr>
              <a:t>mult</a:t>
            </a:r>
            <a:r>
              <a:rPr lang="en-US" altLang="zh-CN">
                <a:highlight>
                  <a:srgbClr val="FFFF00"/>
                </a:highlight>
                <a:latin typeface="SimSun"/>
                <a:ea typeface="+mn-lt"/>
                <a:cs typeface="+mn-lt"/>
              </a:rPr>
              <a:t>', 'add', '</a:t>
            </a:r>
            <a:r>
              <a:rPr lang="en-US" altLang="zh-CN" err="1">
                <a:highlight>
                  <a:srgbClr val="FFFF00"/>
                </a:highlight>
                <a:latin typeface="SimSun"/>
                <a:ea typeface="+mn-lt"/>
                <a:cs typeface="+mn-lt"/>
              </a:rPr>
              <a:t>concat</a:t>
            </a:r>
            <a:r>
              <a:rPr lang="en-US" altLang="zh-CN">
                <a:highlight>
                  <a:srgbClr val="FFFF00"/>
                </a:highlight>
                <a:latin typeface="SimSun"/>
                <a:ea typeface="+mn-lt"/>
                <a:cs typeface="+mn-lt"/>
              </a:rPr>
              <a:t>']</a:t>
            </a:r>
            <a:r>
              <a:rPr lang="en-US" altLang="zh-CN">
                <a:latin typeface="SimSun"/>
                <a:ea typeface="+mn-lt"/>
                <a:cs typeface="+mn-lt"/>
              </a:rPr>
              <a:t>, </a:t>
            </a:r>
            <a:r>
              <a:rPr lang="en-US">
                <a:latin typeface="SimSun"/>
                <a:ea typeface="+mn-lt"/>
                <a:cs typeface="+mn-lt"/>
              </a:rPr>
              <a:t>mode="sum", sparse=True</a:t>
            </a:r>
            <a:endParaRPr lang="zh-CN">
              <a:latin typeface="SimSun"/>
              <a:ea typeface="SimSun"/>
            </a:endParaRPr>
          </a:p>
        </p:txBody>
      </p:sp>
      <p:sp>
        <p:nvSpPr>
          <p:cNvPr id="25" name="文本框 24">
            <a:extLst>
              <a:ext uri="{FF2B5EF4-FFF2-40B4-BE49-F238E27FC236}">
                <a16:creationId xmlns:a16="http://schemas.microsoft.com/office/drawing/2014/main" id="{54E7DA9F-3B09-41F0-96F3-318666785EDF}"/>
              </a:ext>
            </a:extLst>
          </p:cNvPr>
          <p:cNvSpPr txBox="1"/>
          <p:nvPr/>
        </p:nvSpPr>
        <p:spPr>
          <a:xfrm>
            <a:off x="7553678" y="2077322"/>
            <a:ext cx="35334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1200">
                <a:latin typeface="SimSun"/>
                <a:ea typeface="SimSun"/>
              </a:rPr>
              <a:t>*If Enbedding_dim input is m, then it will be expanded to [m0, m1] = [m, m].​</a:t>
            </a:r>
          </a:p>
        </p:txBody>
      </p:sp>
      <p:grpSp>
        <p:nvGrpSpPr>
          <p:cNvPr id="28" name="组合 27">
            <a:extLst>
              <a:ext uri="{FF2B5EF4-FFF2-40B4-BE49-F238E27FC236}">
                <a16:creationId xmlns:a16="http://schemas.microsoft.com/office/drawing/2014/main" id="{EFF71911-0BAC-414D-9069-3E234DBB480F}"/>
              </a:ext>
            </a:extLst>
          </p:cNvPr>
          <p:cNvGrpSpPr/>
          <p:nvPr/>
        </p:nvGrpSpPr>
        <p:grpSpPr>
          <a:xfrm>
            <a:off x="-1273" y="2684267"/>
            <a:ext cx="11245696" cy="3927240"/>
            <a:chOff x="-1273" y="2684267"/>
            <a:chExt cx="11245696" cy="3927240"/>
          </a:xfrm>
        </p:grpSpPr>
        <p:sp>
          <p:nvSpPr>
            <p:cNvPr id="5" name="文本框 4">
              <a:extLst>
                <a:ext uri="{FF2B5EF4-FFF2-40B4-BE49-F238E27FC236}">
                  <a16:creationId xmlns:a16="http://schemas.microsoft.com/office/drawing/2014/main" id="{C9E19F53-51B8-4C59-910F-EDE6A6DF9988}"/>
                </a:ext>
              </a:extLst>
            </p:cNvPr>
            <p:cNvSpPr txBox="1"/>
            <p:nvPr/>
          </p:nvSpPr>
          <p:spPr>
            <a:xfrm>
              <a:off x="-1273" y="3784595"/>
              <a:ext cx="1323967" cy="468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A batch of input x: [batch_size]</a:t>
              </a:r>
            </a:p>
          </p:txBody>
        </p:sp>
        <p:grpSp>
          <p:nvGrpSpPr>
            <p:cNvPr id="21" name="组合 20">
              <a:extLst>
                <a:ext uri="{FF2B5EF4-FFF2-40B4-BE49-F238E27FC236}">
                  <a16:creationId xmlns:a16="http://schemas.microsoft.com/office/drawing/2014/main" id="{925F6064-01C6-4F58-877D-27A747D39B06}"/>
                </a:ext>
              </a:extLst>
            </p:cNvPr>
            <p:cNvGrpSpPr/>
            <p:nvPr/>
          </p:nvGrpSpPr>
          <p:grpSpPr>
            <a:xfrm>
              <a:off x="160401" y="2684267"/>
              <a:ext cx="11084022" cy="3927240"/>
              <a:chOff x="160401" y="2684267"/>
              <a:chExt cx="11084022" cy="3927240"/>
            </a:xfrm>
          </p:grpSpPr>
          <p:sp>
            <p:nvSpPr>
              <p:cNvPr id="12" name="文本框 11">
                <a:extLst>
                  <a:ext uri="{FF2B5EF4-FFF2-40B4-BE49-F238E27FC236}">
                    <a16:creationId xmlns:a16="http://schemas.microsoft.com/office/drawing/2014/main" id="{9BEB52F2-6F7D-4C42-89A6-9A5827484DA5}"/>
                  </a:ext>
                </a:extLst>
              </p:cNvPr>
              <p:cNvSpPr txBox="1"/>
              <p:nvPr/>
            </p:nvSpPr>
            <p:spPr>
              <a:xfrm>
                <a:off x="2644662" y="2684267"/>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Quotients  x/k: [batch_size]</a:t>
                </a:r>
              </a:p>
            </p:txBody>
          </p:sp>
          <p:sp>
            <p:nvSpPr>
              <p:cNvPr id="17" name="文本框 16">
                <a:extLst>
                  <a:ext uri="{FF2B5EF4-FFF2-40B4-BE49-F238E27FC236}">
                    <a16:creationId xmlns:a16="http://schemas.microsoft.com/office/drawing/2014/main" id="{9C08B408-CFB9-406B-AA81-3AE14521B2C4}"/>
                  </a:ext>
                </a:extLst>
              </p:cNvPr>
              <p:cNvSpPr txBox="1"/>
              <p:nvPr/>
            </p:nvSpPr>
            <p:spPr>
              <a:xfrm>
                <a:off x="2650137" y="6149842"/>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Remainders x%k: [Batch_size]</a:t>
                </a:r>
              </a:p>
            </p:txBody>
          </p:sp>
          <p:sp>
            <p:nvSpPr>
              <p:cNvPr id="20" name="矩形 19">
                <a:extLst>
                  <a:ext uri="{FF2B5EF4-FFF2-40B4-BE49-F238E27FC236}">
                    <a16:creationId xmlns:a16="http://schemas.microsoft.com/office/drawing/2014/main" id="{8208109C-1BC8-4688-B860-F443114B813D}"/>
                  </a:ext>
                </a:extLst>
              </p:cNvPr>
              <p:cNvSpPr/>
              <p:nvPr/>
            </p:nvSpPr>
            <p:spPr>
              <a:xfrm>
                <a:off x="3654058" y="2737145"/>
                <a:ext cx="1425224" cy="12789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ea typeface="宋体"/>
                    <a:cs typeface="Calibri"/>
                  </a:rPr>
                  <a:t>Q</a:t>
                </a:r>
                <a:endParaRPr lang="zh-CN" altLang="en-US">
                  <a:solidFill>
                    <a:schemeClr val="tx1"/>
                  </a:solidFill>
                  <a:cs typeface="Calibri" panose="020F0502020204030204"/>
                </a:endParaRPr>
              </a:p>
            </p:txBody>
          </p:sp>
          <p:sp>
            <p:nvSpPr>
              <p:cNvPr id="22" name="矩形 21">
                <a:extLst>
                  <a:ext uri="{FF2B5EF4-FFF2-40B4-BE49-F238E27FC236}">
                    <a16:creationId xmlns:a16="http://schemas.microsoft.com/office/drawing/2014/main" id="{B5FB8FC9-6DA5-4434-BEA6-A538F5A37615}"/>
                  </a:ext>
                </a:extLst>
              </p:cNvPr>
              <p:cNvSpPr/>
              <p:nvPr/>
            </p:nvSpPr>
            <p:spPr>
              <a:xfrm>
                <a:off x="3654057" y="5192478"/>
                <a:ext cx="1382889" cy="2346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ea typeface="宋体"/>
                    <a:cs typeface="Calibri"/>
                  </a:rPr>
                  <a:t>R</a:t>
                </a:r>
                <a:endParaRPr lang="zh-CN" altLang="en-US">
                  <a:solidFill>
                    <a:schemeClr val="tx1"/>
                  </a:solidFill>
                </a:endParaRPr>
              </a:p>
            </p:txBody>
          </p:sp>
          <p:sp>
            <p:nvSpPr>
              <p:cNvPr id="23" name="文本框 22">
                <a:extLst>
                  <a:ext uri="{FF2B5EF4-FFF2-40B4-BE49-F238E27FC236}">
                    <a16:creationId xmlns:a16="http://schemas.microsoft.com/office/drawing/2014/main" id="{D8E961C3-D1DC-4A96-8410-264F7CD9F8B7}"/>
                  </a:ext>
                </a:extLst>
              </p:cNvPr>
              <p:cNvSpPr txBox="1"/>
              <p:nvPr/>
            </p:nvSpPr>
            <p:spPr>
              <a:xfrm>
                <a:off x="3533775" y="4048473"/>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QEmbeddingBag x/k: [c/k, m0]</a:t>
                </a:r>
              </a:p>
            </p:txBody>
          </p:sp>
          <p:sp>
            <p:nvSpPr>
              <p:cNvPr id="24" name="文本框 23">
                <a:extLst>
                  <a:ext uri="{FF2B5EF4-FFF2-40B4-BE49-F238E27FC236}">
                    <a16:creationId xmlns:a16="http://schemas.microsoft.com/office/drawing/2014/main" id="{A644D21F-5F51-4F3F-BE71-7CE2392B1310}"/>
                  </a:ext>
                </a:extLst>
              </p:cNvPr>
              <p:cNvSpPr txBox="1"/>
              <p:nvPr/>
            </p:nvSpPr>
            <p:spPr>
              <a:xfrm>
                <a:off x="3604330" y="5501917"/>
                <a:ext cx="157197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REmbeddingBag  x%k: [c%k, m1]</a:t>
                </a:r>
              </a:p>
            </p:txBody>
          </p:sp>
          <p:sp>
            <p:nvSpPr>
              <p:cNvPr id="32" name="文本框 31">
                <a:extLst>
                  <a:ext uri="{FF2B5EF4-FFF2-40B4-BE49-F238E27FC236}">
                    <a16:creationId xmlns:a16="http://schemas.microsoft.com/office/drawing/2014/main" id="{4023FD72-9B3D-4E61-9876-EF0FD2A712BE}"/>
                  </a:ext>
                </a:extLst>
              </p:cNvPr>
              <p:cNvSpPr txBox="1"/>
              <p:nvPr/>
            </p:nvSpPr>
            <p:spPr>
              <a:xfrm>
                <a:off x="5037906" y="2986301"/>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Q_embedded: [offset_size, m0]</a:t>
                </a:r>
              </a:p>
            </p:txBody>
          </p:sp>
          <p:sp>
            <p:nvSpPr>
              <p:cNvPr id="33" name="文本框 32">
                <a:extLst>
                  <a:ext uri="{FF2B5EF4-FFF2-40B4-BE49-F238E27FC236}">
                    <a16:creationId xmlns:a16="http://schemas.microsoft.com/office/drawing/2014/main" id="{48F3BE86-47CE-4DDF-B46B-48D7C36FD57C}"/>
                  </a:ext>
                </a:extLst>
              </p:cNvPr>
              <p:cNvSpPr txBox="1"/>
              <p:nvPr/>
            </p:nvSpPr>
            <p:spPr>
              <a:xfrm>
                <a:off x="5002008" y="4858902"/>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R_Embedded: [offset_size, m1]</a:t>
                </a:r>
              </a:p>
            </p:txBody>
          </p:sp>
          <p:sp>
            <p:nvSpPr>
              <p:cNvPr id="36" name="矩形 35">
                <a:extLst>
                  <a:ext uri="{FF2B5EF4-FFF2-40B4-BE49-F238E27FC236}">
                    <a16:creationId xmlns:a16="http://schemas.microsoft.com/office/drawing/2014/main" id="{D91AFF7A-988E-4C55-81A4-47B14D971CC3}"/>
                  </a:ext>
                </a:extLst>
              </p:cNvPr>
              <p:cNvSpPr/>
              <p:nvPr/>
            </p:nvSpPr>
            <p:spPr>
              <a:xfrm>
                <a:off x="7783689" y="3916889"/>
                <a:ext cx="917222" cy="917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B8C68D8C-3A38-4243-881E-9298E05A3B25}"/>
                  </a:ext>
                </a:extLst>
              </p:cNvPr>
              <p:cNvSpPr txBox="1"/>
              <p:nvPr/>
            </p:nvSpPr>
            <p:spPr>
              <a:xfrm>
                <a:off x="7555442" y="4831641"/>
                <a:ext cx="21716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1200">
                    <a:latin typeface="SimSun"/>
                    <a:ea typeface="SimSun"/>
                  </a:rPr>
                  <a:t> </a:t>
                </a:r>
                <a:r>
                  <a:rPr lang="en-US" altLang="zh-CN" sz="1200">
                    <a:latin typeface="SimSun"/>
                    <a:ea typeface="+mn-lt"/>
                  </a:rPr>
                  <a:t>Operation ∈ </a:t>
                </a:r>
                <a:endParaRPr lang="zh-CN" altLang="en-US" sz="1200">
                  <a:latin typeface="SimSun"/>
                  <a:ea typeface="SimSun"/>
                  <a:cs typeface="Calibri"/>
                </a:endParaRPr>
              </a:p>
              <a:p>
                <a:r>
                  <a:rPr lang="en-US" altLang="zh-CN" sz="1200">
                    <a:latin typeface="SimSun"/>
                    <a:ea typeface="+mn-lt"/>
                  </a:rPr>
                  <a:t>[ 'mult', 'add', 'concat']</a:t>
                </a:r>
                <a:endParaRPr lang="zh-CN" sz="1200">
                  <a:latin typeface="SimSun"/>
                  <a:ea typeface="SimSun"/>
                  <a:cs typeface="Calibri"/>
                </a:endParaRPr>
              </a:p>
            </p:txBody>
          </p:sp>
          <p:cxnSp>
            <p:nvCxnSpPr>
              <p:cNvPr id="42" name="直接箭头连接符 41">
                <a:extLst>
                  <a:ext uri="{FF2B5EF4-FFF2-40B4-BE49-F238E27FC236}">
                    <a16:creationId xmlns:a16="http://schemas.microsoft.com/office/drawing/2014/main" id="{E151892A-9777-478A-9412-8703388CB886}"/>
                  </a:ext>
                </a:extLst>
              </p:cNvPr>
              <p:cNvCxnSpPr/>
              <p:nvPr/>
            </p:nvCxnSpPr>
            <p:spPr>
              <a:xfrm>
                <a:off x="8699147" y="4367638"/>
                <a:ext cx="2314221" cy="10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858CBB91-7EBE-4D02-B7BF-A237F413ED58}"/>
                  </a:ext>
                </a:extLst>
              </p:cNvPr>
              <p:cNvSpPr txBox="1"/>
              <p:nvPr/>
            </p:nvSpPr>
            <p:spPr>
              <a:xfrm>
                <a:off x="8698781" y="3500512"/>
                <a:ext cx="254564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200">
                    <a:latin typeface="Calibri"/>
                    <a:ea typeface="SimSun"/>
                    <a:cs typeface="Calibri"/>
                  </a:rPr>
                  <a:t>Output: </a:t>
                </a:r>
              </a:p>
              <a:p>
                <a:r>
                  <a:rPr lang="en-US" altLang="zh-CN" sz="1200">
                    <a:latin typeface="Calibri"/>
                    <a:ea typeface="SimSun"/>
                    <a:cs typeface="Calibri"/>
                  </a:rPr>
                  <a:t>If '</a:t>
                </a:r>
                <a:r>
                  <a:rPr lang="en-US" altLang="zh-CN" sz="1200" err="1">
                    <a:latin typeface="Calibri"/>
                    <a:ea typeface="SimSun"/>
                    <a:cs typeface="Calibri"/>
                  </a:rPr>
                  <a:t>mult</a:t>
                </a:r>
                <a:r>
                  <a:rPr lang="en-US" altLang="zh-CN" sz="1200">
                    <a:latin typeface="Calibri"/>
                    <a:ea typeface="SimSun"/>
                    <a:cs typeface="Calibri"/>
                  </a:rPr>
                  <a:t>' or 'add': [</a:t>
                </a:r>
                <a:r>
                  <a:rPr lang="en-US" altLang="zh-CN" sz="1200" err="1">
                    <a:latin typeface="Calibri"/>
                    <a:ea typeface="SimSun"/>
                    <a:cs typeface="Calibri"/>
                  </a:rPr>
                  <a:t>offset_size</a:t>
                </a:r>
                <a:r>
                  <a:rPr lang="en-US" altLang="zh-CN" sz="1200">
                    <a:latin typeface="Calibri"/>
                    <a:ea typeface="SimSun"/>
                    <a:cs typeface="Calibri"/>
                  </a:rPr>
                  <a:t>, m] </a:t>
                </a:r>
              </a:p>
              <a:p>
                <a:r>
                  <a:rPr lang="en-US" altLang="zh-CN" sz="1200">
                    <a:latin typeface="Calibri"/>
                    <a:ea typeface="SimSun"/>
                    <a:cs typeface="Calibri"/>
                  </a:rPr>
                  <a:t>                               for m = m0 = m1</a:t>
                </a:r>
              </a:p>
              <a:p>
                <a:r>
                  <a:rPr lang="en-US" altLang="zh-CN" sz="1200">
                    <a:latin typeface="Calibri"/>
                    <a:ea typeface="SimSun"/>
                    <a:cs typeface="Calibri"/>
                  </a:rPr>
                  <a:t>If '</a:t>
                </a:r>
                <a:r>
                  <a:rPr lang="en-US" altLang="zh-CN" sz="1200" err="1">
                    <a:latin typeface="Calibri"/>
                    <a:ea typeface="SimSun"/>
                    <a:cs typeface="Calibri"/>
                  </a:rPr>
                  <a:t>concat</a:t>
                </a:r>
                <a:r>
                  <a:rPr lang="en-US" altLang="zh-CN" sz="1200">
                    <a:latin typeface="Calibri"/>
                    <a:ea typeface="SimSun"/>
                    <a:cs typeface="Calibri"/>
                  </a:rPr>
                  <a:t>' : [</a:t>
                </a:r>
                <a:r>
                  <a:rPr lang="en-US" altLang="zh-CN" sz="1200" err="1">
                    <a:latin typeface="Calibri"/>
                    <a:ea typeface="SimSun"/>
                    <a:cs typeface="Calibri"/>
                  </a:rPr>
                  <a:t>offset_size</a:t>
                </a:r>
                <a:r>
                  <a:rPr lang="en-US" altLang="zh-CN" sz="1200">
                    <a:latin typeface="Calibri"/>
                    <a:ea typeface="SimSun"/>
                    <a:cs typeface="Calibri"/>
                  </a:rPr>
                  <a:t>, m0+m1]</a:t>
                </a:r>
              </a:p>
            </p:txBody>
          </p:sp>
          <p:sp>
            <p:nvSpPr>
              <p:cNvPr id="40" name="文本框 39">
                <a:extLst>
                  <a:ext uri="{FF2B5EF4-FFF2-40B4-BE49-F238E27FC236}">
                    <a16:creationId xmlns:a16="http://schemas.microsoft.com/office/drawing/2014/main" id="{10D34914-3669-4266-AF6D-8556FFBB0088}"/>
                  </a:ext>
                </a:extLst>
              </p:cNvPr>
              <p:cNvSpPr txBox="1"/>
              <p:nvPr/>
            </p:nvSpPr>
            <p:spPr>
              <a:xfrm>
                <a:off x="2100822" y="3781111"/>
                <a:ext cx="1323967" cy="468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Offset: [offset_size]</a:t>
                </a:r>
              </a:p>
            </p:txBody>
          </p:sp>
          <p:cxnSp>
            <p:nvCxnSpPr>
              <p:cNvPr id="4" name="连接符: 肘形 3">
                <a:extLst>
                  <a:ext uri="{FF2B5EF4-FFF2-40B4-BE49-F238E27FC236}">
                    <a16:creationId xmlns:a16="http://schemas.microsoft.com/office/drawing/2014/main" id="{380F2406-53B2-40C7-BF7C-1C5AB54174E7}"/>
                  </a:ext>
                </a:extLst>
              </p:cNvPr>
              <p:cNvCxnSpPr/>
              <p:nvPr/>
            </p:nvCxnSpPr>
            <p:spPr>
              <a:xfrm>
                <a:off x="5084064" y="3447288"/>
                <a:ext cx="2700528" cy="835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9E0C29F1-9A43-482A-89C5-E7606F7ABA4F}"/>
                  </a:ext>
                </a:extLst>
              </p:cNvPr>
              <p:cNvCxnSpPr>
                <a:cxnSpLocks/>
              </p:cNvCxnSpPr>
              <p:nvPr/>
            </p:nvCxnSpPr>
            <p:spPr>
              <a:xfrm flipV="1">
                <a:off x="5041391" y="4501896"/>
                <a:ext cx="2743200" cy="8107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连接符: 肘形 5">
                <a:extLst>
                  <a:ext uri="{FF2B5EF4-FFF2-40B4-BE49-F238E27FC236}">
                    <a16:creationId xmlns:a16="http://schemas.microsoft.com/office/drawing/2014/main" id="{C54EFA24-D64F-4C63-8B46-33E90A266132}"/>
                  </a:ext>
                </a:extLst>
              </p:cNvPr>
              <p:cNvCxnSpPr/>
              <p:nvPr/>
            </p:nvCxnSpPr>
            <p:spPr>
              <a:xfrm>
                <a:off x="2410587" y="4248530"/>
                <a:ext cx="1243584" cy="10119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F5492F63-0949-494C-AEFD-8289338ED513}"/>
                  </a:ext>
                </a:extLst>
              </p:cNvPr>
              <p:cNvCxnSpPr>
                <a:cxnSpLocks/>
              </p:cNvCxnSpPr>
              <p:nvPr/>
            </p:nvCxnSpPr>
            <p:spPr>
              <a:xfrm flipV="1">
                <a:off x="2410586" y="3529202"/>
                <a:ext cx="1243584" cy="7193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7E67DFB4-7EFC-40AC-93B0-0C0AA183CBD3}"/>
                  </a:ext>
                </a:extLst>
              </p:cNvPr>
              <p:cNvCxnSpPr/>
              <p:nvPr/>
            </p:nvCxnSpPr>
            <p:spPr>
              <a:xfrm>
                <a:off x="163830" y="4245102"/>
                <a:ext cx="2121408" cy="19385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BA2A7770-A5C3-4822-B53E-0CBBF24EF43F}"/>
                  </a:ext>
                </a:extLst>
              </p:cNvPr>
              <p:cNvCxnSpPr/>
              <p:nvPr/>
            </p:nvCxnSpPr>
            <p:spPr>
              <a:xfrm flipV="1">
                <a:off x="160401" y="3180968"/>
                <a:ext cx="2121408" cy="10607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FE72346-5276-489D-BE25-22EE7A087410}"/>
                  </a:ext>
                </a:extLst>
              </p:cNvPr>
              <p:cNvSpPr/>
              <p:nvPr/>
            </p:nvSpPr>
            <p:spPr>
              <a:xfrm>
                <a:off x="2284476" y="2982468"/>
                <a:ext cx="451104" cy="39624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/k</a:t>
                </a:r>
                <a:endParaRPr lang="zh-CN" altLang="en-US"/>
              </a:p>
            </p:txBody>
          </p:sp>
          <p:sp>
            <p:nvSpPr>
              <p:cNvPr id="50" name="矩形 49">
                <a:extLst>
                  <a:ext uri="{FF2B5EF4-FFF2-40B4-BE49-F238E27FC236}">
                    <a16:creationId xmlns:a16="http://schemas.microsoft.com/office/drawing/2014/main" id="{5FB97C4E-35D4-4C06-8E9C-763E8A9DF399}"/>
                  </a:ext>
                </a:extLst>
              </p:cNvPr>
              <p:cNvSpPr/>
              <p:nvPr/>
            </p:nvSpPr>
            <p:spPr>
              <a:xfrm>
                <a:off x="2284476" y="5957315"/>
                <a:ext cx="451104" cy="4267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%k</a:t>
                </a:r>
                <a:endParaRPr lang="zh-CN" altLang="en-US"/>
              </a:p>
            </p:txBody>
          </p:sp>
          <p:cxnSp>
            <p:nvCxnSpPr>
              <p:cNvPr id="18" name="连接符: 肘形 17">
                <a:extLst>
                  <a:ext uri="{FF2B5EF4-FFF2-40B4-BE49-F238E27FC236}">
                    <a16:creationId xmlns:a16="http://schemas.microsoft.com/office/drawing/2014/main" id="{6152FD58-EA94-4B41-B5B1-6F0AC677F354}"/>
                  </a:ext>
                </a:extLst>
              </p:cNvPr>
              <p:cNvCxnSpPr/>
              <p:nvPr/>
            </p:nvCxnSpPr>
            <p:spPr>
              <a:xfrm flipV="1">
                <a:off x="2732151" y="5350383"/>
                <a:ext cx="920496" cy="8229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61307124-7CAA-4509-96AB-FFFF166AFAE4}"/>
                  </a:ext>
                </a:extLst>
              </p:cNvPr>
              <p:cNvCxnSpPr/>
              <p:nvPr/>
            </p:nvCxnSpPr>
            <p:spPr>
              <a:xfrm>
                <a:off x="2722626" y="3176778"/>
                <a:ext cx="9204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29712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B1EE9-C30B-4358-9C5C-5C5F7B69DC81}"/>
              </a:ext>
            </a:extLst>
          </p:cNvPr>
          <p:cNvSpPr>
            <a:spLocks noGrp="1"/>
          </p:cNvSpPr>
          <p:nvPr>
            <p:ph type="title"/>
          </p:nvPr>
        </p:nvSpPr>
        <p:spPr/>
        <p:txBody>
          <a:bodyPr/>
          <a:lstStyle/>
          <a:p>
            <a:r>
              <a:rPr lang="en-US" altLang="zh-CN">
                <a:ea typeface="+mj-lt"/>
                <a:cs typeface="+mj-lt"/>
              </a:rPr>
              <a:t>Simplified </a:t>
            </a:r>
            <a:r>
              <a:rPr lang="zh-CN">
                <a:ea typeface="+mj-lt"/>
                <a:cs typeface="+mj-lt"/>
              </a:rPr>
              <a:t>QREmbeddingBag </a:t>
            </a:r>
            <a:r>
              <a:rPr lang="en-US" altLang="zh-CN" err="1">
                <a:ea typeface="+mj-lt"/>
                <a:cs typeface="+mj-lt"/>
              </a:rPr>
              <a:t>pseudoc</a:t>
            </a:r>
            <a:r>
              <a:rPr lang="zh-CN">
                <a:ea typeface="+mj-lt"/>
                <a:cs typeface="+mj-lt"/>
              </a:rPr>
              <a:t>ode</a:t>
            </a:r>
            <a:r>
              <a:rPr lang="zh-CN" altLang="en-US">
                <a:ea typeface="+mj-lt"/>
                <a:cs typeface="+mj-lt"/>
              </a:rPr>
              <a:t> </a:t>
            </a:r>
            <a:br>
              <a:rPr lang="zh-CN">
                <a:ea typeface="+mj-lt"/>
                <a:cs typeface="+mj-lt"/>
              </a:rPr>
            </a:br>
            <a:r>
              <a:rPr lang="zh-CN">
                <a:ea typeface="+mj-lt"/>
                <a:cs typeface="+mj-lt"/>
              </a:rPr>
              <a:t>(when num_categories&gt;qr-threshold)</a:t>
            </a:r>
          </a:p>
          <a:p>
            <a:endParaRPr lang="zh-CN" altLang="en-US">
              <a:ea typeface="宋体"/>
              <a:cs typeface="Calibri Light"/>
            </a:endParaRPr>
          </a:p>
        </p:txBody>
      </p:sp>
      <p:sp>
        <p:nvSpPr>
          <p:cNvPr id="3" name="内容占位符 2">
            <a:extLst>
              <a:ext uri="{FF2B5EF4-FFF2-40B4-BE49-F238E27FC236}">
                <a16:creationId xmlns:a16="http://schemas.microsoft.com/office/drawing/2014/main" id="{4281F2DC-9349-494A-A262-984CF8E35FBE}"/>
              </a:ext>
            </a:extLst>
          </p:cNvPr>
          <p:cNvSpPr>
            <a:spLocks noGrp="1"/>
          </p:cNvSpPr>
          <p:nvPr>
            <p:ph idx="1"/>
          </p:nvPr>
        </p:nvSpPr>
        <p:spPr>
          <a:xfrm>
            <a:off x="838200" y="1978025"/>
            <a:ext cx="10515600" cy="1455738"/>
          </a:xfrm>
        </p:spPr>
        <p:txBody>
          <a:bodyPr vert="horz" lIns="91440" tIns="45720" rIns="91440" bIns="45720" rtlCol="0" anchor="t">
            <a:normAutofit lnSpcReduction="10000"/>
          </a:bodyPr>
          <a:lstStyle/>
          <a:p>
            <a:r>
              <a:rPr lang="zh-CN" altLang="en-US">
                <a:ea typeface="宋体"/>
                <a:cs typeface="Calibri"/>
              </a:rPr>
              <a:t>q=c/k, r=c%k</a:t>
            </a:r>
          </a:p>
          <a:p>
            <a:r>
              <a:rPr lang="zh-CN" altLang="en-US">
                <a:ea typeface="宋体"/>
                <a:cs typeface="Calibri"/>
              </a:rPr>
              <a:t>QEmbeddingBag = nn.EmbeddingBag(q, m0)</a:t>
            </a:r>
          </a:p>
          <a:p>
            <a:r>
              <a:rPr lang="zh-CN" altLang="en-US">
                <a:ea typeface="宋体"/>
                <a:cs typeface="Calibri"/>
              </a:rPr>
              <a:t>REmbeddingBag = nn.EmbeddingBag(r, m1)</a:t>
            </a:r>
          </a:p>
        </p:txBody>
      </p:sp>
      <p:sp>
        <p:nvSpPr>
          <p:cNvPr id="5" name="文本框 4">
            <a:extLst>
              <a:ext uri="{FF2B5EF4-FFF2-40B4-BE49-F238E27FC236}">
                <a16:creationId xmlns:a16="http://schemas.microsoft.com/office/drawing/2014/main" id="{1D5D05B8-9337-4BED-9DF4-E4DEFE04D03D}"/>
              </a:ext>
            </a:extLst>
          </p:cNvPr>
          <p:cNvSpPr txBox="1"/>
          <p:nvPr/>
        </p:nvSpPr>
        <p:spPr>
          <a:xfrm>
            <a:off x="914400" y="1322004"/>
            <a:ext cx="112798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b="1">
                <a:latin typeface="SimSun"/>
                <a:ea typeface="+mn-lt"/>
                <a:cs typeface="+mn-lt"/>
              </a:rPr>
              <a:t>P</a:t>
            </a:r>
            <a:r>
              <a:rPr lang="en-US" altLang="en-US" b="1">
                <a:latin typeface="SimSun"/>
                <a:ea typeface="SimSun"/>
                <a:cs typeface="+mn-lt"/>
              </a:rPr>
              <a:t>arame</a:t>
            </a:r>
            <a:r>
              <a:rPr lang="zh-CN" altLang="en-US" b="1">
                <a:latin typeface="SimSun"/>
                <a:ea typeface="SimSun"/>
                <a:cs typeface="+mn-lt"/>
              </a:rPr>
              <a:t>t</a:t>
            </a:r>
            <a:r>
              <a:rPr lang="en-US" altLang="en-US" b="1">
                <a:latin typeface="SimSun"/>
                <a:ea typeface="SimSun"/>
                <a:cs typeface="+mn-lt"/>
              </a:rPr>
              <a:t>ers</a:t>
            </a:r>
            <a:r>
              <a:rPr lang="zh-CN">
                <a:latin typeface="SimSun"/>
                <a:ea typeface="SimSun"/>
                <a:cs typeface="+mn-lt"/>
              </a:rPr>
              <a:t>:</a:t>
            </a:r>
            <a:r>
              <a:rPr lang="zh-CN" altLang="en-US">
                <a:latin typeface="SimSun"/>
                <a:ea typeface="SimSun"/>
                <a:cs typeface="+mn-lt"/>
              </a:rPr>
              <a:t> n</a:t>
            </a:r>
            <a:r>
              <a:rPr lang="en-US" altLang="zh-CN">
                <a:latin typeface="SimSun"/>
                <a:ea typeface="SimSun"/>
                <a:cs typeface="+mn-lt"/>
              </a:rPr>
              <a:t>u</a:t>
            </a:r>
            <a:r>
              <a:rPr lang="en-US" altLang="en-US">
                <a:latin typeface="SimSun"/>
                <a:ea typeface="SimSun"/>
                <a:cs typeface="+mn-lt"/>
              </a:rPr>
              <a:t>m_categories = c</a:t>
            </a:r>
            <a:r>
              <a:rPr lang="en-US">
                <a:latin typeface="SimSun"/>
                <a:ea typeface="SimSun"/>
                <a:cs typeface="+mn-lt"/>
              </a:rPr>
              <a:t>∈ln</a:t>
            </a:r>
            <a:r>
              <a:rPr lang="en-US" altLang="en-US">
                <a:latin typeface="SimSun"/>
                <a:ea typeface="SimSun"/>
                <a:cs typeface="+mn-lt"/>
              </a:rPr>
              <a:t>, </a:t>
            </a:r>
            <a:r>
              <a:rPr lang="en-US">
                <a:highlight>
                  <a:srgbClr val="FFFF00"/>
                </a:highlight>
                <a:latin typeface="SimSun"/>
                <a:ea typeface="+mn-lt"/>
                <a:cs typeface="+mn-lt"/>
              </a:rPr>
              <a:t>embedding_dim</a:t>
            </a:r>
            <a:r>
              <a:rPr lang="en-US">
                <a:highlight>
                  <a:srgbClr val="FFFF00"/>
                </a:highlight>
                <a:latin typeface="SimSun"/>
                <a:ea typeface="SimSun"/>
                <a:cs typeface="+mn-lt"/>
              </a:rPr>
              <a:t>=[m0, m1] or m</a:t>
            </a:r>
            <a:r>
              <a:rPr lang="en-US">
                <a:latin typeface="SimSun"/>
                <a:ea typeface="SimSun"/>
                <a:cs typeface="+mn-lt"/>
              </a:rPr>
              <a:t>,</a:t>
            </a:r>
            <a:r>
              <a:rPr lang="en-US" altLang="en-US">
                <a:latin typeface="SimSun"/>
                <a:ea typeface="SimSun"/>
                <a:cs typeface="+mn-lt"/>
              </a:rPr>
              <a:t>  </a:t>
            </a:r>
            <a:r>
              <a:rPr lang="zh-CN">
                <a:highlight>
                  <a:srgbClr val="FFFF00"/>
                </a:highlight>
                <a:latin typeface="SimSun"/>
                <a:ea typeface="SimSun"/>
                <a:cs typeface="+mn-lt"/>
              </a:rPr>
              <a:t>num_collisions = k</a:t>
            </a:r>
            <a:r>
              <a:rPr lang="en-US" altLang="zh-CN">
                <a:highlight>
                  <a:srgbClr val="FFFF00"/>
                </a:highlight>
                <a:latin typeface="SimSun"/>
                <a:ea typeface="+mn-lt"/>
                <a:cs typeface="+mn-lt"/>
              </a:rPr>
              <a:t>,</a:t>
            </a:r>
            <a:r>
              <a:rPr lang="zh-CN" altLang="en-US">
                <a:highlight>
                  <a:srgbClr val="FFFF00"/>
                </a:highlight>
                <a:latin typeface="SimSun"/>
                <a:ea typeface="SimSun"/>
                <a:cs typeface="+mn-lt"/>
              </a:rPr>
              <a:t> </a:t>
            </a:r>
            <a:r>
              <a:rPr lang="en-US" altLang="zh-CN">
                <a:highlight>
                  <a:srgbClr val="FFFF00"/>
                </a:highlight>
                <a:latin typeface="SimSun"/>
                <a:ea typeface="+mn-lt"/>
                <a:cs typeface="+mn-lt"/>
              </a:rPr>
              <a:t>Operation </a:t>
            </a:r>
            <a:r>
              <a:rPr lang="en-US">
                <a:highlight>
                  <a:srgbClr val="FFFF00"/>
                </a:highlight>
                <a:latin typeface="SimSun"/>
                <a:ea typeface="+mn-lt"/>
                <a:cs typeface="+mn-lt"/>
              </a:rPr>
              <a:t>∈</a:t>
            </a:r>
            <a:r>
              <a:rPr lang="en-US" altLang="zh-CN">
                <a:highlight>
                  <a:srgbClr val="FFFF00"/>
                </a:highlight>
                <a:latin typeface="SimSun"/>
                <a:ea typeface="+mn-lt"/>
                <a:cs typeface="+mn-lt"/>
              </a:rPr>
              <a:t> [ '</a:t>
            </a:r>
            <a:r>
              <a:rPr lang="en-US" altLang="zh-CN" err="1">
                <a:highlight>
                  <a:srgbClr val="FFFF00"/>
                </a:highlight>
                <a:latin typeface="SimSun"/>
                <a:ea typeface="+mn-lt"/>
                <a:cs typeface="+mn-lt"/>
              </a:rPr>
              <a:t>mult</a:t>
            </a:r>
            <a:r>
              <a:rPr lang="en-US" altLang="zh-CN">
                <a:highlight>
                  <a:srgbClr val="FFFF00"/>
                </a:highlight>
                <a:latin typeface="SimSun"/>
                <a:ea typeface="+mn-lt"/>
                <a:cs typeface="+mn-lt"/>
              </a:rPr>
              <a:t>', 'add', '</a:t>
            </a:r>
            <a:r>
              <a:rPr lang="en-US" altLang="zh-CN" err="1">
                <a:highlight>
                  <a:srgbClr val="FFFF00"/>
                </a:highlight>
                <a:latin typeface="SimSun"/>
                <a:ea typeface="+mn-lt"/>
                <a:cs typeface="+mn-lt"/>
              </a:rPr>
              <a:t>concat</a:t>
            </a:r>
            <a:r>
              <a:rPr lang="en-US" altLang="zh-CN">
                <a:highlight>
                  <a:srgbClr val="FFFF00"/>
                </a:highlight>
                <a:latin typeface="SimSun"/>
                <a:ea typeface="+mn-lt"/>
                <a:cs typeface="+mn-lt"/>
              </a:rPr>
              <a:t>']</a:t>
            </a:r>
            <a:r>
              <a:rPr lang="en-US" altLang="zh-CN">
                <a:latin typeface="SimSun"/>
                <a:ea typeface="+mn-lt"/>
                <a:cs typeface="+mn-lt"/>
              </a:rPr>
              <a:t>, </a:t>
            </a:r>
            <a:r>
              <a:rPr lang="en-US">
                <a:latin typeface="SimSun"/>
                <a:ea typeface="+mn-lt"/>
                <a:cs typeface="+mn-lt"/>
              </a:rPr>
              <a:t>mode="sum", sparse=True</a:t>
            </a:r>
            <a:endParaRPr lang="zh-CN">
              <a:latin typeface="SimSun"/>
              <a:ea typeface="SimSun"/>
            </a:endParaRPr>
          </a:p>
        </p:txBody>
      </p:sp>
      <p:sp>
        <p:nvSpPr>
          <p:cNvPr id="7" name="文本框 6">
            <a:extLst>
              <a:ext uri="{FF2B5EF4-FFF2-40B4-BE49-F238E27FC236}">
                <a16:creationId xmlns:a16="http://schemas.microsoft.com/office/drawing/2014/main" id="{25197FAF-C928-4671-B5EE-99EAD7F6ABE9}"/>
              </a:ext>
            </a:extLst>
          </p:cNvPr>
          <p:cNvSpPr txBox="1"/>
          <p:nvPr/>
        </p:nvSpPr>
        <p:spPr>
          <a:xfrm>
            <a:off x="7290442" y="1744813"/>
            <a:ext cx="35334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1200">
                <a:latin typeface="SimSun"/>
                <a:ea typeface="SimSun"/>
              </a:rPr>
              <a:t>*If Enbedding_dim input is m, then it will be expanded to [m0, m1] = [m, m].​</a:t>
            </a:r>
          </a:p>
        </p:txBody>
      </p:sp>
      <p:sp>
        <p:nvSpPr>
          <p:cNvPr id="8" name="文本框 7">
            <a:extLst>
              <a:ext uri="{FF2B5EF4-FFF2-40B4-BE49-F238E27FC236}">
                <a16:creationId xmlns:a16="http://schemas.microsoft.com/office/drawing/2014/main" id="{1A07B36E-9804-49B4-AAA7-223FC9278417}"/>
              </a:ext>
            </a:extLst>
          </p:cNvPr>
          <p:cNvSpPr txBox="1"/>
          <p:nvPr/>
        </p:nvSpPr>
        <p:spPr>
          <a:xfrm>
            <a:off x="914400" y="3435927"/>
            <a:ext cx="112776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2400">
                <a:ea typeface="宋体"/>
                <a:cs typeface="Calibri"/>
              </a:rPr>
              <a:t>def forward(inputs, offsets):</a:t>
            </a:r>
          </a:p>
          <a:p>
            <a:r>
              <a:rPr lang="zh-CN" altLang="en-US" sz="2400">
                <a:ea typeface="宋体"/>
                <a:cs typeface="Calibri"/>
              </a:rPr>
              <a:t>      if op = 'mult':</a:t>
            </a:r>
          </a:p>
          <a:p>
            <a:r>
              <a:rPr lang="zh-CN" altLang="en-US" sz="2400">
                <a:ea typeface="宋体"/>
                <a:cs typeface="Calibri"/>
              </a:rPr>
              <a:t>              return QEmbeddingBag(inputs, offsets) * REmbeddingBag(inputs, offsets)</a:t>
            </a:r>
          </a:p>
          <a:p>
            <a:r>
              <a:rPr lang="zh-CN" altLang="en-US" sz="2400">
                <a:ea typeface="宋体"/>
                <a:cs typeface="Calibri"/>
              </a:rPr>
              <a:t>      else if op = 'add':</a:t>
            </a:r>
          </a:p>
          <a:p>
            <a:r>
              <a:rPr lang="zh-CN" sz="2400">
                <a:ea typeface="+mn-lt"/>
                <a:cs typeface="+mn-lt"/>
              </a:rPr>
              <a:t>              </a:t>
            </a:r>
            <a:r>
              <a:rPr lang="en-US" altLang="zh-CN" sz="2400">
                <a:ea typeface="+mn-lt"/>
                <a:cs typeface="+mn-lt"/>
              </a:rPr>
              <a:t>r</a:t>
            </a:r>
            <a:r>
              <a:rPr lang="zh-CN" sz="2400">
                <a:ea typeface="+mn-lt"/>
                <a:cs typeface="+mn-lt"/>
              </a:rPr>
              <a:t>eturn QEmbeddingBag(inputs, offsets)</a:t>
            </a:r>
            <a:r>
              <a:rPr lang="zh-CN" altLang="en-US" sz="2400">
                <a:ea typeface="+mn-lt"/>
                <a:cs typeface="+mn-lt"/>
              </a:rPr>
              <a:t> * </a:t>
            </a:r>
            <a:r>
              <a:rPr lang="zh-CN" sz="2400">
                <a:ea typeface="+mn-lt"/>
                <a:cs typeface="+mn-lt"/>
              </a:rPr>
              <a:t>REmbeddingBag(inputs, offsets)</a:t>
            </a:r>
          </a:p>
          <a:p>
            <a:r>
              <a:rPr lang="zh-CN" altLang="en-US" sz="2400">
                <a:ea typeface="宋体"/>
                <a:cs typeface="Calibri"/>
              </a:rPr>
              <a:t>      else if op = 'mult':</a:t>
            </a:r>
          </a:p>
          <a:p>
            <a:r>
              <a:rPr lang="zh-CN" sz="2400">
                <a:ea typeface="+mn-lt"/>
                <a:cs typeface="+mn-lt"/>
              </a:rPr>
              <a:t>              </a:t>
            </a:r>
            <a:r>
              <a:rPr lang="en-US" altLang="zh-CN" sz="2400">
                <a:ea typeface="+mn-lt"/>
                <a:cs typeface="+mn-lt"/>
              </a:rPr>
              <a:t>r</a:t>
            </a:r>
            <a:r>
              <a:rPr lang="zh-CN" sz="2400">
                <a:ea typeface="+mn-lt"/>
                <a:cs typeface="+mn-lt"/>
              </a:rPr>
              <a:t>eturn </a:t>
            </a:r>
            <a:r>
              <a:rPr lang="en-US" altLang="zh-CN" sz="2400" err="1">
                <a:ea typeface="+mn-lt"/>
                <a:cs typeface="+mn-lt"/>
              </a:rPr>
              <a:t>concat</a:t>
            </a:r>
            <a:r>
              <a:rPr lang="en-US" altLang="zh-CN" sz="2400">
                <a:ea typeface="+mn-lt"/>
                <a:cs typeface="+mn-lt"/>
              </a:rPr>
              <a:t>(</a:t>
            </a:r>
            <a:r>
              <a:rPr lang="zh-CN" sz="2400">
                <a:ea typeface="+mn-lt"/>
                <a:cs typeface="+mn-lt"/>
              </a:rPr>
              <a:t>QEmbeddingBag(inputs, offsets)</a:t>
            </a:r>
            <a:r>
              <a:rPr lang="en-US" altLang="zh-CN" sz="2400">
                <a:ea typeface="+mn-lt"/>
                <a:cs typeface="+mn-lt"/>
              </a:rPr>
              <a:t>,</a:t>
            </a:r>
            <a:r>
              <a:rPr lang="zh-CN" altLang="en-US" sz="2400">
                <a:ea typeface="+mn-lt"/>
                <a:cs typeface="+mn-lt"/>
              </a:rPr>
              <a:t> </a:t>
            </a:r>
            <a:r>
              <a:rPr lang="zh-CN" sz="2400">
                <a:ea typeface="+mn-lt"/>
                <a:cs typeface="+mn-lt"/>
              </a:rPr>
              <a:t>REmbeddingBag(inputs, offsets)</a:t>
            </a:r>
            <a:r>
              <a:rPr lang="en-US" altLang="zh-CN" sz="2400">
                <a:ea typeface="+mn-lt"/>
                <a:cs typeface="+mn-lt"/>
              </a:rPr>
              <a:t>)</a:t>
            </a:r>
            <a:endParaRPr lang="zh-CN" sz="2400">
              <a:ea typeface="+mn-lt"/>
              <a:cs typeface="+mn-lt"/>
            </a:endParaRPr>
          </a:p>
        </p:txBody>
      </p:sp>
    </p:spTree>
    <p:extLst>
      <p:ext uri="{BB962C8B-B14F-4D97-AF65-F5344CB8AC3E}">
        <p14:creationId xmlns:p14="http://schemas.microsoft.com/office/powerpoint/2010/main" val="1348271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35A19E-2EA5-4E55-BDBC-BAA65D0BE1A3}"/>
              </a:ext>
            </a:extLst>
          </p:cNvPr>
          <p:cNvSpPr>
            <a:spLocks noGrp="1"/>
          </p:cNvSpPr>
          <p:nvPr>
            <p:ph type="title"/>
          </p:nvPr>
        </p:nvSpPr>
        <p:spPr/>
        <p:txBody>
          <a:bodyPr>
            <a:normAutofit fontScale="90000"/>
          </a:bodyPr>
          <a:lstStyle/>
          <a:p>
            <a:r>
              <a:rPr lang="zh-CN" altLang="en-US">
                <a:ea typeface="宋体"/>
                <a:cs typeface="Calibri Light"/>
              </a:rPr>
              <a:t>QREmbeddingBag (18) &amp; </a:t>
            </a:r>
            <a:br>
              <a:rPr lang="zh-CN" altLang="en-US">
                <a:ea typeface="宋体"/>
                <a:cs typeface="Calibri Light"/>
              </a:rPr>
            </a:br>
            <a:r>
              <a:rPr lang="zh-CN" altLang="en-US">
                <a:highlight>
                  <a:srgbClr val="FFFF00"/>
                </a:highlight>
                <a:ea typeface="宋体"/>
                <a:cs typeface="Calibri Light"/>
              </a:rPr>
              <a:t>nn.EmbeddingBag</a:t>
            </a:r>
            <a:r>
              <a:rPr lang="zh-CN" altLang="en-US">
                <a:ea typeface="宋体"/>
                <a:cs typeface="Calibri Light"/>
              </a:rPr>
              <a:t> (8) </a:t>
            </a:r>
            <a:r>
              <a:rPr lang="zh-CN">
                <a:ea typeface="+mj-lt"/>
                <a:cs typeface="+mj-lt"/>
              </a:rPr>
              <a:t>dimensions</a:t>
            </a:r>
            <a:r>
              <a:rPr lang="zh-CN">
                <a:ea typeface="宋体"/>
                <a:cs typeface="Calibri Light"/>
              </a:rPr>
              <a:t> </a:t>
            </a:r>
            <a:br>
              <a:rPr lang="zh-CN" altLang="en-US">
                <a:ea typeface="宋体"/>
                <a:cs typeface="Calibri Light"/>
              </a:rPr>
            </a:br>
            <a:r>
              <a:rPr lang="zh-CN">
                <a:ea typeface="宋体"/>
                <a:cs typeface="Calibri Light"/>
              </a:rPr>
              <a:t>when qr-threshold=200 </a:t>
            </a:r>
            <a:r>
              <a:rPr lang="zh-CN" altLang="en-US">
                <a:ea typeface="宋体"/>
                <a:cs typeface="Calibri Light"/>
              </a:rPr>
              <a:t>(Add/Multiply)</a:t>
            </a:r>
            <a:endParaRPr lang="zh-CN" altLang="en-US"/>
          </a:p>
        </p:txBody>
      </p:sp>
      <p:sp>
        <p:nvSpPr>
          <p:cNvPr id="3" name="内容占位符 2">
            <a:extLst>
              <a:ext uri="{FF2B5EF4-FFF2-40B4-BE49-F238E27FC236}">
                <a16:creationId xmlns:a16="http://schemas.microsoft.com/office/drawing/2014/main" id="{1490AFA4-882F-4F06-82DD-BE9FD7AA8AB9}"/>
              </a:ext>
            </a:extLst>
          </p:cNvPr>
          <p:cNvSpPr>
            <a:spLocks noGrp="1"/>
          </p:cNvSpPr>
          <p:nvPr>
            <p:ph idx="1"/>
          </p:nvPr>
        </p:nvSpPr>
        <p:spPr>
          <a:xfrm>
            <a:off x="838200" y="1825625"/>
            <a:ext cx="11354904" cy="2148582"/>
          </a:xfrm>
        </p:spPr>
        <p:txBody>
          <a:bodyPr vert="horz" lIns="91440" tIns="45720" rIns="91440" bIns="45720" rtlCol="0" anchor="t">
            <a:normAutofit/>
          </a:bodyPr>
          <a:lstStyle/>
          <a:p>
            <a:r>
              <a:rPr lang="en-US" altLang="zh-CN" sz="1800" b="1">
                <a:latin typeface="SimSun"/>
                <a:ea typeface="SimSun"/>
                <a:cs typeface="Calibri"/>
              </a:rPr>
              <a:t>[</a:t>
            </a:r>
            <a:r>
              <a:rPr lang="en-US" altLang="zh-CN" sz="1800" b="1" err="1">
                <a:latin typeface="SimSun"/>
                <a:ea typeface="SimSun"/>
                <a:cs typeface="Calibri"/>
              </a:rPr>
              <a:t>num_embeddings</a:t>
            </a:r>
            <a:r>
              <a:rPr lang="en-US" altLang="zh-CN" sz="1800" b="1">
                <a:latin typeface="SimSun"/>
                <a:ea typeface="SimSun"/>
                <a:cs typeface="Calibri"/>
              </a:rPr>
              <a:t>, </a:t>
            </a:r>
            <a:r>
              <a:rPr lang="en-US" altLang="zh-CN" sz="1800" b="1" err="1">
                <a:latin typeface="SimSun"/>
                <a:ea typeface="SimSun"/>
                <a:cs typeface="Calibri"/>
              </a:rPr>
              <a:t>embedding_Dim</a:t>
            </a:r>
            <a:r>
              <a:rPr lang="en-US" altLang="zh-CN" sz="1800" b="1">
                <a:latin typeface="SimSun"/>
                <a:ea typeface="SimSun"/>
                <a:cs typeface="Calibri"/>
              </a:rPr>
              <a:t>] pairs:</a:t>
            </a:r>
            <a:endParaRPr lang="zh-CN" altLang="en-US" sz="1800" b="1">
              <a:latin typeface="SimSun"/>
              <a:ea typeface="SimSun"/>
              <a:cs typeface="+mn-lt"/>
            </a:endParaRPr>
          </a:p>
          <a:p>
            <a:r>
              <a:rPr lang="zh-CN" sz="1800">
                <a:ea typeface="+mn-lt"/>
                <a:cs typeface="+mn-lt"/>
              </a:rPr>
              <a:t>[</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365, </a:t>
            </a:r>
            <a:r>
              <a:rPr lang="en-US" altLang="zh-CN" sz="1800">
                <a:ea typeface="+mn-lt"/>
                <a:cs typeface="+mn-lt"/>
              </a:rPr>
              <a:t>128],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146, 1</a:t>
            </a:r>
            <a:r>
              <a:rPr lang="en-US" altLang="zh-CN" sz="1800">
                <a:ea typeface="+mn-lt"/>
                <a:cs typeface="+mn-lt"/>
              </a:rPr>
              <a:t>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2532807, </a:t>
            </a:r>
            <a:r>
              <a:rPr lang="en-US" altLang="zh-CN" sz="1800">
                <a:ea typeface="+mn-lt"/>
                <a:cs typeface="+mn-lt"/>
              </a:rPr>
              <a:t>1</a:t>
            </a:r>
            <a:r>
              <a:rPr lang="zh-CN" sz="1800">
                <a:ea typeface="+mn-lt"/>
                <a:cs typeface="+mn-lt"/>
              </a:rPr>
              <a:t>28],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[550652, </a:t>
            </a:r>
            <a:r>
              <a:rPr lang="en-US" altLang="zh-CN" sz="1800">
                <a:ea typeface="+mn-lt"/>
                <a:cs typeface="+mn-lt"/>
              </a:rPr>
              <a:t>1</a:t>
            </a:r>
            <a:r>
              <a:rPr lang="zh-CN" sz="1800">
                <a:ea typeface="+mn-lt"/>
                <a:cs typeface="+mn-lt"/>
              </a:rPr>
              <a:t>2</a:t>
            </a:r>
            <a:r>
              <a:rPr lang="en-US" altLang="zh-CN" sz="1800">
                <a:ea typeface="+mn-lt"/>
                <a:cs typeface="+mn-lt"/>
              </a:rPr>
              <a:t>8</a:t>
            </a:r>
            <a:r>
              <a:rPr lang="zh-CN"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[77, </a:t>
            </a:r>
            <a:r>
              <a:rPr lang="en-US" altLang="zh-CN" sz="1800">
                <a:ea typeface="+mn-lt"/>
                <a:cs typeface="+mn-lt"/>
              </a:rPr>
              <a:t>128],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highlight>
                  <a:srgbClr val="FFFF00"/>
                </a:highlight>
                <a:ea typeface="+mn-lt"/>
                <a:cs typeface="+mn-lt"/>
              </a:rPr>
              <a:t>[24,</a:t>
            </a:r>
            <a:r>
              <a:rPr lang="zh-CN" altLang="en-US" sz="1800">
                <a:highlight>
                  <a:srgbClr val="FFFF00"/>
                </a:highlight>
                <a:ea typeface="+mn-lt"/>
                <a:cs typeface="+mn-lt"/>
              </a:rPr>
              <a:t> </a:t>
            </a:r>
            <a:r>
              <a:rPr lang="en-US" altLang="zh-CN" sz="1800">
                <a:highlight>
                  <a:srgbClr val="FFFF00"/>
                </a:highlight>
                <a:ea typeface="+mn-lt"/>
                <a:cs typeface="+mn-lt"/>
              </a:rPr>
              <a:t>128</a:t>
            </a:r>
            <a:r>
              <a:rPr lang="zh-CN" sz="1800">
                <a:highlight>
                  <a:srgbClr val="FFFF00"/>
                </a:highlight>
                <a:ea typeface="+mn-lt"/>
                <a:cs typeface="+mn-lt"/>
              </a:rPr>
              <a:t>]</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3130, 1</a:t>
            </a:r>
            <a:r>
              <a:rPr lang="en-US" altLang="zh-CN" sz="1800">
                <a:ea typeface="+mn-lt"/>
                <a:cs typeface="+mn-lt"/>
              </a:rPr>
              <a:t>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159, 1</a:t>
            </a:r>
            <a:r>
              <a:rPr lang="en-US" altLang="zh-CN" sz="1800">
                <a:ea typeface="+mn-lt"/>
                <a:cs typeface="+mn-lt"/>
              </a:rPr>
              <a:t>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highlight>
                  <a:srgbClr val="FFFF00"/>
                </a:highlight>
                <a:ea typeface="+mn-lt"/>
                <a:cs typeface="+mn-lt"/>
              </a:rPr>
              <a:t>[3,</a:t>
            </a:r>
            <a:r>
              <a:rPr lang="zh-CN" altLang="en-US" sz="1800">
                <a:highlight>
                  <a:srgbClr val="FFFF00"/>
                </a:highlight>
                <a:ea typeface="+mn-lt"/>
                <a:cs typeface="+mn-lt"/>
              </a:rPr>
              <a:t> </a:t>
            </a:r>
            <a:r>
              <a:rPr lang="en-US" altLang="zh-CN" sz="1800">
                <a:highlight>
                  <a:srgbClr val="FFFF00"/>
                </a:highlight>
                <a:ea typeface="+mn-lt"/>
                <a:cs typeface="+mn-lt"/>
              </a:rPr>
              <a:t>128</a:t>
            </a:r>
            <a:r>
              <a:rPr lang="zh-CN" sz="1800">
                <a:highlight>
                  <a:srgbClr val="FFFF00"/>
                </a:highlight>
                <a:ea typeface="+mn-lt"/>
                <a:cs typeface="+mn-lt"/>
              </a:rPr>
              <a:t>]</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23287, </a:t>
            </a:r>
            <a:r>
              <a:rPr lang="en-US" altLang="zh-CN" sz="1800">
                <a:ea typeface="+mn-lt"/>
                <a:cs typeface="+mn-lt"/>
              </a:rPr>
              <a:t>1</a:t>
            </a:r>
            <a:r>
              <a:rPr lang="zh-CN" sz="1800">
                <a:ea typeface="+mn-lt"/>
                <a:cs typeface="+mn-lt"/>
              </a:rPr>
              <a:t>28],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[1421, 12</a:t>
            </a:r>
            <a:r>
              <a:rPr lang="en-US" altLang="zh-CN" sz="1800">
                <a:ea typeface="+mn-lt"/>
                <a:cs typeface="+mn-lt"/>
              </a:rPr>
              <a:t>8</a:t>
            </a:r>
            <a:r>
              <a:rPr lang="zh-CN"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[2087899, </a:t>
            </a:r>
            <a:r>
              <a:rPr lang="en-US" altLang="zh-CN" sz="1800">
                <a:ea typeface="+mn-lt"/>
                <a:cs typeface="+mn-lt"/>
              </a:rPr>
              <a:t>1</a:t>
            </a:r>
            <a:r>
              <a:rPr lang="zh-CN" sz="1800">
                <a:ea typeface="+mn-lt"/>
                <a:cs typeface="+mn-lt"/>
              </a:rPr>
              <a:t>28],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[799, </a:t>
            </a:r>
            <a:r>
              <a:rPr lang="en-US" altLang="zh-CN" sz="1800">
                <a:ea typeface="+mn-lt"/>
                <a:cs typeface="+mn-lt"/>
              </a:rPr>
              <a:t>128],</a:t>
            </a:r>
            <a:r>
              <a:rPr lang="zh-CN" altLang="en-US"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highlight>
                  <a:srgbClr val="FFFF00"/>
                </a:highlight>
                <a:ea typeface="+mn-lt"/>
                <a:cs typeface="+mn-lt"/>
              </a:rPr>
              <a:t>[27,</a:t>
            </a:r>
            <a:r>
              <a:rPr lang="zh-CN" altLang="en-US" sz="1800">
                <a:highlight>
                  <a:srgbClr val="FFFF00"/>
                </a:highlight>
                <a:ea typeface="+mn-lt"/>
                <a:cs typeface="+mn-lt"/>
              </a:rPr>
              <a:t> </a:t>
            </a:r>
            <a:r>
              <a:rPr lang="en-US" altLang="zh-CN" sz="1800">
                <a:highlight>
                  <a:srgbClr val="FFFF00"/>
                </a:highlight>
                <a:ea typeface="+mn-lt"/>
                <a:cs typeface="+mn-lt"/>
              </a:rPr>
              <a:t>128</a:t>
            </a:r>
            <a:r>
              <a:rPr lang="zh-CN" sz="1800">
                <a:highlight>
                  <a:srgbClr val="FFFF00"/>
                </a:highlight>
                <a:ea typeface="+mn-lt"/>
                <a:cs typeface="+mn-lt"/>
              </a:rPr>
              <a:t>]</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3748, </a:t>
            </a:r>
            <a:r>
              <a:rPr lang="en-US" altLang="zh-CN" sz="1800">
                <a:ea typeface="+mn-lt"/>
                <a:cs typeface="+mn-lt"/>
              </a:rPr>
              <a:t>12</a:t>
            </a:r>
            <a:r>
              <a:rPr lang="zh-CN" sz="1800">
                <a:ea typeface="+mn-lt"/>
                <a:cs typeface="+mn-lt"/>
              </a:rPr>
              <a:t>8], </a:t>
            </a:r>
            <a:r>
              <a:rPr lang="en-US" altLang="zh-CN" sz="1800">
                <a:ea typeface="+mn-lt"/>
                <a:cs typeface="+mn-lt"/>
              </a:rPr>
              <a:t>R:</a:t>
            </a:r>
            <a:r>
              <a:rPr lang="zh-CN" altLang="en-US"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[1365327, 12</a:t>
            </a:r>
            <a:r>
              <a:rPr lang="en-US" altLang="zh-CN" sz="1800">
                <a:ea typeface="+mn-lt"/>
                <a:cs typeface="+mn-lt"/>
              </a:rPr>
              <a:t>8</a:t>
            </a:r>
            <a:r>
              <a:rPr lang="zh-CN" sz="1800">
                <a:ea typeface="+mn-lt"/>
                <a:cs typeface="+mn-lt"/>
              </a:rPr>
              <a:t>], </a:t>
            </a:r>
            <a:r>
              <a:rPr lang="en-US" altLang="zh-CN" sz="1800">
                <a:ea typeface="+mn-lt"/>
                <a:cs typeface="+mn-lt"/>
              </a:rPr>
              <a:t>R</a:t>
            </a:r>
            <a:r>
              <a:rPr lang="zh-CN" sz="1800">
                <a:ea typeface="+mn-lt"/>
                <a:cs typeface="+mn-lt"/>
              </a:rPr>
              <a:t>:</a:t>
            </a:r>
            <a:r>
              <a:rPr lang="zh-CN" altLang="en-US" sz="1800">
                <a:ea typeface="+mn-lt"/>
                <a:cs typeface="+mn-lt"/>
              </a:rPr>
              <a:t> </a:t>
            </a:r>
            <a:r>
              <a:rPr lang="en-US" altLang="zh-CN" sz="1800">
                <a:ea typeface="+mn-lt"/>
                <a:cs typeface="+mn-lt"/>
              </a:rPr>
              <a:t>[4,</a:t>
            </a:r>
            <a:r>
              <a:rPr lang="zh-CN" altLang="en-US" sz="1800">
                <a:ea typeface="+mn-lt"/>
                <a:cs typeface="+mn-lt"/>
              </a:rPr>
              <a:t> </a:t>
            </a:r>
            <a:r>
              <a:rPr lang="zh-CN" sz="1800">
                <a:ea typeface="+mn-lt"/>
                <a:cs typeface="+mn-lt"/>
              </a:rPr>
              <a:t>1</a:t>
            </a:r>
            <a:r>
              <a:rPr lang="en-US" altLang="zh-CN" sz="1800">
                <a:ea typeface="+mn-lt"/>
                <a:cs typeface="+mn-lt"/>
              </a:rPr>
              <a:t>28]],</a:t>
            </a:r>
            <a:r>
              <a:rPr lang="zh-CN" altLang="en-US" sz="1800">
                <a:ea typeface="+mn-lt"/>
                <a:cs typeface="+mn-lt"/>
              </a:rPr>
              <a:t> </a:t>
            </a:r>
            <a:r>
              <a:rPr lang="en-US" altLang="zh-CN" sz="1800">
                <a:highlight>
                  <a:srgbClr val="FFFF00"/>
                </a:highlight>
                <a:ea typeface="+mn-lt"/>
                <a:cs typeface="+mn-lt"/>
              </a:rPr>
              <a:t>[10</a:t>
            </a:r>
            <a:r>
              <a:rPr lang="zh-CN" sz="1800">
                <a:highlight>
                  <a:srgbClr val="FFFF00"/>
                </a:highlight>
                <a:ea typeface="+mn-lt"/>
                <a:cs typeface="+mn-lt"/>
              </a:rPr>
              <a:t>,</a:t>
            </a:r>
            <a:r>
              <a:rPr lang="zh-CN" altLang="en-US" sz="1800">
                <a:highlight>
                  <a:srgbClr val="FFFF00"/>
                </a:highlight>
                <a:ea typeface="+mn-lt"/>
                <a:cs typeface="+mn-lt"/>
              </a:rPr>
              <a:t> </a:t>
            </a:r>
            <a:r>
              <a:rPr lang="en-US" altLang="zh-CN" sz="1800">
                <a:highlight>
                  <a:srgbClr val="FFFF00"/>
                </a:highlight>
                <a:ea typeface="+mn-lt"/>
                <a:cs typeface="+mn-lt"/>
              </a:rPr>
              <a:t>128]</a:t>
            </a:r>
            <a:r>
              <a:rPr lang="zh-CN" sz="1800">
                <a:ea typeface="+mn-lt"/>
                <a:cs typeface="+mn-lt"/>
              </a:rPr>
              <a:t>,</a:t>
            </a:r>
            <a:r>
              <a:rPr lang="zh-CN" altLang="en-US" sz="1800">
                <a:ea typeface="+mn-lt"/>
                <a:cs typeface="+mn-lt"/>
              </a:rPr>
              <a:t> </a:t>
            </a:r>
            <a:r>
              <a:rPr lang="en-US" altLang="zh-CN" sz="1800">
                <a:ea typeface="+mn-lt"/>
                <a:cs typeface="+mn-lt"/>
              </a:rPr>
              <a:t>[Q:</a:t>
            </a:r>
            <a:r>
              <a:rPr lang="zh-CN" altLang="en-US" sz="1800">
                <a:ea typeface="+mn-lt"/>
                <a:cs typeface="+mn-lt"/>
              </a:rPr>
              <a:t> </a:t>
            </a:r>
            <a:r>
              <a:rPr lang="zh-CN" sz="1800">
                <a:ea typeface="+mn-lt"/>
                <a:cs typeface="+mn-lt"/>
              </a:rPr>
              <a:t>[1413, 1</a:t>
            </a:r>
            <a:r>
              <a:rPr lang="en-US" altLang="zh-CN" sz="1800">
                <a:ea typeface="+mn-lt"/>
                <a:cs typeface="+mn-lt"/>
              </a:rPr>
              <a:t>2</a:t>
            </a:r>
            <a:r>
              <a:rPr lang="zh-CN" sz="1800">
                <a:ea typeface="+mn-lt"/>
                <a:cs typeface="+mn-lt"/>
              </a:rPr>
              <a:t>8</a:t>
            </a:r>
            <a:r>
              <a:rPr lang="en-US" altLang="zh-CN" sz="1800">
                <a:ea typeface="+mn-lt"/>
                <a:cs typeface="+mn-lt"/>
              </a:rPr>
              <a:t>],</a:t>
            </a:r>
            <a:r>
              <a:rPr lang="zh-CN" altLang="en-US" sz="1800">
                <a:ea typeface="+mn-lt"/>
                <a:cs typeface="+mn-lt"/>
              </a:rPr>
              <a:t> </a:t>
            </a:r>
            <a:r>
              <a:rPr lang="en-US" altLang="zh-CN" sz="1800">
                <a:ea typeface="+mn-lt"/>
                <a:cs typeface="+mn-lt"/>
              </a:rPr>
              <a:t>R</a:t>
            </a:r>
            <a:r>
              <a:rPr lang="zh-CN" sz="1800">
                <a:ea typeface="+mn-lt"/>
                <a:cs typeface="+mn-lt"/>
              </a:rPr>
              <a:t>:</a:t>
            </a:r>
            <a:r>
              <a:rPr lang="zh-CN" altLang="en-US" sz="1800">
                <a:ea typeface="+mn-lt"/>
                <a:cs typeface="+mn-lt"/>
              </a:rPr>
              <a:t> </a:t>
            </a:r>
            <a:r>
              <a:rPr lang="en-US" altLang="zh-CN" sz="1800">
                <a:ea typeface="+mn-lt"/>
                <a:cs typeface="+mn-lt"/>
              </a:rPr>
              <a:t>[4,</a:t>
            </a:r>
            <a:r>
              <a:rPr lang="zh-CN" altLang="en-US" sz="1800">
                <a:ea typeface="+mn-lt"/>
                <a:cs typeface="+mn-lt"/>
              </a:rPr>
              <a:t> </a:t>
            </a:r>
            <a:r>
              <a:rPr lang="zh-CN" sz="1800">
                <a:ea typeface="+mn-lt"/>
                <a:cs typeface="+mn-lt"/>
              </a:rPr>
              <a:t>1</a:t>
            </a:r>
            <a:r>
              <a:rPr lang="en-US" altLang="zh-CN" sz="1800">
                <a:ea typeface="+mn-lt"/>
                <a:cs typeface="+mn-lt"/>
              </a:rPr>
              <a:t>28]</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544, </a:t>
            </a:r>
            <a:r>
              <a:rPr lang="en-US" altLang="zh-CN" sz="1800">
                <a:ea typeface="+mn-lt"/>
                <a:cs typeface="+mn-lt"/>
              </a:rPr>
              <a:t>12</a:t>
            </a:r>
            <a:r>
              <a:rPr lang="zh-CN" sz="1800">
                <a:ea typeface="+mn-lt"/>
                <a:cs typeface="+mn-lt"/>
              </a:rPr>
              <a:t>8</a:t>
            </a:r>
            <a:r>
              <a:rPr lang="en-US" altLang="zh-CN" sz="1800">
                <a:ea typeface="+mn-lt"/>
                <a:cs typeface="+mn-lt"/>
              </a:rPr>
              <a:t>],</a:t>
            </a:r>
            <a:r>
              <a:rPr lang="zh-CN" altLang="en-US" sz="1800">
                <a:ea typeface="+mn-lt"/>
                <a:cs typeface="+mn-lt"/>
              </a:rPr>
              <a:t> </a:t>
            </a:r>
            <a:r>
              <a:rPr lang="en-US" altLang="zh-CN" sz="1800">
                <a:ea typeface="+mn-lt"/>
                <a:cs typeface="+mn-lt"/>
              </a:rPr>
              <a:t>R:</a:t>
            </a:r>
            <a:r>
              <a:rPr lang="zh-CN" sz="1800">
                <a:ea typeface="+mn-lt"/>
                <a:cs typeface="+mn-lt"/>
              </a:rPr>
              <a:t> </a:t>
            </a:r>
            <a:r>
              <a:rPr lang="en-US" altLang="zh-CN" sz="1800">
                <a:ea typeface="+mn-lt"/>
                <a:cs typeface="+mn-lt"/>
              </a:rPr>
              <a:t>[4,</a:t>
            </a:r>
            <a:r>
              <a:rPr lang="zh-CN" altLang="en-US" sz="1800">
                <a:ea typeface="+mn-lt"/>
                <a:cs typeface="+mn-lt"/>
              </a:rPr>
              <a:t> </a:t>
            </a:r>
            <a:r>
              <a:rPr lang="en-US" altLang="zh-CN" sz="1800">
                <a:ea typeface="+mn-lt"/>
                <a:cs typeface="+mn-lt"/>
              </a:rPr>
              <a:t>128</a:t>
            </a:r>
            <a:r>
              <a:rPr lang="zh-CN" sz="1800">
                <a:ea typeface="+mn-lt"/>
                <a:cs typeface="+mn-lt"/>
              </a:rPr>
              <a:t>]</a:t>
            </a:r>
            <a:r>
              <a:rPr lang="en-US" altLang="zh-CN" sz="1800">
                <a:ea typeface="+mn-lt"/>
                <a:cs typeface="+mn-lt"/>
              </a:rPr>
              <a:t>],</a:t>
            </a:r>
            <a:r>
              <a:rPr lang="zh-CN" altLang="en-US" sz="1800">
                <a:ea typeface="+mn-lt"/>
                <a:cs typeface="+mn-lt"/>
              </a:rPr>
              <a:t> </a:t>
            </a:r>
            <a:r>
              <a:rPr lang="en-US" altLang="zh-CN" sz="1800">
                <a:highlight>
                  <a:srgbClr val="FFFF00"/>
                </a:highlight>
                <a:ea typeface="+mn-lt"/>
                <a:cs typeface="+mn-lt"/>
              </a:rPr>
              <a:t>[4</a:t>
            </a:r>
            <a:r>
              <a:rPr lang="zh-CN" sz="1800">
                <a:highlight>
                  <a:srgbClr val="FFFF00"/>
                </a:highlight>
                <a:ea typeface="+mn-lt"/>
                <a:cs typeface="+mn-lt"/>
              </a:rPr>
              <a:t>,</a:t>
            </a:r>
            <a:r>
              <a:rPr lang="zh-CN" altLang="en-US" sz="1800">
                <a:highlight>
                  <a:srgbClr val="FFFF00"/>
                </a:highlight>
                <a:ea typeface="+mn-lt"/>
                <a:cs typeface="+mn-lt"/>
              </a:rPr>
              <a:t> </a:t>
            </a:r>
            <a:r>
              <a:rPr lang="en-US" altLang="zh-CN" sz="1800">
                <a:highlight>
                  <a:srgbClr val="FFFF00"/>
                </a:highlight>
                <a:ea typeface="+mn-lt"/>
                <a:cs typeface="+mn-lt"/>
              </a:rPr>
              <a:t>128</a:t>
            </a:r>
            <a:r>
              <a:rPr lang="zh-CN" sz="1800">
                <a:highlight>
                  <a:srgbClr val="FFFF00"/>
                </a:highlight>
                <a:ea typeface="+mn-lt"/>
                <a:cs typeface="+mn-lt"/>
              </a:rPr>
              <a:t>]</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a:t>
            </a:r>
            <a:r>
              <a:rPr lang="zh-CN" sz="1800">
                <a:ea typeface="+mn-lt"/>
                <a:cs typeface="+mn-lt"/>
              </a:rPr>
              <a:t>1761637, 12</a:t>
            </a:r>
            <a:r>
              <a:rPr lang="en-US" altLang="zh-CN" sz="1800">
                <a:ea typeface="+mn-lt"/>
                <a:cs typeface="+mn-lt"/>
              </a:rPr>
              <a:t>8</a:t>
            </a:r>
            <a:r>
              <a:rPr lang="zh-CN" sz="1800">
                <a:ea typeface="+mn-lt"/>
                <a:cs typeface="+mn-lt"/>
              </a:rPr>
              <a:t>], </a:t>
            </a:r>
            <a:r>
              <a:rPr lang="en-US" altLang="zh-CN" sz="1800">
                <a:ea typeface="+mn-lt"/>
                <a:cs typeface="+mn-lt"/>
              </a:rPr>
              <a:t>R</a:t>
            </a:r>
            <a:r>
              <a:rPr lang="zh-CN" sz="1800">
                <a:ea typeface="+mn-lt"/>
                <a:cs typeface="+mn-lt"/>
              </a:rPr>
              <a:t>:</a:t>
            </a:r>
            <a:r>
              <a:rPr lang="zh-CN" altLang="en-US" sz="1800">
                <a:ea typeface="+mn-lt"/>
                <a:cs typeface="+mn-lt"/>
              </a:rPr>
              <a:t> </a:t>
            </a:r>
            <a:r>
              <a:rPr lang="zh-CN" sz="1800">
                <a:ea typeface="+mn-lt"/>
                <a:cs typeface="+mn-lt"/>
              </a:rPr>
              <a:t>[4, 1</a:t>
            </a:r>
            <a:r>
              <a:rPr lang="en-US" altLang="zh-CN" sz="1800">
                <a:ea typeface="+mn-lt"/>
                <a:cs typeface="+mn-lt"/>
              </a:rPr>
              <a:t>28]</a:t>
            </a:r>
            <a:r>
              <a:rPr lang="zh-CN" sz="1800">
                <a:ea typeface="+mn-lt"/>
                <a:cs typeface="+mn-lt"/>
              </a:rPr>
              <a:t>], </a:t>
            </a:r>
            <a:r>
              <a:rPr lang="en-US" altLang="zh-CN" sz="1800">
                <a:highlight>
                  <a:srgbClr val="FFFF00"/>
                </a:highlight>
                <a:ea typeface="+mn-lt"/>
                <a:cs typeface="+mn-lt"/>
              </a:rPr>
              <a:t>[18, 128]</a:t>
            </a:r>
            <a:r>
              <a:rPr lang="en-US" altLang="zh-CN" sz="1800">
                <a:ea typeface="+mn-lt"/>
                <a:cs typeface="+mn-lt"/>
              </a:rPr>
              <a:t>,</a:t>
            </a:r>
            <a:r>
              <a:rPr lang="zh-CN" altLang="en-US" sz="1800">
                <a:ea typeface="+mn-lt"/>
                <a:cs typeface="+mn-lt"/>
              </a:rPr>
              <a:t> </a:t>
            </a:r>
            <a:r>
              <a:rPr lang="en-US" altLang="zh-CN" sz="1800">
                <a:highlight>
                  <a:srgbClr val="FFFF00"/>
                </a:highlight>
                <a:ea typeface="+mn-lt"/>
                <a:cs typeface="+mn-lt"/>
              </a:rPr>
              <a:t>[15,</a:t>
            </a:r>
            <a:r>
              <a:rPr lang="zh-CN" altLang="en-US" sz="1800">
                <a:highlight>
                  <a:srgbClr val="FFFF00"/>
                </a:highlight>
                <a:ea typeface="+mn-lt"/>
                <a:cs typeface="+mn-lt"/>
              </a:rPr>
              <a:t> </a:t>
            </a:r>
            <a:r>
              <a:rPr lang="en-US" altLang="zh-CN" sz="1800">
                <a:highlight>
                  <a:srgbClr val="FFFF00"/>
                </a:highlight>
                <a:ea typeface="+mn-lt"/>
                <a:cs typeface="+mn-lt"/>
              </a:rPr>
              <a:t>128]</a:t>
            </a:r>
            <a:r>
              <a:rPr lang="en-US" altLang="zh-CN" sz="1800">
                <a:ea typeface="+mn-lt"/>
                <a:cs typeface="+mn-lt"/>
              </a:rPr>
              <a:t>,</a:t>
            </a:r>
            <a:r>
              <a:rPr lang="zh-CN" sz="1800">
                <a:ea typeface="+mn-lt"/>
                <a:cs typeface="+mn-lt"/>
              </a:rPr>
              <a:t> </a:t>
            </a:r>
            <a:r>
              <a:rPr lang="en-US" altLang="zh-CN" sz="1800">
                <a:ea typeface="+mn-lt"/>
                <a:cs typeface="+mn-lt"/>
              </a:rPr>
              <a:t>[Q:</a:t>
            </a:r>
            <a:r>
              <a:rPr lang="zh-CN" altLang="en-US" sz="1800">
                <a:ea typeface="+mn-lt"/>
                <a:cs typeface="+mn-lt"/>
              </a:rPr>
              <a:t> </a:t>
            </a:r>
            <a:r>
              <a:rPr lang="en-US" altLang="zh-CN" sz="1800">
                <a:ea typeface="+mn-lt"/>
                <a:cs typeface="+mn-lt"/>
              </a:rPr>
              <a:t>[7</a:t>
            </a:r>
            <a:r>
              <a:rPr lang="zh-CN" sz="1800">
                <a:ea typeface="+mn-lt"/>
                <a:cs typeface="+mn-lt"/>
              </a:rPr>
              <a:t>1</a:t>
            </a:r>
            <a:r>
              <a:rPr lang="en-US" altLang="zh-CN" sz="1800">
                <a:ea typeface="+mn-lt"/>
                <a:cs typeface="+mn-lt"/>
              </a:rPr>
              <a:t>546,</a:t>
            </a:r>
            <a:r>
              <a:rPr lang="zh-CN" sz="1800">
                <a:ea typeface="+mn-lt"/>
                <a:cs typeface="+mn-lt"/>
              </a:rPr>
              <a:t> </a:t>
            </a:r>
            <a:r>
              <a:rPr lang="en-US" altLang="zh-CN" sz="1800">
                <a:ea typeface="+mn-lt"/>
                <a:cs typeface="+mn-lt"/>
              </a:rPr>
              <a:t>1</a:t>
            </a:r>
            <a:r>
              <a:rPr lang="zh-CN" sz="1800">
                <a:ea typeface="+mn-lt"/>
                <a:cs typeface="+mn-lt"/>
              </a:rPr>
              <a:t>2</a:t>
            </a:r>
            <a:r>
              <a:rPr lang="en-US" altLang="zh-CN" sz="1800">
                <a:ea typeface="+mn-lt"/>
                <a:cs typeface="+mn-lt"/>
              </a:rPr>
              <a:t>8],</a:t>
            </a:r>
            <a:r>
              <a:rPr lang="zh-CN" sz="1800">
                <a:ea typeface="+mn-lt"/>
                <a:cs typeface="+mn-lt"/>
              </a:rPr>
              <a:t> </a:t>
            </a:r>
            <a:r>
              <a:rPr lang="en-US" altLang="zh-CN" sz="1800">
                <a:ea typeface="+mn-lt"/>
                <a:cs typeface="+mn-lt"/>
              </a:rPr>
              <a:t>R</a:t>
            </a:r>
            <a:r>
              <a:rPr lang="zh-CN" sz="1800">
                <a:ea typeface="+mn-lt"/>
                <a:cs typeface="+mn-lt"/>
              </a:rPr>
              <a:t>:</a:t>
            </a:r>
            <a:r>
              <a:rPr lang="zh-CN" altLang="en-US" sz="1800">
                <a:ea typeface="+mn-lt"/>
                <a:cs typeface="+mn-lt"/>
              </a:rPr>
              <a:t> </a:t>
            </a:r>
            <a:r>
              <a:rPr lang="en-US" altLang="zh-CN" sz="1800">
                <a:ea typeface="+mn-lt"/>
                <a:cs typeface="+mn-lt"/>
              </a:rPr>
              <a:t>[4,</a:t>
            </a:r>
            <a:r>
              <a:rPr lang="zh-CN" sz="1800">
                <a:ea typeface="+mn-lt"/>
                <a:cs typeface="+mn-lt"/>
              </a:rPr>
              <a:t> 1</a:t>
            </a:r>
            <a:r>
              <a:rPr lang="en-US" altLang="zh-CN" sz="1800">
                <a:ea typeface="+mn-lt"/>
                <a:cs typeface="+mn-lt"/>
              </a:rPr>
              <a:t>28]],</a:t>
            </a:r>
            <a:r>
              <a:rPr lang="zh-CN" sz="1800">
                <a:ea typeface="+mn-lt"/>
                <a:cs typeface="+mn-lt"/>
              </a:rPr>
              <a:t> </a:t>
            </a:r>
            <a:r>
              <a:rPr lang="en-US" altLang="zh-CN" sz="1800">
                <a:highlight>
                  <a:srgbClr val="FFFF00"/>
                </a:highlight>
                <a:ea typeface="+mn-lt"/>
                <a:cs typeface="+mn-lt"/>
              </a:rPr>
              <a:t>[105,</a:t>
            </a:r>
            <a:r>
              <a:rPr lang="zh-CN" sz="1800">
                <a:highlight>
                  <a:srgbClr val="FFFF00"/>
                </a:highlight>
                <a:ea typeface="+mn-lt"/>
                <a:cs typeface="+mn-lt"/>
              </a:rPr>
              <a:t> </a:t>
            </a:r>
            <a:r>
              <a:rPr lang="en-US" altLang="zh-CN" sz="1800">
                <a:highlight>
                  <a:srgbClr val="FFFF00"/>
                </a:highlight>
                <a:ea typeface="+mn-lt"/>
                <a:cs typeface="+mn-lt"/>
              </a:rPr>
              <a:t>128</a:t>
            </a:r>
            <a:r>
              <a:rPr lang="zh-CN" sz="1800">
                <a:highlight>
                  <a:srgbClr val="FFFF00"/>
                </a:highlight>
                <a:ea typeface="+mn-lt"/>
                <a:cs typeface="+mn-lt"/>
              </a:rPr>
              <a:t>]</a:t>
            </a:r>
            <a:r>
              <a:rPr lang="en-US" altLang="zh-CN" sz="1800">
                <a:ea typeface="+mn-lt"/>
                <a:cs typeface="+mn-lt"/>
              </a:rPr>
              <a:t>,</a:t>
            </a:r>
            <a:r>
              <a:rPr lang="zh-CN" sz="1800">
                <a:ea typeface="+mn-lt"/>
                <a:cs typeface="+mn-lt"/>
              </a:rPr>
              <a:t> </a:t>
            </a:r>
            <a:r>
              <a:rPr lang="en-US" altLang="zh-CN" sz="1800">
                <a:ea typeface="+mn-lt"/>
                <a:cs typeface="+mn-lt"/>
              </a:rPr>
              <a:t>[Q:</a:t>
            </a:r>
            <a:r>
              <a:rPr lang="zh-CN" sz="1800">
                <a:ea typeface="+mn-lt"/>
                <a:cs typeface="+mn-lt"/>
              </a:rPr>
              <a:t> </a:t>
            </a:r>
            <a:r>
              <a:rPr lang="en-US" altLang="zh-CN" sz="1800">
                <a:ea typeface="+mn-lt"/>
                <a:cs typeface="+mn-lt"/>
              </a:rPr>
              <a:t>[35643,</a:t>
            </a:r>
            <a:r>
              <a:rPr lang="zh-CN" sz="1800">
                <a:ea typeface="+mn-lt"/>
                <a:cs typeface="+mn-lt"/>
              </a:rPr>
              <a:t> </a:t>
            </a:r>
            <a:r>
              <a:rPr lang="en-US" altLang="zh-CN" sz="1800">
                <a:ea typeface="+mn-lt"/>
                <a:cs typeface="+mn-lt"/>
              </a:rPr>
              <a:t>128],</a:t>
            </a:r>
            <a:r>
              <a:rPr lang="zh-CN" sz="1800">
                <a:ea typeface="+mn-lt"/>
                <a:cs typeface="+mn-lt"/>
              </a:rPr>
              <a:t> </a:t>
            </a:r>
            <a:r>
              <a:rPr lang="en-US" altLang="zh-CN" sz="1800">
                <a:ea typeface="+mn-lt"/>
                <a:cs typeface="+mn-lt"/>
              </a:rPr>
              <a:t>R:</a:t>
            </a:r>
            <a:r>
              <a:rPr lang="zh-CN" altLang="en-US" sz="1800">
                <a:ea typeface="+mn-lt"/>
                <a:cs typeface="+mn-lt"/>
              </a:rPr>
              <a:t> </a:t>
            </a:r>
            <a:r>
              <a:rPr lang="en-US" altLang="zh-CN" sz="1800">
                <a:ea typeface="+mn-lt"/>
                <a:cs typeface="+mn-lt"/>
              </a:rPr>
              <a:t>[4,</a:t>
            </a:r>
            <a:r>
              <a:rPr lang="zh-CN" sz="1800">
                <a:ea typeface="+mn-lt"/>
                <a:cs typeface="+mn-lt"/>
              </a:rPr>
              <a:t> </a:t>
            </a:r>
            <a:r>
              <a:rPr lang="en-US" altLang="zh-CN" sz="1800">
                <a:ea typeface="+mn-lt"/>
                <a:cs typeface="+mn-lt"/>
              </a:rPr>
              <a:t>128]]</a:t>
            </a:r>
            <a:endParaRPr lang="zh-CN" sz="1800">
              <a:ea typeface="+mn-lt"/>
              <a:cs typeface="+mn-lt"/>
            </a:endParaRPr>
          </a:p>
          <a:p>
            <a:endParaRPr lang="zh-CN" sz="1800">
              <a:latin typeface="Times New Roman"/>
              <a:ea typeface="宋体"/>
              <a:cs typeface="Calibri"/>
            </a:endParaRPr>
          </a:p>
          <a:p>
            <a:endParaRPr lang="zh-CN" sz="1800">
              <a:latin typeface="Times New Roman"/>
              <a:ea typeface="宋体"/>
              <a:cs typeface="Calibri"/>
            </a:endParaRPr>
          </a:p>
          <a:p>
            <a:endParaRPr lang="zh-CN" sz="1800">
              <a:latin typeface="Times New Roman"/>
              <a:ea typeface="宋体"/>
              <a:cs typeface="Calibri"/>
            </a:endParaRPr>
          </a:p>
          <a:p>
            <a:endParaRPr lang="zh-CN" altLang="en-US" sz="1800">
              <a:latin typeface="Times New Roman"/>
              <a:ea typeface="宋体"/>
              <a:cs typeface="Calibri"/>
            </a:endParaRPr>
          </a:p>
          <a:p>
            <a:endParaRPr lang="zh-CN" altLang="en-US" sz="1800">
              <a:latin typeface="Times New Roman"/>
              <a:ea typeface="宋体"/>
              <a:cs typeface="Calibri"/>
            </a:endParaRPr>
          </a:p>
        </p:txBody>
      </p:sp>
      <p:sp>
        <p:nvSpPr>
          <p:cNvPr id="6" name="矩形 5">
            <a:extLst>
              <a:ext uri="{FF2B5EF4-FFF2-40B4-BE49-F238E27FC236}">
                <a16:creationId xmlns:a16="http://schemas.microsoft.com/office/drawing/2014/main" id="{0C78DC98-39BC-4100-B30B-7C71F0836534}"/>
              </a:ext>
            </a:extLst>
          </p:cNvPr>
          <p:cNvSpPr/>
          <p:nvPr/>
        </p:nvSpPr>
        <p:spPr>
          <a:xfrm>
            <a:off x="5495432" y="4510527"/>
            <a:ext cx="1425224" cy="12789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ea typeface="宋体"/>
                <a:cs typeface="Calibri"/>
              </a:rPr>
              <a:t>Q</a:t>
            </a:r>
          </a:p>
        </p:txBody>
      </p:sp>
      <p:sp>
        <p:nvSpPr>
          <p:cNvPr id="8" name="矩形 7">
            <a:extLst>
              <a:ext uri="{FF2B5EF4-FFF2-40B4-BE49-F238E27FC236}">
                <a16:creationId xmlns:a16="http://schemas.microsoft.com/office/drawing/2014/main" id="{A0530AE9-37FD-44EA-A796-C045DA2C108E}"/>
              </a:ext>
            </a:extLst>
          </p:cNvPr>
          <p:cNvSpPr/>
          <p:nvPr/>
        </p:nvSpPr>
        <p:spPr>
          <a:xfrm>
            <a:off x="7736608" y="5134498"/>
            <a:ext cx="1382889" cy="2346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ea typeface="宋体"/>
                <a:cs typeface="Calibri"/>
              </a:rPr>
              <a:t>R</a:t>
            </a:r>
          </a:p>
        </p:txBody>
      </p:sp>
      <p:sp>
        <p:nvSpPr>
          <p:cNvPr id="10" name="文本框 9">
            <a:extLst>
              <a:ext uri="{FF2B5EF4-FFF2-40B4-BE49-F238E27FC236}">
                <a16:creationId xmlns:a16="http://schemas.microsoft.com/office/drawing/2014/main" id="{E9B4C106-EC24-4656-8666-73385DDD50E1}"/>
              </a:ext>
            </a:extLst>
          </p:cNvPr>
          <p:cNvSpPr txBox="1"/>
          <p:nvPr/>
        </p:nvSpPr>
        <p:spPr>
          <a:xfrm>
            <a:off x="5375149" y="5821855"/>
            <a:ext cx="15014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QEmbeddingBag: [c/k, m0]</a:t>
            </a:r>
          </a:p>
        </p:txBody>
      </p:sp>
      <p:sp>
        <p:nvSpPr>
          <p:cNvPr id="12" name="文本框 11">
            <a:extLst>
              <a:ext uri="{FF2B5EF4-FFF2-40B4-BE49-F238E27FC236}">
                <a16:creationId xmlns:a16="http://schemas.microsoft.com/office/drawing/2014/main" id="{C7D7502B-5C24-43D4-B2E4-0D158913A344}"/>
              </a:ext>
            </a:extLst>
          </p:cNvPr>
          <p:cNvSpPr txBox="1"/>
          <p:nvPr/>
        </p:nvSpPr>
        <p:spPr>
          <a:xfrm>
            <a:off x="7686881" y="5443937"/>
            <a:ext cx="157197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REmbeddingBag  x%k: [c%k, m1]</a:t>
            </a:r>
          </a:p>
        </p:txBody>
      </p:sp>
      <p:sp>
        <p:nvSpPr>
          <p:cNvPr id="13" name="文本框 12">
            <a:extLst>
              <a:ext uri="{FF2B5EF4-FFF2-40B4-BE49-F238E27FC236}">
                <a16:creationId xmlns:a16="http://schemas.microsoft.com/office/drawing/2014/main" id="{9B62F113-70D4-4946-A874-EEBDDB6AFF04}"/>
              </a:ext>
            </a:extLst>
          </p:cNvPr>
          <p:cNvSpPr txBox="1"/>
          <p:nvPr/>
        </p:nvSpPr>
        <p:spPr>
          <a:xfrm>
            <a:off x="9428077" y="5069832"/>
            <a:ext cx="463604"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15" name="矩形 14">
            <a:extLst>
              <a:ext uri="{FF2B5EF4-FFF2-40B4-BE49-F238E27FC236}">
                <a16:creationId xmlns:a16="http://schemas.microsoft.com/office/drawing/2014/main" id="{C4307F30-18CA-4E8B-8CA6-3E577647CD0A}"/>
              </a:ext>
            </a:extLst>
          </p:cNvPr>
          <p:cNvSpPr/>
          <p:nvPr/>
        </p:nvSpPr>
        <p:spPr>
          <a:xfrm>
            <a:off x="10012281" y="4279729"/>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750DEF6-B5B2-4826-A7C9-DE9570F6692F}"/>
              </a:ext>
            </a:extLst>
          </p:cNvPr>
          <p:cNvSpPr txBox="1"/>
          <p:nvPr/>
        </p:nvSpPr>
        <p:spPr>
          <a:xfrm>
            <a:off x="9889550" y="6282249"/>
            <a:ext cx="207465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nn.EmbeddingBag: [n, m]</a:t>
            </a:r>
          </a:p>
        </p:txBody>
      </p:sp>
      <p:sp>
        <p:nvSpPr>
          <p:cNvPr id="23" name="文本框 22">
            <a:extLst>
              <a:ext uri="{FF2B5EF4-FFF2-40B4-BE49-F238E27FC236}">
                <a16:creationId xmlns:a16="http://schemas.microsoft.com/office/drawing/2014/main" id="{6BB4D5D2-C503-49C7-A83C-946B15EAB28A}"/>
              </a:ext>
            </a:extLst>
          </p:cNvPr>
          <p:cNvSpPr txBox="1"/>
          <p:nvPr/>
        </p:nvSpPr>
        <p:spPr>
          <a:xfrm>
            <a:off x="1260763" y="5721927"/>
            <a:ext cx="221672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 All data are acquired through actually running the model</a:t>
            </a:r>
            <a:endParaRPr lang="zh-CN" altLang="en-US" sz="1200">
              <a:ea typeface="宋体"/>
              <a:cs typeface="Calibri"/>
            </a:endParaRPr>
          </a:p>
        </p:txBody>
      </p:sp>
    </p:spTree>
    <p:extLst>
      <p:ext uri="{BB962C8B-B14F-4D97-AF65-F5344CB8AC3E}">
        <p14:creationId xmlns:p14="http://schemas.microsoft.com/office/powerpoint/2010/main" val="1687496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8D44CC-8584-4C03-92F6-53B1D55AB93F}"/>
              </a:ext>
            </a:extLst>
          </p:cNvPr>
          <p:cNvSpPr>
            <a:spLocks noGrp="1"/>
          </p:cNvSpPr>
          <p:nvPr>
            <p:ph type="title"/>
          </p:nvPr>
        </p:nvSpPr>
        <p:spPr/>
        <p:txBody>
          <a:bodyPr/>
          <a:lstStyle/>
          <a:p>
            <a:r>
              <a:rPr lang="zh-CN" altLang="en-US">
                <a:ea typeface="宋体"/>
                <a:cs typeface="Calibri Light"/>
              </a:rPr>
              <a:t>Embedding Bag preparation for model parallelism</a:t>
            </a:r>
            <a:endParaRPr lang="zh-CN" altLang="en-US"/>
          </a:p>
        </p:txBody>
      </p:sp>
      <p:sp>
        <p:nvSpPr>
          <p:cNvPr id="5" name="矩形 4">
            <a:extLst>
              <a:ext uri="{FF2B5EF4-FFF2-40B4-BE49-F238E27FC236}">
                <a16:creationId xmlns:a16="http://schemas.microsoft.com/office/drawing/2014/main" id="{624DA126-7222-4413-9EE0-C110ED082188}"/>
              </a:ext>
            </a:extLst>
          </p:cNvPr>
          <p:cNvSpPr/>
          <p:nvPr/>
        </p:nvSpPr>
        <p:spPr>
          <a:xfrm>
            <a:off x="1274064" y="5589015"/>
            <a:ext cx="1326950" cy="293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Emb_D_1</a:t>
            </a:r>
          </a:p>
        </p:txBody>
      </p:sp>
      <p:sp>
        <p:nvSpPr>
          <p:cNvPr id="7" name="矩形 6">
            <a:extLst>
              <a:ext uri="{FF2B5EF4-FFF2-40B4-BE49-F238E27FC236}">
                <a16:creationId xmlns:a16="http://schemas.microsoft.com/office/drawing/2014/main" id="{746E52BA-6EFD-4535-A41A-F733F5C7A60C}"/>
              </a:ext>
            </a:extLst>
          </p:cNvPr>
          <p:cNvSpPr/>
          <p:nvPr/>
        </p:nvSpPr>
        <p:spPr>
          <a:xfrm>
            <a:off x="4333268" y="5582918"/>
            <a:ext cx="1320086" cy="293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Emb_D_3</a:t>
            </a:r>
            <a:endParaRPr lang="zh-CN" altLang="en-US"/>
          </a:p>
        </p:txBody>
      </p:sp>
      <p:sp>
        <p:nvSpPr>
          <p:cNvPr id="9" name="矩形 8">
            <a:extLst>
              <a:ext uri="{FF2B5EF4-FFF2-40B4-BE49-F238E27FC236}">
                <a16:creationId xmlns:a16="http://schemas.microsoft.com/office/drawing/2014/main" id="{05DBDA58-4512-4AE4-8190-72A34F836D01}"/>
              </a:ext>
            </a:extLst>
          </p:cNvPr>
          <p:cNvSpPr/>
          <p:nvPr/>
        </p:nvSpPr>
        <p:spPr>
          <a:xfrm>
            <a:off x="2815913" y="5589014"/>
            <a:ext cx="1326950" cy="293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Emb_D_2</a:t>
            </a:r>
            <a:endParaRPr lang="zh-CN" altLang="en-US"/>
          </a:p>
        </p:txBody>
      </p:sp>
      <p:sp>
        <p:nvSpPr>
          <p:cNvPr id="11" name="矩形 10">
            <a:extLst>
              <a:ext uri="{FF2B5EF4-FFF2-40B4-BE49-F238E27FC236}">
                <a16:creationId xmlns:a16="http://schemas.microsoft.com/office/drawing/2014/main" id="{F9544C86-DC01-4D9B-B3BD-48AC654B8E20}"/>
              </a:ext>
            </a:extLst>
          </p:cNvPr>
          <p:cNvSpPr/>
          <p:nvPr/>
        </p:nvSpPr>
        <p:spPr>
          <a:xfrm>
            <a:off x="5862046" y="5589014"/>
            <a:ext cx="1326950" cy="293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Emb_D_4</a:t>
            </a:r>
            <a:endParaRPr lang="zh-CN" altLang="en-US"/>
          </a:p>
        </p:txBody>
      </p:sp>
      <p:cxnSp>
        <p:nvCxnSpPr>
          <p:cNvPr id="13" name="直接箭头连接符 12">
            <a:extLst>
              <a:ext uri="{FF2B5EF4-FFF2-40B4-BE49-F238E27FC236}">
                <a16:creationId xmlns:a16="http://schemas.microsoft.com/office/drawing/2014/main" id="{04CBDE0B-FE40-41F8-B0CE-E3F6B8848E28}"/>
              </a:ext>
            </a:extLst>
          </p:cNvPr>
          <p:cNvCxnSpPr/>
          <p:nvPr/>
        </p:nvCxnSpPr>
        <p:spPr>
          <a:xfrm>
            <a:off x="1703945" y="2071217"/>
            <a:ext cx="259552" cy="3509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8141F7B-C2C4-4CED-AB80-BFFB5A210155}"/>
              </a:ext>
            </a:extLst>
          </p:cNvPr>
          <p:cNvCxnSpPr>
            <a:cxnSpLocks/>
          </p:cNvCxnSpPr>
          <p:nvPr/>
        </p:nvCxnSpPr>
        <p:spPr>
          <a:xfrm>
            <a:off x="2805010" y="2075394"/>
            <a:ext cx="692337" cy="3502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1ADB9BF-EF14-4929-8EC2-214D37A0C202}"/>
              </a:ext>
            </a:extLst>
          </p:cNvPr>
          <p:cNvCxnSpPr>
            <a:cxnSpLocks/>
          </p:cNvCxnSpPr>
          <p:nvPr/>
        </p:nvCxnSpPr>
        <p:spPr>
          <a:xfrm>
            <a:off x="4069638" y="2089123"/>
            <a:ext cx="966034" cy="3494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4A2EFBD-6F5D-4B59-8CE2-E3C3253B9992}"/>
              </a:ext>
            </a:extLst>
          </p:cNvPr>
          <p:cNvCxnSpPr>
            <a:cxnSpLocks/>
          </p:cNvCxnSpPr>
          <p:nvPr/>
        </p:nvCxnSpPr>
        <p:spPr>
          <a:xfrm>
            <a:off x="5301432" y="2089123"/>
            <a:ext cx="1255853" cy="3518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AEB890B9-0ABC-4671-99FC-2D5A8E870849}"/>
              </a:ext>
            </a:extLst>
          </p:cNvPr>
          <p:cNvCxnSpPr>
            <a:cxnSpLocks/>
          </p:cNvCxnSpPr>
          <p:nvPr/>
        </p:nvCxnSpPr>
        <p:spPr>
          <a:xfrm>
            <a:off x="7257919" y="2091809"/>
            <a:ext cx="1923534" cy="3490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2E76E540-A553-4660-85C0-D29F0C60CC6E}"/>
              </a:ext>
            </a:extLst>
          </p:cNvPr>
          <p:cNvSpPr/>
          <p:nvPr/>
        </p:nvSpPr>
        <p:spPr>
          <a:xfrm>
            <a:off x="1280213" y="1766958"/>
            <a:ext cx="901328"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Emb_1</a:t>
            </a:r>
          </a:p>
        </p:txBody>
      </p:sp>
      <p:sp>
        <p:nvSpPr>
          <p:cNvPr id="27" name="矩形 26">
            <a:extLst>
              <a:ext uri="{FF2B5EF4-FFF2-40B4-BE49-F238E27FC236}">
                <a16:creationId xmlns:a16="http://schemas.microsoft.com/office/drawing/2014/main" id="{14FDA209-DE62-47C2-980F-F0D2A3DE1E58}"/>
              </a:ext>
            </a:extLst>
          </p:cNvPr>
          <p:cNvSpPr/>
          <p:nvPr/>
        </p:nvSpPr>
        <p:spPr>
          <a:xfrm>
            <a:off x="3591145" y="1767725"/>
            <a:ext cx="983707"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Emb_3</a:t>
            </a:r>
            <a:endParaRPr lang="zh-CN" altLang="en-US"/>
          </a:p>
        </p:txBody>
      </p:sp>
      <p:sp>
        <p:nvSpPr>
          <p:cNvPr id="29" name="矩形 28">
            <a:extLst>
              <a:ext uri="{FF2B5EF4-FFF2-40B4-BE49-F238E27FC236}">
                <a16:creationId xmlns:a16="http://schemas.microsoft.com/office/drawing/2014/main" id="{FF1C41A1-E061-4639-A89B-6E8B3543469D}"/>
              </a:ext>
            </a:extLst>
          </p:cNvPr>
          <p:cNvSpPr/>
          <p:nvPr/>
        </p:nvSpPr>
        <p:spPr>
          <a:xfrm>
            <a:off x="2375845" y="1773821"/>
            <a:ext cx="983707"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Emb_2</a:t>
            </a:r>
            <a:endParaRPr lang="zh-CN" altLang="en-US"/>
          </a:p>
        </p:txBody>
      </p:sp>
      <p:sp>
        <p:nvSpPr>
          <p:cNvPr id="31" name="矩形 30">
            <a:extLst>
              <a:ext uri="{FF2B5EF4-FFF2-40B4-BE49-F238E27FC236}">
                <a16:creationId xmlns:a16="http://schemas.microsoft.com/office/drawing/2014/main" id="{1331960F-1FF6-4FF2-9274-B0AC183DC394}"/>
              </a:ext>
            </a:extLst>
          </p:cNvPr>
          <p:cNvSpPr/>
          <p:nvPr/>
        </p:nvSpPr>
        <p:spPr>
          <a:xfrm>
            <a:off x="4817869" y="1760091"/>
            <a:ext cx="983707"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Emb_4</a:t>
            </a:r>
            <a:endParaRPr lang="zh-CN" altLang="en-US"/>
          </a:p>
        </p:txBody>
      </p:sp>
      <p:sp>
        <p:nvSpPr>
          <p:cNvPr id="43" name="文本框 42">
            <a:extLst>
              <a:ext uri="{FF2B5EF4-FFF2-40B4-BE49-F238E27FC236}">
                <a16:creationId xmlns:a16="http://schemas.microsoft.com/office/drawing/2014/main" id="{F21D9AE9-154A-48DE-9ACD-6E41ACB744DB}"/>
              </a:ext>
            </a:extLst>
          </p:cNvPr>
          <p:cNvSpPr txBox="1"/>
          <p:nvPr/>
        </p:nvSpPr>
        <p:spPr>
          <a:xfrm>
            <a:off x="7387072" y="5551465"/>
            <a:ext cx="92401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
        <p:nvSpPr>
          <p:cNvPr id="45" name="文本框 44">
            <a:extLst>
              <a:ext uri="{FF2B5EF4-FFF2-40B4-BE49-F238E27FC236}">
                <a16:creationId xmlns:a16="http://schemas.microsoft.com/office/drawing/2014/main" id="{87A2E8DE-5EEA-479C-AD3B-A9271EE7F354}"/>
              </a:ext>
            </a:extLst>
          </p:cNvPr>
          <p:cNvSpPr txBox="1"/>
          <p:nvPr/>
        </p:nvSpPr>
        <p:spPr>
          <a:xfrm>
            <a:off x="5941271" y="169729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
        <p:nvSpPr>
          <p:cNvPr id="47" name="文本框 46">
            <a:extLst>
              <a:ext uri="{FF2B5EF4-FFF2-40B4-BE49-F238E27FC236}">
                <a16:creationId xmlns:a16="http://schemas.microsoft.com/office/drawing/2014/main" id="{D893BC11-6EDB-4F38-9904-DF272A6B332F}"/>
              </a:ext>
            </a:extLst>
          </p:cNvPr>
          <p:cNvSpPr txBox="1"/>
          <p:nvPr/>
        </p:nvSpPr>
        <p:spPr>
          <a:xfrm>
            <a:off x="10485812" y="1688936"/>
            <a:ext cx="711200" cy="376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
        <p:nvSpPr>
          <p:cNvPr id="48" name="矩形 47">
            <a:extLst>
              <a:ext uri="{FF2B5EF4-FFF2-40B4-BE49-F238E27FC236}">
                <a16:creationId xmlns:a16="http://schemas.microsoft.com/office/drawing/2014/main" id="{E7C3603E-6FF1-420A-B35B-3806A7D80DBB}"/>
              </a:ext>
            </a:extLst>
          </p:cNvPr>
          <p:cNvSpPr/>
          <p:nvPr/>
        </p:nvSpPr>
        <p:spPr>
          <a:xfrm>
            <a:off x="8470694" y="5582149"/>
            <a:ext cx="1326950" cy="293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Emb_D_n</a:t>
            </a:r>
            <a:endParaRPr lang="zh-CN" altLang="en-US"/>
          </a:p>
        </p:txBody>
      </p:sp>
      <p:sp>
        <p:nvSpPr>
          <p:cNvPr id="49" name="矩形 48">
            <a:extLst>
              <a:ext uri="{FF2B5EF4-FFF2-40B4-BE49-F238E27FC236}">
                <a16:creationId xmlns:a16="http://schemas.microsoft.com/office/drawing/2014/main" id="{8C33BB84-AA3A-4245-9985-7701F3578528}"/>
              </a:ext>
            </a:extLst>
          </p:cNvPr>
          <p:cNvSpPr/>
          <p:nvPr/>
        </p:nvSpPr>
        <p:spPr>
          <a:xfrm>
            <a:off x="6781220" y="1773821"/>
            <a:ext cx="983707"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Emb_n</a:t>
            </a:r>
            <a:endParaRPr lang="zh-CN" altLang="en-US"/>
          </a:p>
        </p:txBody>
      </p:sp>
      <p:sp>
        <p:nvSpPr>
          <p:cNvPr id="50" name="矩形 49">
            <a:extLst>
              <a:ext uri="{FF2B5EF4-FFF2-40B4-BE49-F238E27FC236}">
                <a16:creationId xmlns:a16="http://schemas.microsoft.com/office/drawing/2014/main" id="{C9A43590-EDB0-47D7-998B-A1D196A02A42}"/>
              </a:ext>
            </a:extLst>
          </p:cNvPr>
          <p:cNvSpPr/>
          <p:nvPr/>
        </p:nvSpPr>
        <p:spPr>
          <a:xfrm>
            <a:off x="7982571" y="1766956"/>
            <a:ext cx="1072950"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Emb_n+1</a:t>
            </a:r>
            <a:endParaRPr lang="zh-CN" altLang="en-US"/>
          </a:p>
        </p:txBody>
      </p:sp>
      <p:cxnSp>
        <p:nvCxnSpPr>
          <p:cNvPr id="51" name="直接箭头连接符 50">
            <a:extLst>
              <a:ext uri="{FF2B5EF4-FFF2-40B4-BE49-F238E27FC236}">
                <a16:creationId xmlns:a16="http://schemas.microsoft.com/office/drawing/2014/main" id="{9CBB01CA-8C54-436B-90EC-690CF8026B12}"/>
              </a:ext>
            </a:extLst>
          </p:cNvPr>
          <p:cNvCxnSpPr>
            <a:cxnSpLocks/>
          </p:cNvCxnSpPr>
          <p:nvPr/>
        </p:nvCxnSpPr>
        <p:spPr>
          <a:xfrm flipH="1">
            <a:off x="1973345" y="2091808"/>
            <a:ext cx="6561439" cy="3504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C2462978-DBF7-4588-A02A-C27C376CF4FD}"/>
              </a:ext>
            </a:extLst>
          </p:cNvPr>
          <p:cNvSpPr/>
          <p:nvPr/>
        </p:nvSpPr>
        <p:spPr>
          <a:xfrm>
            <a:off x="9259436" y="1766956"/>
            <a:ext cx="1072950" cy="3000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Emb_n+2</a:t>
            </a:r>
            <a:endParaRPr lang="zh-CN" altLang="en-US"/>
          </a:p>
        </p:txBody>
      </p:sp>
      <p:cxnSp>
        <p:nvCxnSpPr>
          <p:cNvPr id="53" name="直接箭头连接符 52">
            <a:extLst>
              <a:ext uri="{FF2B5EF4-FFF2-40B4-BE49-F238E27FC236}">
                <a16:creationId xmlns:a16="http://schemas.microsoft.com/office/drawing/2014/main" id="{30457583-DCA5-44CC-B250-96F648C5D170}"/>
              </a:ext>
            </a:extLst>
          </p:cNvPr>
          <p:cNvCxnSpPr>
            <a:cxnSpLocks/>
          </p:cNvCxnSpPr>
          <p:nvPr/>
        </p:nvCxnSpPr>
        <p:spPr>
          <a:xfrm flipH="1">
            <a:off x="3497344" y="2064348"/>
            <a:ext cx="6286844" cy="3497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7549F255-208C-4661-8612-DDE30CA9E388}"/>
              </a:ext>
            </a:extLst>
          </p:cNvPr>
          <p:cNvSpPr txBox="1"/>
          <p:nvPr/>
        </p:nvSpPr>
        <p:spPr>
          <a:xfrm>
            <a:off x="10485812" y="3295314"/>
            <a:ext cx="711200" cy="376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sp>
        <p:nvSpPr>
          <p:cNvPr id="55" name="文本框 54">
            <a:extLst>
              <a:ext uri="{FF2B5EF4-FFF2-40B4-BE49-F238E27FC236}">
                <a16:creationId xmlns:a16="http://schemas.microsoft.com/office/drawing/2014/main" id="{F421A94E-F745-4499-BC6A-FD4ECF4DEA6E}"/>
              </a:ext>
            </a:extLst>
          </p:cNvPr>
          <p:cNvSpPr txBox="1"/>
          <p:nvPr/>
        </p:nvSpPr>
        <p:spPr>
          <a:xfrm>
            <a:off x="10113318" y="4085966"/>
            <a:ext cx="20292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宋体"/>
              </a:rPr>
              <a:t>*Emb_m is put on the kth device if m%n=k.</a:t>
            </a:r>
            <a:endParaRPr lang="zh-CN" altLang="en-US"/>
          </a:p>
        </p:txBody>
      </p:sp>
    </p:spTree>
    <p:extLst>
      <p:ext uri="{BB962C8B-B14F-4D97-AF65-F5344CB8AC3E}">
        <p14:creationId xmlns:p14="http://schemas.microsoft.com/office/powerpoint/2010/main" val="431110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endParaRPr lang="zh-CN" altLang="en-US"/>
          </a:p>
        </p:txBody>
      </p:sp>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43487A17-0583-4A9C-9D6B-F7030EA88E4F}"/>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433940" y="2718417"/>
            <a:ext cx="2377809" cy="67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241172" y="4451626"/>
            <a:ext cx="212918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箭头: 下 3">
            <a:extLst>
              <a:ext uri="{FF2B5EF4-FFF2-40B4-BE49-F238E27FC236}">
                <a16:creationId xmlns:a16="http://schemas.microsoft.com/office/drawing/2014/main" id="{0713BE33-2019-4995-AF9C-274C7F16F575}"/>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28ED2A3-BF37-4D6B-B227-94F44C547645}"/>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sp>
        <p:nvSpPr>
          <p:cNvPr id="6" name="矩形 5">
            <a:extLst>
              <a:ext uri="{FF2B5EF4-FFF2-40B4-BE49-F238E27FC236}">
                <a16:creationId xmlns:a16="http://schemas.microsoft.com/office/drawing/2014/main" id="{03CCFBDB-2F42-4FF0-B0E1-ADCCD020F750}"/>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8" name="矩形 7">
            <a:extLst>
              <a:ext uri="{FF2B5EF4-FFF2-40B4-BE49-F238E27FC236}">
                <a16:creationId xmlns:a16="http://schemas.microsoft.com/office/drawing/2014/main" id="{E0C2F51D-7626-48C4-829F-C2E34589A465}"/>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0" name="矩形 9">
            <a:extLst>
              <a:ext uri="{FF2B5EF4-FFF2-40B4-BE49-F238E27FC236}">
                <a16:creationId xmlns:a16="http://schemas.microsoft.com/office/drawing/2014/main" id="{DFD273BE-9F34-4CA5-AED4-10F6CEEC34A6}"/>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1" name="椭圆 10">
            <a:extLst>
              <a:ext uri="{FF2B5EF4-FFF2-40B4-BE49-F238E27FC236}">
                <a16:creationId xmlns:a16="http://schemas.microsoft.com/office/drawing/2014/main" id="{2CCF8CA8-F5F1-41A7-BBFE-8FB36AC93D18}"/>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12" name="椭圆 11">
            <a:extLst>
              <a:ext uri="{FF2B5EF4-FFF2-40B4-BE49-F238E27FC236}">
                <a16:creationId xmlns:a16="http://schemas.microsoft.com/office/drawing/2014/main" id="{49799435-0F5A-435B-B9E4-043E46C83904}"/>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sp>
        <p:nvSpPr>
          <p:cNvPr id="9" name="矩形 8">
            <a:extLst>
              <a:ext uri="{FF2B5EF4-FFF2-40B4-BE49-F238E27FC236}">
                <a16:creationId xmlns:a16="http://schemas.microsoft.com/office/drawing/2014/main" id="{9BD866BF-9ABF-4B9D-88C1-94D031A835AD}"/>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13" name="直接箭头连接符 12">
            <a:extLst>
              <a:ext uri="{FF2B5EF4-FFF2-40B4-BE49-F238E27FC236}">
                <a16:creationId xmlns:a16="http://schemas.microsoft.com/office/drawing/2014/main" id="{34A81F83-54B3-4E21-ADDB-66850B051F5C}"/>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05AF7B4C-B9F6-4726-8ED6-DB15DC93C43D}"/>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B7458488-C328-486D-86EC-8BC2AA2172F5}"/>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C7D8CDB8-6168-4A61-A57E-5F4ACCF7FB48}"/>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6D9FA68C-0700-4E05-91E4-F282112D0309}"/>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sp>
        <p:nvSpPr>
          <p:cNvPr id="16" name="矩形 15">
            <a:extLst>
              <a:ext uri="{FF2B5EF4-FFF2-40B4-BE49-F238E27FC236}">
                <a16:creationId xmlns:a16="http://schemas.microsoft.com/office/drawing/2014/main" id="{3C2E4A04-086E-4474-84BD-E01376381F2E}"/>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18" name="矩形 17">
            <a:extLst>
              <a:ext uri="{FF2B5EF4-FFF2-40B4-BE49-F238E27FC236}">
                <a16:creationId xmlns:a16="http://schemas.microsoft.com/office/drawing/2014/main" id="{AF47D3F2-F98E-4F0F-B5C0-BC8106523797}"/>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9" name="矩形 18">
            <a:extLst>
              <a:ext uri="{FF2B5EF4-FFF2-40B4-BE49-F238E27FC236}">
                <a16:creationId xmlns:a16="http://schemas.microsoft.com/office/drawing/2014/main" id="{CEED2A6B-F336-4016-99EF-38CE7CE9540A}"/>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20" name="椭圆 19">
            <a:extLst>
              <a:ext uri="{FF2B5EF4-FFF2-40B4-BE49-F238E27FC236}">
                <a16:creationId xmlns:a16="http://schemas.microsoft.com/office/drawing/2014/main" id="{4853256C-DD67-457A-A06F-31E1920FBFFC}"/>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22" name="椭圆 21">
            <a:extLst>
              <a:ext uri="{FF2B5EF4-FFF2-40B4-BE49-F238E27FC236}">
                <a16:creationId xmlns:a16="http://schemas.microsoft.com/office/drawing/2014/main" id="{F8154439-C324-4616-A2F8-82E7A6D4EC01}"/>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sp>
        <p:nvSpPr>
          <p:cNvPr id="23" name="椭圆 22">
            <a:extLst>
              <a:ext uri="{FF2B5EF4-FFF2-40B4-BE49-F238E27FC236}">
                <a16:creationId xmlns:a16="http://schemas.microsoft.com/office/drawing/2014/main" id="{647EF19C-6672-4C7E-91F8-22F4BE674813}"/>
              </a:ext>
            </a:extLst>
          </p:cNvPr>
          <p:cNvSpPr/>
          <p:nvPr/>
        </p:nvSpPr>
        <p:spPr>
          <a:xfrm>
            <a:off x="2054158" y="3330352"/>
            <a:ext cx="6556908" cy="46037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40801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Operations of X_i on device D_i</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6" name="椭圆 5">
            <a:extLst>
              <a:ext uri="{FF2B5EF4-FFF2-40B4-BE49-F238E27FC236}">
                <a16:creationId xmlns:a16="http://schemas.microsoft.com/office/drawing/2014/main" id="{CF13313F-5DA7-4BED-8CB0-DD4896717D77}"/>
              </a:ext>
            </a:extLst>
          </p:cNvPr>
          <p:cNvSpPr/>
          <p:nvPr/>
        </p:nvSpPr>
        <p:spPr>
          <a:xfrm>
            <a:off x="3794539" y="3402496"/>
            <a:ext cx="3964607" cy="142460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F748C331-DBDF-4BE1-B105-05AA2ADBE5F2}"/>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8" name="直接箭头连接符 17">
            <a:extLst>
              <a:ext uri="{FF2B5EF4-FFF2-40B4-BE49-F238E27FC236}">
                <a16:creationId xmlns:a16="http://schemas.microsoft.com/office/drawing/2014/main" id="{508B5B2B-C5F5-447E-9FB7-2E87133F5E76}"/>
              </a:ext>
            </a:extLst>
          </p:cNvPr>
          <p:cNvCxnSpPr>
            <a:cxnSpLocks/>
          </p:cNvCxnSpPr>
          <p:nvPr/>
        </p:nvCxnSpPr>
        <p:spPr>
          <a:xfrm flipH="1">
            <a:off x="9325114" y="2110408"/>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393DAC1F-FB51-4E19-B6CC-1E671A7B474D}"/>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7" name="矩形 6">
            <a:extLst>
              <a:ext uri="{FF2B5EF4-FFF2-40B4-BE49-F238E27FC236}">
                <a16:creationId xmlns:a16="http://schemas.microsoft.com/office/drawing/2014/main" id="{A607B06E-C76C-4D62-9100-5E0DFBF83A6C}"/>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8" name="直接箭头连接符 7">
            <a:extLst>
              <a:ext uri="{FF2B5EF4-FFF2-40B4-BE49-F238E27FC236}">
                <a16:creationId xmlns:a16="http://schemas.microsoft.com/office/drawing/2014/main" id="{948D8154-988F-4A87-9857-2844ADBE7AF2}"/>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076C3204-B9B6-47A4-B2BB-19C7574EB6CF}"/>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19" name="直接箭头连接符 18">
            <a:extLst>
              <a:ext uri="{FF2B5EF4-FFF2-40B4-BE49-F238E27FC236}">
                <a16:creationId xmlns:a16="http://schemas.microsoft.com/office/drawing/2014/main" id="{FB27BD37-F53B-4F26-8A04-E552C4D5D4D5}"/>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EB9A663-B3F5-489F-9462-6BE9331ACF31}"/>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Tree>
    <p:extLst>
      <p:ext uri="{BB962C8B-B14F-4D97-AF65-F5344CB8AC3E}">
        <p14:creationId xmlns:p14="http://schemas.microsoft.com/office/powerpoint/2010/main" val="7060666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A82F3-AD42-4828-A09D-003A1144FD99}"/>
              </a:ext>
            </a:extLst>
          </p:cNvPr>
          <p:cNvSpPr>
            <a:spLocks noGrp="1"/>
          </p:cNvSpPr>
          <p:nvPr>
            <p:ph type="title"/>
          </p:nvPr>
        </p:nvSpPr>
        <p:spPr/>
        <p:txBody>
          <a:bodyPr/>
          <a:lstStyle/>
          <a:p>
            <a:r>
              <a:rPr lang="zh-CN" altLang="en-US">
                <a:ea typeface="宋体"/>
                <a:cs typeface="Calibri Light"/>
              </a:rPr>
              <a:t>Interact_features</a:t>
            </a:r>
            <a:endParaRPr lang="zh-CN" altLang="en-US"/>
          </a:p>
        </p:txBody>
      </p:sp>
      <p:sp>
        <p:nvSpPr>
          <p:cNvPr id="3" name="内容占位符 2">
            <a:extLst>
              <a:ext uri="{FF2B5EF4-FFF2-40B4-BE49-F238E27FC236}">
                <a16:creationId xmlns:a16="http://schemas.microsoft.com/office/drawing/2014/main" id="{50DFA1E6-B3E7-4987-AEB1-0C8F09E2E5A7}"/>
              </a:ext>
            </a:extLst>
          </p:cNvPr>
          <p:cNvSpPr>
            <a:spLocks noGrp="1"/>
          </p:cNvSpPr>
          <p:nvPr>
            <p:ph idx="1"/>
          </p:nvPr>
        </p:nvSpPr>
        <p:spPr>
          <a:xfrm>
            <a:off x="838200" y="1825625"/>
            <a:ext cx="10129079" cy="4351338"/>
          </a:xfrm>
        </p:spPr>
        <p:txBody>
          <a:bodyPr vert="horz" lIns="91440" tIns="45720" rIns="91440" bIns="45720" rtlCol="0" anchor="t">
            <a:normAutofit/>
          </a:bodyPr>
          <a:lstStyle/>
          <a:p>
            <a:r>
              <a:rPr lang="zh-CN" altLang="en-US" b="1">
                <a:ea typeface="宋体"/>
                <a:cs typeface="Calibri"/>
              </a:rPr>
              <a:t>Input</a:t>
            </a:r>
            <a:r>
              <a:rPr lang="zh-CN" altLang="en-US">
                <a:ea typeface="宋体"/>
                <a:cs typeface="Calibri"/>
              </a:rPr>
              <a:t>: x, the data went through the MLP Top_l</a:t>
            </a:r>
            <a:endParaRPr lang="zh-CN" altLang="en-US">
              <a:ea typeface="宋体" panose="02010600030101010101" pitchFamily="2" charset="-122"/>
              <a:cs typeface="Calibri"/>
            </a:endParaRPr>
          </a:p>
          <a:p>
            <a:r>
              <a:rPr lang="zh-CN" altLang="en-US">
                <a:ea typeface="宋体"/>
                <a:cs typeface="Calibri"/>
              </a:rPr>
              <a:t>             ly, the data went through the embedding</a:t>
            </a:r>
          </a:p>
          <a:p>
            <a:r>
              <a:rPr lang="zh-CN" altLang="en-US" b="1">
                <a:ea typeface="宋体"/>
                <a:cs typeface="Calibri"/>
              </a:rPr>
              <a:t>Parameter</a:t>
            </a:r>
            <a:r>
              <a:rPr lang="zh-CN" altLang="en-US">
                <a:ea typeface="宋体"/>
                <a:cs typeface="Calibri"/>
              </a:rPr>
              <a:t>: arch_interaction_op = </a:t>
            </a:r>
            <a:r>
              <a:rPr lang="zh-CN" altLang="en-US">
                <a:latin typeface="Calibri"/>
                <a:ea typeface="宋体"/>
                <a:cs typeface="Calibri"/>
              </a:rPr>
              <a:t>AIO </a:t>
            </a:r>
            <a:r>
              <a:rPr lang="en-US" altLang="zh-CN">
                <a:latin typeface="SimSun"/>
                <a:ea typeface="+mn-lt"/>
                <a:cs typeface="Calibri"/>
              </a:rPr>
              <a:t>∈</a:t>
            </a:r>
            <a:r>
              <a:rPr lang="zh-CN" altLang="en-US">
                <a:ea typeface="宋体"/>
                <a:cs typeface="Calibri"/>
              </a:rPr>
              <a:t> ['dot', 'cat'],</a:t>
            </a:r>
            <a:endParaRPr lang="zh-CN">
              <a:ea typeface="宋体"/>
              <a:cs typeface="Calibri"/>
            </a:endParaRPr>
          </a:p>
          <a:p>
            <a:pPr marL="0" indent="0">
              <a:buNone/>
            </a:pPr>
            <a:r>
              <a:rPr lang="zh-CN" altLang="en-US">
                <a:ea typeface="宋体"/>
                <a:cs typeface="Calibri"/>
              </a:rPr>
              <a:t>                         arch_interaction_itself=AII.</a:t>
            </a:r>
            <a:endParaRPr lang="zh-CN">
              <a:ea typeface="宋体"/>
              <a:cs typeface="Calibri" panose="020F0502020204030204"/>
            </a:endParaRPr>
          </a:p>
          <a:p>
            <a:r>
              <a:rPr lang="zh-CN" altLang="en-US">
                <a:ea typeface="宋体"/>
                <a:cs typeface="Calibri"/>
              </a:rPr>
              <a:t>1. If AIO='dot', z=the dot product of z=concat(x, ly, dim=1) and z.transpose(1, 2). Take the top half of z (include the diagonal if AII=True) and concat x in front of the new matrix. Return the new matrix.</a:t>
            </a:r>
          </a:p>
          <a:p>
            <a:r>
              <a:rPr lang="zh-CN" altLang="en-US">
                <a:ea typeface="宋体"/>
                <a:cs typeface="Calibri"/>
              </a:rPr>
              <a:t>2. If AIO='cat', return concat(x, ly, dim=1).</a:t>
            </a:r>
            <a:endParaRPr lang="zh-CN" altLang="en-US">
              <a:ea typeface="宋体" panose="02010600030101010101" pitchFamily="2" charset="-122"/>
              <a:cs typeface="Calibri"/>
            </a:endParaRPr>
          </a:p>
        </p:txBody>
      </p:sp>
      <p:sp>
        <p:nvSpPr>
          <p:cNvPr id="4" name="文本框 3">
            <a:extLst>
              <a:ext uri="{FF2B5EF4-FFF2-40B4-BE49-F238E27FC236}">
                <a16:creationId xmlns:a16="http://schemas.microsoft.com/office/drawing/2014/main" id="{031F54DB-7DA4-44E0-AF21-E3E0D4669C33}"/>
              </a:ext>
            </a:extLst>
          </p:cNvPr>
          <p:cNvSpPr txBox="1"/>
          <p:nvPr/>
        </p:nvSpPr>
        <p:spPr>
          <a:xfrm>
            <a:off x="9301701" y="5450088"/>
            <a:ext cx="243398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*This part of the code is straightforward, reading the code would help if the explanation is too abstract.</a:t>
            </a:r>
          </a:p>
          <a:p>
            <a:br>
              <a:rPr lang="zh-CN" altLang="en-US" sz="1200">
                <a:ea typeface="宋体"/>
                <a:cs typeface="Calibri"/>
              </a:rPr>
            </a:br>
            <a:r>
              <a:rPr lang="zh-CN" altLang="en-US" sz="1200">
                <a:ea typeface="宋体"/>
                <a:cs typeface="Calibri"/>
              </a:rPr>
              <a:t>All parameters are hyperparameters</a:t>
            </a:r>
          </a:p>
        </p:txBody>
      </p:sp>
    </p:spTree>
    <p:extLst>
      <p:ext uri="{BB962C8B-B14F-4D97-AF65-F5344CB8AC3E}">
        <p14:creationId xmlns:p14="http://schemas.microsoft.com/office/powerpoint/2010/main" val="487789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93364A-596C-457F-A08D-7774C45701F4}"/>
              </a:ext>
            </a:extLst>
          </p:cNvPr>
          <p:cNvSpPr>
            <a:spLocks noGrp="1"/>
          </p:cNvSpPr>
          <p:nvPr>
            <p:ph type="title"/>
          </p:nvPr>
        </p:nvSpPr>
        <p:spPr/>
        <p:txBody>
          <a:bodyPr/>
          <a:lstStyle/>
          <a:p>
            <a:r>
              <a:rPr lang="zh-CN" altLang="en-US">
                <a:ea typeface="宋体"/>
                <a:cs typeface="Calibri Light"/>
              </a:rPr>
              <a:t>Code for if AIO='dot' with pytorch</a:t>
            </a:r>
            <a:endParaRPr lang="zh-CN" altLang="en-US"/>
          </a:p>
        </p:txBody>
      </p:sp>
      <p:sp>
        <p:nvSpPr>
          <p:cNvPr id="3" name="内容占位符 2">
            <a:extLst>
              <a:ext uri="{FF2B5EF4-FFF2-40B4-BE49-F238E27FC236}">
                <a16:creationId xmlns:a16="http://schemas.microsoft.com/office/drawing/2014/main" id="{92689E32-FE44-4463-84AB-E0AF3B213FCA}"/>
              </a:ext>
            </a:extLst>
          </p:cNvPr>
          <p:cNvSpPr>
            <a:spLocks noGrp="1"/>
          </p:cNvSpPr>
          <p:nvPr>
            <p:ph idx="1"/>
          </p:nvPr>
        </p:nvSpPr>
        <p:spPr/>
        <p:txBody>
          <a:bodyPr vert="horz" lIns="91440" tIns="45720" rIns="91440" bIns="45720" rtlCol="0" anchor="t">
            <a:normAutofit/>
          </a:bodyPr>
          <a:lstStyle/>
          <a:p>
            <a:pPr marL="0" indent="0">
              <a:buNone/>
            </a:pPr>
            <a:r>
              <a:rPr lang="zh-CN">
                <a:ea typeface="+mn-lt"/>
                <a:cs typeface="+mn-lt"/>
              </a:rPr>
              <a:t>(batch_size, d) = x.shape</a:t>
            </a:r>
            <a:endParaRPr lang="zh-CN"/>
          </a:p>
          <a:p>
            <a:pPr marL="0" indent="0">
              <a:buNone/>
            </a:pPr>
            <a:r>
              <a:rPr lang="en-US" altLang="zh-CN">
                <a:ea typeface="+mn-lt"/>
                <a:cs typeface="+mn-lt"/>
              </a:rPr>
              <a:t>T</a:t>
            </a:r>
            <a:r>
              <a:rPr lang="zh-CN" altLang="en-US">
                <a:ea typeface="+mn-lt"/>
                <a:cs typeface="+mn-lt"/>
              </a:rPr>
              <a:t> </a:t>
            </a:r>
            <a:r>
              <a:rPr lang="en-US" altLang="zh-CN">
                <a:ea typeface="+mn-lt"/>
                <a:cs typeface="+mn-lt"/>
              </a:rPr>
              <a:t>=</a:t>
            </a:r>
            <a:r>
              <a:rPr lang="zh-CN" altLang="en-US">
                <a:ea typeface="+mn-lt"/>
                <a:cs typeface="+mn-lt"/>
              </a:rPr>
              <a:t> </a:t>
            </a:r>
            <a:r>
              <a:rPr lang="en-US" altLang="zh-CN">
                <a:ea typeface="+mn-lt"/>
                <a:cs typeface="+mn-lt"/>
              </a:rPr>
              <a:t>torch.cat([x]</a:t>
            </a:r>
            <a:r>
              <a:rPr lang="zh-CN" altLang="en-US">
                <a:ea typeface="+mn-lt"/>
                <a:cs typeface="+mn-lt"/>
              </a:rPr>
              <a:t> </a:t>
            </a:r>
            <a:r>
              <a:rPr lang="en-US" altLang="zh-CN">
                <a:ea typeface="+mn-lt"/>
                <a:cs typeface="+mn-lt"/>
              </a:rPr>
              <a:t>+</a:t>
            </a:r>
            <a:r>
              <a:rPr lang="zh-CN" altLang="en-US">
                <a:ea typeface="+mn-lt"/>
                <a:cs typeface="+mn-lt"/>
              </a:rPr>
              <a:t> </a:t>
            </a:r>
            <a:r>
              <a:rPr lang="en-US" altLang="zh-CN">
                <a:ea typeface="+mn-lt"/>
                <a:cs typeface="+mn-lt"/>
              </a:rPr>
              <a:t>ly,</a:t>
            </a:r>
            <a:r>
              <a:rPr lang="zh-CN" altLang="en-US">
                <a:ea typeface="+mn-lt"/>
                <a:cs typeface="+mn-lt"/>
              </a:rPr>
              <a:t> </a:t>
            </a:r>
            <a:r>
              <a:rPr lang="en-US" altLang="zh-CN">
                <a:ea typeface="+mn-lt"/>
                <a:cs typeface="+mn-lt"/>
              </a:rPr>
              <a:t>dim=1).view((batch_size,</a:t>
            </a:r>
            <a:r>
              <a:rPr lang="zh-CN" altLang="en-US">
                <a:ea typeface="+mn-lt"/>
                <a:cs typeface="+mn-lt"/>
              </a:rPr>
              <a:t> </a:t>
            </a:r>
            <a:r>
              <a:rPr lang="en-US" altLang="zh-CN">
                <a:ea typeface="+mn-lt"/>
                <a:cs typeface="+mn-lt"/>
              </a:rPr>
              <a:t>-1,</a:t>
            </a:r>
            <a:r>
              <a:rPr lang="zh-CN" altLang="en-US">
                <a:ea typeface="+mn-lt"/>
                <a:cs typeface="+mn-lt"/>
              </a:rPr>
              <a:t> </a:t>
            </a:r>
            <a:r>
              <a:rPr lang="en-US" altLang="zh-CN">
                <a:ea typeface="+mn-lt"/>
                <a:cs typeface="+mn-lt"/>
              </a:rPr>
              <a:t>d))</a:t>
            </a:r>
          </a:p>
          <a:p>
            <a:pPr marL="0" indent="0">
              <a:buNone/>
            </a:pPr>
            <a:r>
              <a:rPr lang="en-US">
                <a:ea typeface="+mn-lt"/>
                <a:cs typeface="+mn-lt"/>
              </a:rPr>
              <a:t>Z = torch.bmm(T, torch.transpose(T, 1, 2))</a:t>
            </a:r>
          </a:p>
          <a:p>
            <a:pPr marL="0" indent="0">
              <a:buNone/>
            </a:pPr>
            <a:r>
              <a:rPr lang="en-US">
                <a:cs typeface="Calibri"/>
              </a:rPr>
              <a:t>_</a:t>
            </a:r>
            <a:r>
              <a:rPr lang="en-US">
                <a:ea typeface="+mn-lt"/>
                <a:cs typeface="+mn-lt"/>
              </a:rPr>
              <a:t>, ni, nj = Z.shape</a:t>
            </a:r>
          </a:p>
          <a:p>
            <a:pPr marL="0" indent="0">
              <a:buNone/>
            </a:pPr>
            <a:r>
              <a:rPr lang="en-US">
                <a:ea typeface="+mn-lt"/>
                <a:cs typeface="+mn-lt"/>
              </a:rPr>
              <a:t>offset = 1 if self.arch_interaction_itself else 0</a:t>
            </a:r>
            <a:br>
              <a:rPr lang="en-US">
                <a:ea typeface="+mn-lt"/>
                <a:cs typeface="+mn-lt"/>
              </a:rPr>
            </a:br>
            <a:r>
              <a:rPr lang="en-US">
                <a:ea typeface="+mn-lt"/>
                <a:cs typeface="+mn-lt"/>
              </a:rPr>
              <a:t>li = torch.tensor([i for i in range(ni) for j in range(i + offset)])</a:t>
            </a:r>
            <a:br>
              <a:rPr lang="en-US">
                <a:ea typeface="+mn-lt"/>
                <a:cs typeface="+mn-lt"/>
              </a:rPr>
            </a:br>
            <a:r>
              <a:rPr lang="en-US">
                <a:ea typeface="+mn-lt"/>
                <a:cs typeface="+mn-lt"/>
              </a:rPr>
              <a:t>lj = torch.tensor([j for i in range(nj) for j in range(i + offset)])</a:t>
            </a:r>
          </a:p>
          <a:p>
            <a:pPr marL="0" indent="0">
              <a:buNone/>
            </a:pPr>
            <a:r>
              <a:rPr lang="en-US">
                <a:ea typeface="+mn-lt"/>
                <a:cs typeface="+mn-lt"/>
              </a:rPr>
              <a:t>Zflat = Z[:, li, lj]</a:t>
            </a:r>
          </a:p>
          <a:p>
            <a:pPr marL="0" indent="0">
              <a:buNone/>
            </a:pPr>
            <a:r>
              <a:rPr lang="en-US">
                <a:ea typeface="+mn-lt"/>
                <a:cs typeface="+mn-lt"/>
              </a:rPr>
              <a:t>R = torch.cat([x] + [Zflat], dim=1)</a:t>
            </a:r>
            <a:endParaRPr lang="en-US">
              <a:cs typeface="Calibri"/>
            </a:endParaRPr>
          </a:p>
        </p:txBody>
      </p:sp>
    </p:spTree>
    <p:extLst>
      <p:ext uri="{BB962C8B-B14F-4D97-AF65-F5344CB8AC3E}">
        <p14:creationId xmlns:p14="http://schemas.microsoft.com/office/powerpoint/2010/main" val="3939654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endParaRPr lang="zh-CN" altLang="en-US"/>
          </a:p>
        </p:txBody>
      </p:sp>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43487A17-0583-4A9C-9D6B-F7030EA88E4F}"/>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433940" y="2718417"/>
            <a:ext cx="2377809" cy="67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241172" y="4451626"/>
            <a:ext cx="212918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箭头: 下 3">
            <a:extLst>
              <a:ext uri="{FF2B5EF4-FFF2-40B4-BE49-F238E27FC236}">
                <a16:creationId xmlns:a16="http://schemas.microsoft.com/office/drawing/2014/main" id="{0713BE33-2019-4995-AF9C-274C7F16F575}"/>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28ED2A3-BF37-4D6B-B227-94F44C547645}"/>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sp>
        <p:nvSpPr>
          <p:cNvPr id="6" name="矩形 5">
            <a:extLst>
              <a:ext uri="{FF2B5EF4-FFF2-40B4-BE49-F238E27FC236}">
                <a16:creationId xmlns:a16="http://schemas.microsoft.com/office/drawing/2014/main" id="{03CCFBDB-2F42-4FF0-B0E1-ADCCD020F750}"/>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8" name="矩形 7">
            <a:extLst>
              <a:ext uri="{FF2B5EF4-FFF2-40B4-BE49-F238E27FC236}">
                <a16:creationId xmlns:a16="http://schemas.microsoft.com/office/drawing/2014/main" id="{E0C2F51D-7626-48C4-829F-C2E34589A465}"/>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0" name="矩形 9">
            <a:extLst>
              <a:ext uri="{FF2B5EF4-FFF2-40B4-BE49-F238E27FC236}">
                <a16:creationId xmlns:a16="http://schemas.microsoft.com/office/drawing/2014/main" id="{DFD273BE-9F34-4CA5-AED4-10F6CEEC34A6}"/>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1" name="椭圆 10">
            <a:extLst>
              <a:ext uri="{FF2B5EF4-FFF2-40B4-BE49-F238E27FC236}">
                <a16:creationId xmlns:a16="http://schemas.microsoft.com/office/drawing/2014/main" id="{2CCF8CA8-F5F1-41A7-BBFE-8FB36AC93D18}"/>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12" name="椭圆 11">
            <a:extLst>
              <a:ext uri="{FF2B5EF4-FFF2-40B4-BE49-F238E27FC236}">
                <a16:creationId xmlns:a16="http://schemas.microsoft.com/office/drawing/2014/main" id="{49799435-0F5A-435B-B9E4-043E46C83904}"/>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sp>
        <p:nvSpPr>
          <p:cNvPr id="9" name="矩形 8">
            <a:extLst>
              <a:ext uri="{FF2B5EF4-FFF2-40B4-BE49-F238E27FC236}">
                <a16:creationId xmlns:a16="http://schemas.microsoft.com/office/drawing/2014/main" id="{9BD866BF-9ABF-4B9D-88C1-94D031A835AD}"/>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13" name="直接箭头连接符 12">
            <a:extLst>
              <a:ext uri="{FF2B5EF4-FFF2-40B4-BE49-F238E27FC236}">
                <a16:creationId xmlns:a16="http://schemas.microsoft.com/office/drawing/2014/main" id="{34A81F83-54B3-4E21-ADDB-66850B051F5C}"/>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05AF7B4C-B9F6-4726-8ED6-DB15DC93C43D}"/>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B7458488-C328-486D-86EC-8BC2AA2172F5}"/>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C7D8CDB8-6168-4A61-A57E-5F4ACCF7FB48}"/>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6D9FA68C-0700-4E05-91E4-F282112D0309}"/>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sp>
        <p:nvSpPr>
          <p:cNvPr id="16" name="矩形 15">
            <a:extLst>
              <a:ext uri="{FF2B5EF4-FFF2-40B4-BE49-F238E27FC236}">
                <a16:creationId xmlns:a16="http://schemas.microsoft.com/office/drawing/2014/main" id="{3C2E4A04-086E-4474-84BD-E01376381F2E}"/>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18" name="矩形 17">
            <a:extLst>
              <a:ext uri="{FF2B5EF4-FFF2-40B4-BE49-F238E27FC236}">
                <a16:creationId xmlns:a16="http://schemas.microsoft.com/office/drawing/2014/main" id="{AF47D3F2-F98E-4F0F-B5C0-BC8106523797}"/>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9" name="矩形 18">
            <a:extLst>
              <a:ext uri="{FF2B5EF4-FFF2-40B4-BE49-F238E27FC236}">
                <a16:creationId xmlns:a16="http://schemas.microsoft.com/office/drawing/2014/main" id="{CEED2A6B-F336-4016-99EF-38CE7CE9540A}"/>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20" name="椭圆 19">
            <a:extLst>
              <a:ext uri="{FF2B5EF4-FFF2-40B4-BE49-F238E27FC236}">
                <a16:creationId xmlns:a16="http://schemas.microsoft.com/office/drawing/2014/main" id="{4853256C-DD67-457A-A06F-31E1920FBFFC}"/>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22" name="椭圆 21">
            <a:extLst>
              <a:ext uri="{FF2B5EF4-FFF2-40B4-BE49-F238E27FC236}">
                <a16:creationId xmlns:a16="http://schemas.microsoft.com/office/drawing/2014/main" id="{F8154439-C324-4616-A2F8-82E7A6D4EC01}"/>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sp>
        <p:nvSpPr>
          <p:cNvPr id="23" name="椭圆 22">
            <a:extLst>
              <a:ext uri="{FF2B5EF4-FFF2-40B4-BE49-F238E27FC236}">
                <a16:creationId xmlns:a16="http://schemas.microsoft.com/office/drawing/2014/main" id="{647EF19C-6672-4C7E-91F8-22F4BE674813}"/>
              </a:ext>
            </a:extLst>
          </p:cNvPr>
          <p:cNvSpPr/>
          <p:nvPr/>
        </p:nvSpPr>
        <p:spPr>
          <a:xfrm>
            <a:off x="4090222" y="4799488"/>
            <a:ext cx="2655468" cy="6615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5972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Operations of data output</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6" name="椭圆 5">
            <a:extLst>
              <a:ext uri="{FF2B5EF4-FFF2-40B4-BE49-F238E27FC236}">
                <a16:creationId xmlns:a16="http://schemas.microsoft.com/office/drawing/2014/main" id="{CF13313F-5DA7-4BED-8CB0-DD4896717D77}"/>
              </a:ext>
            </a:extLst>
          </p:cNvPr>
          <p:cNvSpPr/>
          <p:nvPr/>
        </p:nvSpPr>
        <p:spPr>
          <a:xfrm>
            <a:off x="4424017" y="5655364"/>
            <a:ext cx="2782955" cy="894522"/>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E832C8BC-C5B6-4C1B-929C-88C62DA38DD7}"/>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25" name="矩形 24">
            <a:extLst>
              <a:ext uri="{FF2B5EF4-FFF2-40B4-BE49-F238E27FC236}">
                <a16:creationId xmlns:a16="http://schemas.microsoft.com/office/drawing/2014/main" id="{F5745E42-1AC1-4BAB-ACD5-BF0A6D65314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26" name="直接箭头连接符 25">
            <a:extLst>
              <a:ext uri="{FF2B5EF4-FFF2-40B4-BE49-F238E27FC236}">
                <a16:creationId xmlns:a16="http://schemas.microsoft.com/office/drawing/2014/main" id="{07A0461D-DAC0-488E-8F15-3DDF22BD0FBC}"/>
              </a:ext>
            </a:extLst>
          </p:cNvPr>
          <p:cNvCxnSpPr>
            <a:cxnSpLocks/>
          </p:cNvCxnSpPr>
          <p:nvPr/>
        </p:nvCxnSpPr>
        <p:spPr>
          <a:xfrm flipH="1">
            <a:off x="9325114" y="2132495"/>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0898ED09-C478-4455-8661-03F550A1E1AF}"/>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5" name="矩形 4">
            <a:extLst>
              <a:ext uri="{FF2B5EF4-FFF2-40B4-BE49-F238E27FC236}">
                <a16:creationId xmlns:a16="http://schemas.microsoft.com/office/drawing/2014/main" id="{08727ACE-F962-43FD-9545-2F6E112F707A}"/>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7" name="直接箭头连接符 6">
            <a:extLst>
              <a:ext uri="{FF2B5EF4-FFF2-40B4-BE49-F238E27FC236}">
                <a16:creationId xmlns:a16="http://schemas.microsoft.com/office/drawing/2014/main" id="{12503090-5225-45A2-8BB0-4C2AC3B19FD4}"/>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97D7087-5A64-4556-B8BB-7F390E8A88CA}"/>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15" name="直接箭头连接符 14">
            <a:extLst>
              <a:ext uri="{FF2B5EF4-FFF2-40B4-BE49-F238E27FC236}">
                <a16:creationId xmlns:a16="http://schemas.microsoft.com/office/drawing/2014/main" id="{9EBF6BD4-4647-4A02-9913-6D98A6D03A9D}"/>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1179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19163-A6FF-46E4-A6EE-B23DFD362304}"/>
              </a:ext>
            </a:extLst>
          </p:cNvPr>
          <p:cNvSpPr>
            <a:spLocks noGrp="1"/>
          </p:cNvSpPr>
          <p:nvPr>
            <p:ph type="title"/>
          </p:nvPr>
        </p:nvSpPr>
        <p:spPr/>
        <p:txBody>
          <a:bodyPr/>
          <a:lstStyle/>
          <a:p>
            <a:r>
              <a:rPr lang="zh-CN" altLang="en-US">
                <a:ea typeface="宋体"/>
                <a:cs typeface="Calibri Light"/>
              </a:rPr>
              <a:t>Gathering outputs</a:t>
            </a:r>
            <a:endParaRPr lang="zh-CN" altLang="en-US"/>
          </a:p>
        </p:txBody>
      </p:sp>
      <p:sp>
        <p:nvSpPr>
          <p:cNvPr id="7" name="矩形 6">
            <a:extLst>
              <a:ext uri="{FF2B5EF4-FFF2-40B4-BE49-F238E27FC236}">
                <a16:creationId xmlns:a16="http://schemas.microsoft.com/office/drawing/2014/main" id="{A8F22787-9778-4ED1-A3F4-A7314B0077E0}"/>
              </a:ext>
            </a:extLst>
          </p:cNvPr>
          <p:cNvSpPr/>
          <p:nvPr/>
        </p:nvSpPr>
        <p:spPr>
          <a:xfrm>
            <a:off x="964847" y="1690667"/>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Output_1</a:t>
            </a:r>
          </a:p>
        </p:txBody>
      </p:sp>
      <p:sp>
        <p:nvSpPr>
          <p:cNvPr id="8" name="矩形 7">
            <a:extLst>
              <a:ext uri="{FF2B5EF4-FFF2-40B4-BE49-F238E27FC236}">
                <a16:creationId xmlns:a16="http://schemas.microsoft.com/office/drawing/2014/main" id="{1395229A-54EB-482E-889F-D82AEF3DBC82}"/>
              </a:ext>
            </a:extLst>
          </p:cNvPr>
          <p:cNvSpPr/>
          <p:nvPr/>
        </p:nvSpPr>
        <p:spPr>
          <a:xfrm>
            <a:off x="2753890" y="1690667"/>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Output_2</a:t>
            </a:r>
          </a:p>
        </p:txBody>
      </p:sp>
      <p:sp>
        <p:nvSpPr>
          <p:cNvPr id="9" name="矩形 8">
            <a:extLst>
              <a:ext uri="{FF2B5EF4-FFF2-40B4-BE49-F238E27FC236}">
                <a16:creationId xmlns:a16="http://schemas.microsoft.com/office/drawing/2014/main" id="{8CE74AE8-FEB0-4704-8D14-F6461CDD2ADC}"/>
              </a:ext>
            </a:extLst>
          </p:cNvPr>
          <p:cNvSpPr/>
          <p:nvPr/>
        </p:nvSpPr>
        <p:spPr>
          <a:xfrm>
            <a:off x="4553976" y="1690667"/>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Output_3</a:t>
            </a:r>
          </a:p>
        </p:txBody>
      </p:sp>
      <p:sp>
        <p:nvSpPr>
          <p:cNvPr id="10" name="矩形 9">
            <a:extLst>
              <a:ext uri="{FF2B5EF4-FFF2-40B4-BE49-F238E27FC236}">
                <a16:creationId xmlns:a16="http://schemas.microsoft.com/office/drawing/2014/main" id="{F5B28E88-02CC-4841-98AB-F41FAE8AAD79}"/>
              </a:ext>
            </a:extLst>
          </p:cNvPr>
          <p:cNvSpPr/>
          <p:nvPr/>
        </p:nvSpPr>
        <p:spPr>
          <a:xfrm>
            <a:off x="6343020" y="1690666"/>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Output_4</a:t>
            </a:r>
          </a:p>
        </p:txBody>
      </p:sp>
      <p:sp>
        <p:nvSpPr>
          <p:cNvPr id="13" name="文本框 12">
            <a:extLst>
              <a:ext uri="{FF2B5EF4-FFF2-40B4-BE49-F238E27FC236}">
                <a16:creationId xmlns:a16="http://schemas.microsoft.com/office/drawing/2014/main" id="{A72B7CE7-2B47-4CF8-B658-82C475BA6F85}"/>
              </a:ext>
            </a:extLst>
          </p:cNvPr>
          <p:cNvSpPr txBox="1"/>
          <p:nvPr/>
        </p:nvSpPr>
        <p:spPr>
          <a:xfrm>
            <a:off x="8136835" y="168744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a:t>
            </a:r>
            <a:endParaRPr lang="zh-CN" altLang="en-US"/>
          </a:p>
        </p:txBody>
      </p:sp>
      <p:cxnSp>
        <p:nvCxnSpPr>
          <p:cNvPr id="14" name="直接箭头连接符 13">
            <a:extLst>
              <a:ext uri="{FF2B5EF4-FFF2-40B4-BE49-F238E27FC236}">
                <a16:creationId xmlns:a16="http://schemas.microsoft.com/office/drawing/2014/main" id="{5DDC4076-27E6-418B-AC94-FBE43826D680}"/>
              </a:ext>
            </a:extLst>
          </p:cNvPr>
          <p:cNvCxnSpPr/>
          <p:nvPr/>
        </p:nvCxnSpPr>
        <p:spPr>
          <a:xfrm>
            <a:off x="1696279" y="2198756"/>
            <a:ext cx="3487529" cy="197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31DE75E-4A03-411E-B9CF-CEF671BFF06D}"/>
              </a:ext>
            </a:extLst>
          </p:cNvPr>
          <p:cNvCxnSpPr/>
          <p:nvPr/>
        </p:nvCxnSpPr>
        <p:spPr>
          <a:xfrm>
            <a:off x="3473589" y="2187023"/>
            <a:ext cx="1698486" cy="1952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7A595133-9D87-4B75-8FDC-13FF6F8655BB}"/>
              </a:ext>
            </a:extLst>
          </p:cNvPr>
          <p:cNvCxnSpPr/>
          <p:nvPr/>
        </p:nvCxnSpPr>
        <p:spPr>
          <a:xfrm flipH="1">
            <a:off x="5138254" y="2164246"/>
            <a:ext cx="167862" cy="1996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3AE73341-7F1C-4D25-8D54-48002B5A3163}"/>
              </a:ext>
            </a:extLst>
          </p:cNvPr>
          <p:cNvCxnSpPr/>
          <p:nvPr/>
        </p:nvCxnSpPr>
        <p:spPr>
          <a:xfrm flipH="1">
            <a:off x="5137564" y="2185641"/>
            <a:ext cx="1923773" cy="1996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1A760BC7-F240-448B-BCA0-11F021A60ED6}"/>
              </a:ext>
            </a:extLst>
          </p:cNvPr>
          <p:cNvCxnSpPr/>
          <p:nvPr/>
        </p:nvCxnSpPr>
        <p:spPr>
          <a:xfrm flipH="1">
            <a:off x="5170004" y="2195994"/>
            <a:ext cx="3348382" cy="1974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478378FB-ACEE-481E-8026-3E64E8DF8600}"/>
              </a:ext>
            </a:extLst>
          </p:cNvPr>
          <p:cNvSpPr/>
          <p:nvPr/>
        </p:nvSpPr>
        <p:spPr>
          <a:xfrm>
            <a:off x="4188653" y="4227305"/>
            <a:ext cx="1910521" cy="4969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a:t>
            </a:r>
            <a:endParaRPr lang="zh-CN" altLang="en-US"/>
          </a:p>
        </p:txBody>
      </p:sp>
      <p:sp>
        <p:nvSpPr>
          <p:cNvPr id="21" name="矩形 20">
            <a:extLst>
              <a:ext uri="{FF2B5EF4-FFF2-40B4-BE49-F238E27FC236}">
                <a16:creationId xmlns:a16="http://schemas.microsoft.com/office/drawing/2014/main" id="{C22658AD-243A-4E55-8577-C82746C30BF3}"/>
              </a:ext>
            </a:extLst>
          </p:cNvPr>
          <p:cNvSpPr/>
          <p:nvPr/>
        </p:nvSpPr>
        <p:spPr>
          <a:xfrm>
            <a:off x="4166568" y="5651913"/>
            <a:ext cx="2109301" cy="4969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Clamped_Output</a:t>
            </a:r>
            <a:endParaRPr lang="zh-CN" altLang="en-US"/>
          </a:p>
        </p:txBody>
      </p:sp>
      <p:cxnSp>
        <p:nvCxnSpPr>
          <p:cNvPr id="22" name="直接箭头连接符 21">
            <a:extLst>
              <a:ext uri="{FF2B5EF4-FFF2-40B4-BE49-F238E27FC236}">
                <a16:creationId xmlns:a16="http://schemas.microsoft.com/office/drawing/2014/main" id="{BC2194A7-7C1F-481E-9AF5-8C7E6C4CAAD8}"/>
              </a:ext>
            </a:extLst>
          </p:cNvPr>
          <p:cNvCxnSpPr/>
          <p:nvPr/>
        </p:nvCxnSpPr>
        <p:spPr>
          <a:xfrm>
            <a:off x="5163240" y="4782238"/>
            <a:ext cx="19878" cy="870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DF0D6835-718C-47C0-871D-3FEE540C6AB7}"/>
              </a:ext>
            </a:extLst>
          </p:cNvPr>
          <p:cNvSpPr txBox="1"/>
          <p:nvPr/>
        </p:nvSpPr>
        <p:spPr>
          <a:xfrm>
            <a:off x="5231020" y="50322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宋体"/>
              </a:rPr>
              <a:t>Clamp if necessary</a:t>
            </a:r>
            <a:endParaRPr lang="zh-CN" altLang="en-US"/>
          </a:p>
        </p:txBody>
      </p:sp>
    </p:spTree>
    <p:extLst>
      <p:ext uri="{BB962C8B-B14F-4D97-AF65-F5344CB8AC3E}">
        <p14:creationId xmlns:p14="http://schemas.microsoft.com/office/powerpoint/2010/main" val="2524876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C2826-83DF-4E62-BE03-58C4038A67D0}"/>
              </a:ext>
            </a:extLst>
          </p:cNvPr>
          <p:cNvSpPr>
            <a:spLocks noGrp="1"/>
          </p:cNvSpPr>
          <p:nvPr>
            <p:ph type="title"/>
          </p:nvPr>
        </p:nvSpPr>
        <p:spPr/>
        <p:txBody>
          <a:bodyPr/>
          <a:lstStyle/>
          <a:p>
            <a:r>
              <a:rPr lang="zh-CN" altLang="en-US">
                <a:ea typeface="宋体"/>
                <a:cs typeface="Calibri Light"/>
              </a:rPr>
              <a:t>Overview of data operations</a:t>
            </a:r>
            <a:endParaRPr lang="zh-CN" altLang="en-US"/>
          </a:p>
        </p:txBody>
      </p:sp>
      <p:sp>
        <p:nvSpPr>
          <p:cNvPr id="9" name="椭圆 8">
            <a:extLst>
              <a:ext uri="{FF2B5EF4-FFF2-40B4-BE49-F238E27FC236}">
                <a16:creationId xmlns:a16="http://schemas.microsoft.com/office/drawing/2014/main" id="{558C38A2-94B8-4922-A443-960545373006}"/>
              </a:ext>
            </a:extLst>
          </p:cNvPr>
          <p:cNvSpPr/>
          <p:nvPr/>
        </p:nvSpPr>
        <p:spPr>
          <a:xfrm>
            <a:off x="7799926" y="2580469"/>
            <a:ext cx="3073354" cy="6689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MLP_Bot_Replica_i</a:t>
            </a:r>
            <a:endParaRPr lang="zh-CN" altLang="en-US"/>
          </a:p>
        </p:txBody>
      </p:sp>
      <p:sp>
        <p:nvSpPr>
          <p:cNvPr id="13" name="椭圆 12">
            <a:extLst>
              <a:ext uri="{FF2B5EF4-FFF2-40B4-BE49-F238E27FC236}">
                <a16:creationId xmlns:a16="http://schemas.microsoft.com/office/drawing/2014/main" id="{792D1E4A-03D2-45C8-8356-4086E153F4B9}"/>
              </a:ext>
            </a:extLst>
          </p:cNvPr>
          <p:cNvSpPr/>
          <p:nvPr/>
        </p:nvSpPr>
        <p:spPr>
          <a:xfrm>
            <a:off x="4299144" y="4954815"/>
            <a:ext cx="3007092" cy="525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MLP_Top_Replica_i</a:t>
            </a:r>
            <a:endParaRPr lang="zh-CN" altLang="en-US"/>
          </a:p>
        </p:txBody>
      </p:sp>
      <p:cxnSp>
        <p:nvCxnSpPr>
          <p:cNvPr id="16" name="直接箭头连接符 15">
            <a:extLst>
              <a:ext uri="{FF2B5EF4-FFF2-40B4-BE49-F238E27FC236}">
                <a16:creationId xmlns:a16="http://schemas.microsoft.com/office/drawing/2014/main" id="{52E4B089-5116-408C-9588-048E6F10D1E9}"/>
              </a:ext>
            </a:extLst>
          </p:cNvPr>
          <p:cNvCxnSpPr>
            <a:cxnSpLocks/>
          </p:cNvCxnSpPr>
          <p:nvPr/>
        </p:nvCxnSpPr>
        <p:spPr>
          <a:xfrm>
            <a:off x="3695147" y="3159537"/>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BD1E51A-004A-47BB-942B-C4239905A736}"/>
              </a:ext>
            </a:extLst>
          </p:cNvPr>
          <p:cNvCxnSpPr>
            <a:cxnSpLocks/>
          </p:cNvCxnSpPr>
          <p:nvPr/>
        </p:nvCxnSpPr>
        <p:spPr>
          <a:xfrm flipH="1">
            <a:off x="5779465" y="3092588"/>
            <a:ext cx="2144645" cy="549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菱形 19">
            <a:extLst>
              <a:ext uri="{FF2B5EF4-FFF2-40B4-BE49-F238E27FC236}">
                <a16:creationId xmlns:a16="http://schemas.microsoft.com/office/drawing/2014/main" id="{48D1193E-BCA6-4ABE-BEDE-F90FD8FEF071}"/>
              </a:ext>
            </a:extLst>
          </p:cNvPr>
          <p:cNvSpPr/>
          <p:nvPr/>
        </p:nvSpPr>
        <p:spPr>
          <a:xfrm>
            <a:off x="4498561" y="3697909"/>
            <a:ext cx="2551043" cy="894521"/>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Interactive features</a:t>
            </a:r>
            <a:endParaRPr lang="zh-CN" altLang="en-US"/>
          </a:p>
        </p:txBody>
      </p:sp>
      <p:cxnSp>
        <p:nvCxnSpPr>
          <p:cNvPr id="21" name="直接箭头连接符 20">
            <a:extLst>
              <a:ext uri="{FF2B5EF4-FFF2-40B4-BE49-F238E27FC236}">
                <a16:creationId xmlns:a16="http://schemas.microsoft.com/office/drawing/2014/main" id="{D1DFC55D-AFC4-4E31-AB06-67E375357B76}"/>
              </a:ext>
            </a:extLst>
          </p:cNvPr>
          <p:cNvCxnSpPr/>
          <p:nvPr/>
        </p:nvCxnSpPr>
        <p:spPr>
          <a:xfrm>
            <a:off x="5767870" y="4547567"/>
            <a:ext cx="8837" cy="40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95EE123-8F00-4B1B-AD3E-503E12E6A89A}"/>
              </a:ext>
            </a:extLst>
          </p:cNvPr>
          <p:cNvCxnSpPr>
            <a:cxnSpLocks/>
          </p:cNvCxnSpPr>
          <p:nvPr/>
        </p:nvCxnSpPr>
        <p:spPr>
          <a:xfrm>
            <a:off x="5800999" y="5475217"/>
            <a:ext cx="19879" cy="35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3F51D01E-6B6D-4A45-B8EC-6F6FC7195BD1}"/>
              </a:ext>
            </a:extLst>
          </p:cNvPr>
          <p:cNvSpPr/>
          <p:nvPr/>
        </p:nvSpPr>
        <p:spPr>
          <a:xfrm>
            <a:off x="5117195" y="5843015"/>
            <a:ext cx="1404552" cy="46179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Output_i</a:t>
            </a:r>
          </a:p>
        </p:txBody>
      </p:sp>
      <p:sp>
        <p:nvSpPr>
          <p:cNvPr id="3" name="文本框 2">
            <a:extLst>
              <a:ext uri="{FF2B5EF4-FFF2-40B4-BE49-F238E27FC236}">
                <a16:creationId xmlns:a16="http://schemas.microsoft.com/office/drawing/2014/main" id="{17B5B110-4185-47F3-A49F-057C84DB2B4C}"/>
              </a:ext>
            </a:extLst>
          </p:cNvPr>
          <p:cNvSpPr txBox="1"/>
          <p:nvPr/>
        </p:nvSpPr>
        <p:spPr>
          <a:xfrm>
            <a:off x="8037443" y="5563703"/>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cs typeface="Calibri"/>
              </a:rPr>
              <a:t>* Locks are applied when writing the output result of each parallel apply function into the to-be-returned list in order to avoid thread clashes.</a:t>
            </a:r>
          </a:p>
        </p:txBody>
      </p:sp>
      <p:sp>
        <p:nvSpPr>
          <p:cNvPr id="4" name="文本框 3">
            <a:extLst>
              <a:ext uri="{FF2B5EF4-FFF2-40B4-BE49-F238E27FC236}">
                <a16:creationId xmlns:a16="http://schemas.microsoft.com/office/drawing/2014/main" id="{D3C305DE-FD82-455E-9488-AEBEEFAD4072}"/>
              </a:ext>
            </a:extLst>
          </p:cNvPr>
          <p:cNvSpPr txBox="1"/>
          <p:nvPr/>
        </p:nvSpPr>
        <p:spPr>
          <a:xfrm>
            <a:off x="7628835" y="5155096"/>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11" name="文本框 10">
            <a:extLst>
              <a:ext uri="{FF2B5EF4-FFF2-40B4-BE49-F238E27FC236}">
                <a16:creationId xmlns:a16="http://schemas.microsoft.com/office/drawing/2014/main" id="{E832C8BC-C5B6-4C1B-929C-88C62DA38DD7}"/>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25" name="矩形 24">
            <a:extLst>
              <a:ext uri="{FF2B5EF4-FFF2-40B4-BE49-F238E27FC236}">
                <a16:creationId xmlns:a16="http://schemas.microsoft.com/office/drawing/2014/main" id="{F5745E42-1AC1-4BAB-ACD5-BF0A6D65314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26" name="直接箭头连接符 25">
            <a:extLst>
              <a:ext uri="{FF2B5EF4-FFF2-40B4-BE49-F238E27FC236}">
                <a16:creationId xmlns:a16="http://schemas.microsoft.com/office/drawing/2014/main" id="{07A0461D-DAC0-488E-8F15-3DDF22BD0FBC}"/>
              </a:ext>
            </a:extLst>
          </p:cNvPr>
          <p:cNvCxnSpPr>
            <a:cxnSpLocks/>
          </p:cNvCxnSpPr>
          <p:nvPr/>
        </p:nvCxnSpPr>
        <p:spPr>
          <a:xfrm flipH="1">
            <a:off x="9325114" y="2132495"/>
            <a:ext cx="13250" cy="439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0898ED09-C478-4455-8661-03F550A1E1AF}"/>
              </a:ext>
            </a:extLst>
          </p:cNvPr>
          <p:cNvSpPr/>
          <p:nvPr/>
        </p:nvSpPr>
        <p:spPr>
          <a:xfrm>
            <a:off x="1738155" y="2479703"/>
            <a:ext cx="1938527" cy="64007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Embed_D_i</a:t>
            </a:r>
            <a:endParaRPr lang="zh-CN" altLang="en-US"/>
          </a:p>
        </p:txBody>
      </p:sp>
      <p:sp>
        <p:nvSpPr>
          <p:cNvPr id="5" name="矩形 4">
            <a:extLst>
              <a:ext uri="{FF2B5EF4-FFF2-40B4-BE49-F238E27FC236}">
                <a16:creationId xmlns:a16="http://schemas.microsoft.com/office/drawing/2014/main" id="{08727ACE-F962-43FD-9545-2F6E112F707A}"/>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7" name="直接箭头连接符 6">
            <a:extLst>
              <a:ext uri="{FF2B5EF4-FFF2-40B4-BE49-F238E27FC236}">
                <a16:creationId xmlns:a16="http://schemas.microsoft.com/office/drawing/2014/main" id="{12503090-5225-45A2-8BB0-4C2AC3B19FD4}"/>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397D7087-5A64-4556-B8BB-7F390E8A88CA}"/>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15" name="直接箭头连接符 14">
            <a:extLst>
              <a:ext uri="{FF2B5EF4-FFF2-40B4-BE49-F238E27FC236}">
                <a16:creationId xmlns:a16="http://schemas.microsoft.com/office/drawing/2014/main" id="{9EBF6BD4-4647-4A02-9913-6D98A6D03A9D}"/>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927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标题 1">
            <a:extLst>
              <a:ext uri="{FF2B5EF4-FFF2-40B4-BE49-F238E27FC236}">
                <a16:creationId xmlns:a16="http://schemas.microsoft.com/office/drawing/2014/main" id="{85F701CF-057A-4CDE-B0FC-2CC284047B38}"/>
              </a:ext>
            </a:extLst>
          </p:cNvPr>
          <p:cNvSpPr txBox="1">
            <a:spLocks/>
          </p:cNvSpPr>
          <p:nvPr/>
        </p:nvSpPr>
        <p:spPr>
          <a:xfrm>
            <a:off x="765048" y="493141"/>
            <a:ext cx="10509504" cy="8927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a:latin typeface="SimSun"/>
                <a:ea typeface="SimSun"/>
                <a:cs typeface="Calibri Light"/>
              </a:rPr>
              <a:t>Operations of X_i on device D_i with nn.EmbeddingBag </a:t>
            </a:r>
            <a:r>
              <a:rPr lang="zh-CN" sz="2800">
                <a:latin typeface="SimSun"/>
                <a:ea typeface="SimSun"/>
                <a:cs typeface="Calibri Light"/>
              </a:rPr>
              <a:t>under</a:t>
            </a:r>
            <a:br>
              <a:rPr lang="zh-CN" sz="2800">
                <a:latin typeface="SimSun"/>
                <a:ea typeface="SimSun"/>
                <a:cs typeface="Calibri Light"/>
              </a:rPr>
            </a:br>
            <a:r>
              <a:rPr lang="zh-CN" sz="2800">
                <a:latin typeface="SimSun"/>
                <a:ea typeface="SimSun"/>
                <a:cs typeface="Calibri Light"/>
              </a:rPr>
              <a:t>the 'run_and_time.sh' setting</a:t>
            </a:r>
            <a:endParaRPr lang="zh-CN" sz="2800">
              <a:latin typeface="SimSun"/>
              <a:ea typeface="SimSun"/>
              <a:cs typeface="+mj-lt"/>
            </a:endParaRPr>
          </a:p>
        </p:txBody>
      </p:sp>
      <p:cxnSp>
        <p:nvCxnSpPr>
          <p:cNvPr id="181" name="直接箭头连接符 180">
            <a:extLst>
              <a:ext uri="{FF2B5EF4-FFF2-40B4-BE49-F238E27FC236}">
                <a16:creationId xmlns:a16="http://schemas.microsoft.com/office/drawing/2014/main" id="{E37279B4-3B55-48E7-9DD7-48C4144E1D5F}"/>
              </a:ext>
            </a:extLst>
          </p:cNvPr>
          <p:cNvCxnSpPr>
            <a:cxnSpLocks/>
          </p:cNvCxnSpPr>
          <p:nvPr/>
        </p:nvCxnSpPr>
        <p:spPr>
          <a:xfrm>
            <a:off x="3756107" y="3543585"/>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直接箭头连接符 182">
            <a:extLst>
              <a:ext uri="{FF2B5EF4-FFF2-40B4-BE49-F238E27FC236}">
                <a16:creationId xmlns:a16="http://schemas.microsoft.com/office/drawing/2014/main" id="{A62C7C45-0A84-4264-9A86-3331EB0E9F15}"/>
              </a:ext>
            </a:extLst>
          </p:cNvPr>
          <p:cNvCxnSpPr>
            <a:cxnSpLocks/>
          </p:cNvCxnSpPr>
          <p:nvPr/>
        </p:nvCxnSpPr>
        <p:spPr>
          <a:xfrm flipH="1">
            <a:off x="5840425" y="3464444"/>
            <a:ext cx="3162677" cy="562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5" name="菱形 184">
            <a:extLst>
              <a:ext uri="{FF2B5EF4-FFF2-40B4-BE49-F238E27FC236}">
                <a16:creationId xmlns:a16="http://schemas.microsoft.com/office/drawing/2014/main" id="{24EF2345-52A3-4ACB-A7B7-F01E45BF216D}"/>
              </a:ext>
            </a:extLst>
          </p:cNvPr>
          <p:cNvSpPr/>
          <p:nvPr/>
        </p:nvSpPr>
        <p:spPr>
          <a:xfrm>
            <a:off x="170401" y="4063669"/>
            <a:ext cx="11390243" cy="339785"/>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Concat the 2 tensors (and optionally do dot product with its own transposition)</a:t>
            </a:r>
          </a:p>
        </p:txBody>
      </p:sp>
      <p:cxnSp>
        <p:nvCxnSpPr>
          <p:cNvPr id="187" name="直接箭头连接符 186">
            <a:extLst>
              <a:ext uri="{FF2B5EF4-FFF2-40B4-BE49-F238E27FC236}">
                <a16:creationId xmlns:a16="http://schemas.microsoft.com/office/drawing/2014/main" id="{000D7689-3D51-4540-A093-272512545452}"/>
              </a:ext>
            </a:extLst>
          </p:cNvPr>
          <p:cNvCxnSpPr/>
          <p:nvPr/>
        </p:nvCxnSpPr>
        <p:spPr>
          <a:xfrm>
            <a:off x="5828830" y="4401263"/>
            <a:ext cx="2741" cy="1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87A87C0E-32E9-4805-AD92-F19F590BD42E}"/>
              </a:ext>
            </a:extLst>
          </p:cNvPr>
          <p:cNvCxnSpPr>
            <a:cxnSpLocks/>
          </p:cNvCxnSpPr>
          <p:nvPr/>
        </p:nvCxnSpPr>
        <p:spPr>
          <a:xfrm>
            <a:off x="5703463" y="6072625"/>
            <a:ext cx="1591" cy="180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矩形 190">
            <a:extLst>
              <a:ext uri="{FF2B5EF4-FFF2-40B4-BE49-F238E27FC236}">
                <a16:creationId xmlns:a16="http://schemas.microsoft.com/office/drawing/2014/main" id="{2F34E027-0BC7-4619-B76B-C0A1D6D6CFF5}"/>
              </a:ext>
            </a:extLst>
          </p:cNvPr>
          <p:cNvSpPr/>
          <p:nvPr/>
        </p:nvSpPr>
        <p:spPr>
          <a:xfrm>
            <a:off x="5281787" y="6257543"/>
            <a:ext cx="941256" cy="27891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Output_i</a:t>
            </a:r>
          </a:p>
        </p:txBody>
      </p:sp>
      <p:sp>
        <p:nvSpPr>
          <p:cNvPr id="197" name="矩形 196">
            <a:extLst>
              <a:ext uri="{FF2B5EF4-FFF2-40B4-BE49-F238E27FC236}">
                <a16:creationId xmlns:a16="http://schemas.microsoft.com/office/drawing/2014/main" id="{CCA41C2E-F747-4B06-A55F-F4E9C7E8964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99" name="直接箭头连接符 198">
            <a:extLst>
              <a:ext uri="{FF2B5EF4-FFF2-40B4-BE49-F238E27FC236}">
                <a16:creationId xmlns:a16="http://schemas.microsoft.com/office/drawing/2014/main" id="{BA4F921F-CAB9-4858-AB8D-4D6CCA6D327B}"/>
              </a:ext>
            </a:extLst>
          </p:cNvPr>
          <p:cNvCxnSpPr>
            <a:cxnSpLocks/>
          </p:cNvCxnSpPr>
          <p:nvPr/>
        </p:nvCxnSpPr>
        <p:spPr>
          <a:xfrm>
            <a:off x="9338364" y="2061640"/>
            <a:ext cx="5038" cy="220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3" name="矩形 202">
            <a:extLst>
              <a:ext uri="{FF2B5EF4-FFF2-40B4-BE49-F238E27FC236}">
                <a16:creationId xmlns:a16="http://schemas.microsoft.com/office/drawing/2014/main" id="{AE3AE479-2902-412B-8007-EC43D4B9BF3E}"/>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205" name="直接箭头连接符 204">
            <a:extLst>
              <a:ext uri="{FF2B5EF4-FFF2-40B4-BE49-F238E27FC236}">
                <a16:creationId xmlns:a16="http://schemas.microsoft.com/office/drawing/2014/main" id="{5DF9FA13-4552-4E16-BFA7-3F4314F0802A}"/>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7" name="矩形 206">
            <a:extLst>
              <a:ext uri="{FF2B5EF4-FFF2-40B4-BE49-F238E27FC236}">
                <a16:creationId xmlns:a16="http://schemas.microsoft.com/office/drawing/2014/main" id="{71356876-0EB9-44F7-92CF-CB657C87311F}"/>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209" name="直接箭头连接符 208">
            <a:extLst>
              <a:ext uri="{FF2B5EF4-FFF2-40B4-BE49-F238E27FC236}">
                <a16:creationId xmlns:a16="http://schemas.microsoft.com/office/drawing/2014/main" id="{05C6B27E-28EA-4A99-8236-F34BB73B09DA}"/>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D4DEB65D-5A78-4251-8077-BBA9C31E796F}"/>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278" name="矩形 277">
            <a:extLst>
              <a:ext uri="{FF2B5EF4-FFF2-40B4-BE49-F238E27FC236}">
                <a16:creationId xmlns:a16="http://schemas.microsoft.com/office/drawing/2014/main" id="{659A18CB-B989-426C-8DC8-F244CFDE2CF5}"/>
              </a:ext>
            </a:extLst>
          </p:cNvPr>
          <p:cNvSpPr/>
          <p:nvPr/>
        </p:nvSpPr>
        <p:spPr>
          <a:xfrm>
            <a:off x="2554224" y="4587240"/>
            <a:ext cx="7662672" cy="1481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9" name="矩形 278">
            <a:extLst>
              <a:ext uri="{FF2B5EF4-FFF2-40B4-BE49-F238E27FC236}">
                <a16:creationId xmlns:a16="http://schemas.microsoft.com/office/drawing/2014/main" id="{F878B274-41C4-4F44-829E-3648D7C67F7F}"/>
              </a:ext>
            </a:extLst>
          </p:cNvPr>
          <p:cNvSpPr/>
          <p:nvPr/>
        </p:nvSpPr>
        <p:spPr>
          <a:xfrm>
            <a:off x="6589776" y="2282951"/>
            <a:ext cx="5498592" cy="11826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303">
            <a:extLst>
              <a:ext uri="{FF2B5EF4-FFF2-40B4-BE49-F238E27FC236}">
                <a16:creationId xmlns:a16="http://schemas.microsoft.com/office/drawing/2014/main" id="{9A587998-8F4F-4BA2-96B2-8788B8A99CE8}"/>
              </a:ext>
            </a:extLst>
          </p:cNvPr>
          <p:cNvSpPr/>
          <p:nvPr/>
        </p:nvSpPr>
        <p:spPr>
          <a:xfrm>
            <a:off x="560831" y="2490215"/>
            <a:ext cx="3194304" cy="1481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9DC2AD0-6AB0-4487-9B7D-2A7792621304}"/>
              </a:ext>
            </a:extLst>
          </p:cNvPr>
          <p:cNvGrpSpPr/>
          <p:nvPr/>
        </p:nvGrpSpPr>
        <p:grpSpPr>
          <a:xfrm>
            <a:off x="6620189" y="2331723"/>
            <a:ext cx="5578240" cy="1016144"/>
            <a:chOff x="1213038" y="3488302"/>
            <a:chExt cx="5639201" cy="1662313"/>
          </a:xfrm>
        </p:grpSpPr>
        <p:sp>
          <p:nvSpPr>
            <p:cNvPr id="97" name="文本框 96">
              <a:extLst>
                <a:ext uri="{FF2B5EF4-FFF2-40B4-BE49-F238E27FC236}">
                  <a16:creationId xmlns:a16="http://schemas.microsoft.com/office/drawing/2014/main" id="{BB5E55D3-B399-4602-A6CA-16C72EACEFDC}"/>
                </a:ext>
              </a:extLst>
            </p:cNvPr>
            <p:cNvSpPr txBox="1"/>
            <p:nvPr/>
          </p:nvSpPr>
          <p:spPr>
            <a:xfrm>
              <a:off x="1213038" y="4090159"/>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13]</a:t>
              </a:r>
              <a:endParaRPr lang="zh-CN" sz="600">
                <a:ea typeface="宋体"/>
                <a:cs typeface="Calibri"/>
              </a:endParaRPr>
            </a:p>
          </p:txBody>
        </p:sp>
        <p:sp>
          <p:nvSpPr>
            <p:cNvPr id="98" name="矩形 97">
              <a:extLst>
                <a:ext uri="{FF2B5EF4-FFF2-40B4-BE49-F238E27FC236}">
                  <a16:creationId xmlns:a16="http://schemas.microsoft.com/office/drawing/2014/main" id="{F82A6250-98B1-461E-9CF7-84DCCFFC2F78}"/>
                </a:ext>
              </a:extLst>
            </p:cNvPr>
            <p:cNvSpPr/>
            <p:nvPr/>
          </p:nvSpPr>
          <p:spPr>
            <a:xfrm rot="16200000">
              <a:off x="1420368" y="4075176"/>
              <a:ext cx="1280160" cy="146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860D4F39-168A-4B2E-A40D-095DC9923A93}"/>
                </a:ext>
              </a:extLst>
            </p:cNvPr>
            <p:cNvSpPr txBox="1"/>
            <p:nvPr/>
          </p:nvSpPr>
          <p:spPr>
            <a:xfrm>
              <a:off x="1879435" y="4781283"/>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13]</a:t>
              </a:r>
            </a:p>
            <a:p>
              <a:r>
                <a:rPr lang="zh-CN" altLang="en-US" sz="600">
                  <a:ea typeface="宋体"/>
                  <a:cs typeface="Calibri"/>
                </a:rPr>
                <a:t>+</a:t>
              </a:r>
            </a:p>
            <a:p>
              <a:r>
                <a:rPr lang="zh-CN" altLang="en-US" sz="600">
                  <a:ea typeface="宋体"/>
                  <a:cs typeface="Calibri"/>
                </a:rPr>
                <a:t>ReLU</a:t>
              </a:r>
            </a:p>
          </p:txBody>
        </p:sp>
        <p:sp>
          <p:nvSpPr>
            <p:cNvPr id="100" name="文本框 99">
              <a:extLst>
                <a:ext uri="{FF2B5EF4-FFF2-40B4-BE49-F238E27FC236}">
                  <a16:creationId xmlns:a16="http://schemas.microsoft.com/office/drawing/2014/main" id="{C7AB2D07-9ECA-499A-BC05-D9C6E8F2B3B6}"/>
                </a:ext>
              </a:extLst>
            </p:cNvPr>
            <p:cNvSpPr txBox="1"/>
            <p:nvPr/>
          </p:nvSpPr>
          <p:spPr>
            <a:xfrm>
              <a:off x="3303965" y="4514721"/>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dirty="0">
                  <a:ea typeface="+mn-lt"/>
                  <a:cs typeface="+mn-lt"/>
                </a:rPr>
                <a:t>, </a:t>
              </a:r>
              <a:r>
                <a:rPr lang="en-US" altLang="zh-CN" sz="600" dirty="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1" name="矩形 100">
              <a:extLst>
                <a:ext uri="{FF2B5EF4-FFF2-40B4-BE49-F238E27FC236}">
                  <a16:creationId xmlns:a16="http://schemas.microsoft.com/office/drawing/2014/main" id="{D6529202-A744-40EB-B723-A0C6CCE0180A}"/>
                </a:ext>
              </a:extLst>
            </p:cNvPr>
            <p:cNvSpPr/>
            <p:nvPr/>
          </p:nvSpPr>
          <p:spPr>
            <a:xfrm>
              <a:off x="3121152" y="3776472"/>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8194F929-6658-47BC-BC6F-CBD8DABFC948}"/>
                </a:ext>
              </a:extLst>
            </p:cNvPr>
            <p:cNvSpPr/>
            <p:nvPr/>
          </p:nvSpPr>
          <p:spPr>
            <a:xfrm rot="16200000">
              <a:off x="1557661" y="4070470"/>
              <a:ext cx="1292351" cy="12801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B9C5AA47-AD59-4C90-85CB-94C1AB407AC0}"/>
                </a:ext>
              </a:extLst>
            </p:cNvPr>
            <p:cNvSpPr/>
            <p:nvPr/>
          </p:nvSpPr>
          <p:spPr>
            <a:xfrm rot="16200000">
              <a:off x="3916680" y="4096512"/>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a:extLst>
                <a:ext uri="{FF2B5EF4-FFF2-40B4-BE49-F238E27FC236}">
                  <a16:creationId xmlns:a16="http://schemas.microsoft.com/office/drawing/2014/main" id="{F1B9E268-D478-4133-A3A8-99FC5905A23A}"/>
                </a:ext>
              </a:extLst>
            </p:cNvPr>
            <p:cNvSpPr txBox="1"/>
            <p:nvPr/>
          </p:nvSpPr>
          <p:spPr>
            <a:xfrm>
              <a:off x="5199821" y="4368417"/>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[1</a:t>
              </a:r>
              <a:r>
                <a:rPr lang="en-US" altLang="zh-CN" sz="600">
                  <a:ea typeface="+mn-lt"/>
                  <a:cs typeface="+mn-lt"/>
                </a:rPr>
                <a:t>28,</a:t>
              </a:r>
              <a:r>
                <a:rPr lang="zh-CN" altLang="en-US" sz="600" dirty="0">
                  <a:ea typeface="+mn-lt"/>
                  <a:cs typeface="+mn-lt"/>
                </a:rPr>
                <a:t> </a:t>
              </a:r>
              <a:r>
                <a:rPr lang="en-US" altLang="en-US" sz="60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5" name="矩形 104">
              <a:extLst>
                <a:ext uri="{FF2B5EF4-FFF2-40B4-BE49-F238E27FC236}">
                  <a16:creationId xmlns:a16="http://schemas.microsoft.com/office/drawing/2014/main" id="{53332877-A20E-4336-9BA7-25D054FF89A1}"/>
                </a:ext>
              </a:extLst>
            </p:cNvPr>
            <p:cNvSpPr/>
            <p:nvPr/>
          </p:nvSpPr>
          <p:spPr>
            <a:xfrm rot="5400000">
              <a:off x="5370576" y="3813047"/>
              <a:ext cx="384048" cy="707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25D11349-BF13-405D-98C8-658FC92D4AA9}"/>
                </a:ext>
              </a:extLst>
            </p:cNvPr>
            <p:cNvSpPr/>
            <p:nvPr/>
          </p:nvSpPr>
          <p:spPr>
            <a:xfrm rot="16200000">
              <a:off x="5763768" y="4126992"/>
              <a:ext cx="390144"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AA5B010C-D933-4553-8B64-D3AEE2E346FC}"/>
                </a:ext>
              </a:extLst>
            </p:cNvPr>
            <p:cNvSpPr txBox="1"/>
            <p:nvPr/>
          </p:nvSpPr>
          <p:spPr>
            <a:xfrm>
              <a:off x="2304221" y="4046392"/>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sp>
          <p:nvSpPr>
            <p:cNvPr id="108" name="文本框 107">
              <a:extLst>
                <a:ext uri="{FF2B5EF4-FFF2-40B4-BE49-F238E27FC236}">
                  <a16:creationId xmlns:a16="http://schemas.microsoft.com/office/drawing/2014/main" id="{A43A1EF2-103D-49E9-B7AA-8BDE819063BC}"/>
                </a:ext>
              </a:extLst>
            </p:cNvPr>
            <p:cNvSpPr txBox="1"/>
            <p:nvPr/>
          </p:nvSpPr>
          <p:spPr>
            <a:xfrm>
              <a:off x="4328093" y="4130611"/>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109" name="文本框 108">
              <a:extLst>
                <a:ext uri="{FF2B5EF4-FFF2-40B4-BE49-F238E27FC236}">
                  <a16:creationId xmlns:a16="http://schemas.microsoft.com/office/drawing/2014/main" id="{7BBF644E-97A1-4B3E-B67D-A4ECBAF2AC39}"/>
                </a:ext>
              </a:extLst>
            </p:cNvPr>
            <p:cNvSpPr txBox="1"/>
            <p:nvPr/>
          </p:nvSpPr>
          <p:spPr>
            <a:xfrm>
              <a:off x="5937437" y="4137270"/>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128]</a:t>
              </a:r>
              <a:endParaRPr lang="zh-CN" sz="600">
                <a:ea typeface="宋体"/>
                <a:cs typeface="Calibri"/>
              </a:endParaRPr>
            </a:p>
          </p:txBody>
        </p:sp>
        <p:cxnSp>
          <p:nvCxnSpPr>
            <p:cNvPr id="110" name="直接箭头连接符 109">
              <a:extLst>
                <a:ext uri="{FF2B5EF4-FFF2-40B4-BE49-F238E27FC236}">
                  <a16:creationId xmlns:a16="http://schemas.microsoft.com/office/drawing/2014/main" id="{F7AF1A0A-F89A-45C1-9CFB-7A27BF0CD700}"/>
                </a:ext>
              </a:extLst>
            </p:cNvPr>
            <p:cNvCxnSpPr/>
            <p:nvPr/>
          </p:nvCxnSpPr>
          <p:spPr>
            <a:xfrm flipV="1">
              <a:off x="1269332" y="4142324"/>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F87688C5-5EC9-47DF-81EE-048B994740CE}"/>
                </a:ext>
              </a:extLst>
            </p:cNvPr>
            <p:cNvCxnSpPr>
              <a:cxnSpLocks/>
            </p:cNvCxnSpPr>
            <p:nvPr/>
          </p:nvCxnSpPr>
          <p:spPr>
            <a:xfrm>
              <a:off x="2250787" y="4116091"/>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B81E2477-B977-4FB2-BD29-9B116A4605E0}"/>
                </a:ext>
              </a:extLst>
            </p:cNvPr>
            <p:cNvCxnSpPr>
              <a:cxnSpLocks/>
            </p:cNvCxnSpPr>
            <p:nvPr/>
          </p:nvCxnSpPr>
          <p:spPr>
            <a:xfrm>
              <a:off x="4347811" y="4183147"/>
              <a:ext cx="860117" cy="7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FF0BC785-1C06-483C-BA88-01C56D9797DF}"/>
                </a:ext>
              </a:extLst>
            </p:cNvPr>
            <p:cNvCxnSpPr>
              <a:cxnSpLocks/>
            </p:cNvCxnSpPr>
            <p:nvPr/>
          </p:nvCxnSpPr>
          <p:spPr>
            <a:xfrm>
              <a:off x="5993731" y="4183147"/>
              <a:ext cx="658949"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4BEAA42E-3382-49A9-9F44-AB2AAC10E45F}"/>
              </a:ext>
            </a:extLst>
          </p:cNvPr>
          <p:cNvGrpSpPr/>
          <p:nvPr/>
        </p:nvGrpSpPr>
        <p:grpSpPr>
          <a:xfrm>
            <a:off x="627730" y="2550197"/>
            <a:ext cx="2959413" cy="1458108"/>
            <a:chOff x="5555422" y="2403893"/>
            <a:chExt cx="4936392" cy="2285581"/>
          </a:xfrm>
        </p:grpSpPr>
        <p:sp>
          <p:nvSpPr>
            <p:cNvPr id="79" name="文本框 78">
              <a:extLst>
                <a:ext uri="{FF2B5EF4-FFF2-40B4-BE49-F238E27FC236}">
                  <a16:creationId xmlns:a16="http://schemas.microsoft.com/office/drawing/2014/main" id="{740FB07F-687C-4A76-AE1D-D3EDE7AFBD6F}"/>
                </a:ext>
              </a:extLst>
            </p:cNvPr>
            <p:cNvSpPr txBox="1"/>
            <p:nvPr/>
          </p:nvSpPr>
          <p:spPr>
            <a:xfrm>
              <a:off x="8770683" y="3213106"/>
              <a:ext cx="1721131" cy="2894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rPr>
                <a:t>Output: [offset_size, m]</a:t>
              </a:r>
              <a:endParaRPr lang="zh-CN" sz="600">
                <a:ea typeface="宋体"/>
                <a:cs typeface="Calibri"/>
              </a:endParaRPr>
            </a:p>
          </p:txBody>
        </p:sp>
        <p:sp>
          <p:nvSpPr>
            <p:cNvPr id="80" name="文本框 79">
              <a:extLst>
                <a:ext uri="{FF2B5EF4-FFF2-40B4-BE49-F238E27FC236}">
                  <a16:creationId xmlns:a16="http://schemas.microsoft.com/office/drawing/2014/main" id="{3A55755F-B076-4377-8D56-E4E2475EA0EF}"/>
                </a:ext>
              </a:extLst>
            </p:cNvPr>
            <p:cNvSpPr txBox="1"/>
            <p:nvPr/>
          </p:nvSpPr>
          <p:spPr>
            <a:xfrm>
              <a:off x="6015899" y="3487548"/>
              <a:ext cx="2304689" cy="434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 [offset_size]</a:t>
              </a:r>
              <a:endParaRPr lang="zh-CN" altLang="en-US" sz="600" dirty="0">
                <a:ea typeface="宋体"/>
                <a:cs typeface="Calibri"/>
              </a:endParaRPr>
            </a:p>
            <a:p>
              <a:endParaRPr lang="zh-CN" altLang="en-US" sz="600" dirty="0">
                <a:ea typeface="宋体"/>
                <a:cs typeface="Calibri"/>
              </a:endParaRPr>
            </a:p>
          </p:txBody>
        </p:sp>
        <p:grpSp>
          <p:nvGrpSpPr>
            <p:cNvPr id="81" name="组合 80">
              <a:extLst>
                <a:ext uri="{FF2B5EF4-FFF2-40B4-BE49-F238E27FC236}">
                  <a16:creationId xmlns:a16="http://schemas.microsoft.com/office/drawing/2014/main" id="{81A780EA-ADFA-462D-801A-1EB9A9A135EA}"/>
                </a:ext>
              </a:extLst>
            </p:cNvPr>
            <p:cNvGrpSpPr/>
            <p:nvPr/>
          </p:nvGrpSpPr>
          <p:grpSpPr>
            <a:xfrm>
              <a:off x="5555422" y="2403893"/>
              <a:ext cx="4193146" cy="2285581"/>
              <a:chOff x="5555422" y="2403893"/>
              <a:chExt cx="4193146" cy="2285581"/>
            </a:xfrm>
          </p:grpSpPr>
          <p:sp>
            <p:nvSpPr>
              <p:cNvPr id="82" name="文本框 81">
                <a:extLst>
                  <a:ext uri="{FF2B5EF4-FFF2-40B4-BE49-F238E27FC236}">
                    <a16:creationId xmlns:a16="http://schemas.microsoft.com/office/drawing/2014/main" id="{7C134970-530F-4BCC-BC99-9FCDBC25C2A0}"/>
                  </a:ext>
                </a:extLst>
              </p:cNvPr>
              <p:cNvSpPr txBox="1"/>
              <p:nvPr/>
            </p:nvSpPr>
            <p:spPr>
              <a:xfrm>
                <a:off x="5555422" y="2814345"/>
                <a:ext cx="2304690" cy="434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[batch_size]</a:t>
                </a:r>
                <a:endParaRPr lang="zh-CN" altLang="en-US" sz="600" dirty="0">
                  <a:ea typeface="宋体"/>
                  <a:cs typeface="Calibri"/>
                </a:endParaRPr>
              </a:p>
              <a:p>
                <a:endParaRPr lang="zh-CN" altLang="en-US" sz="600" dirty="0">
                  <a:ea typeface="宋体"/>
                  <a:cs typeface="Calibri"/>
                </a:endParaRPr>
              </a:p>
            </p:txBody>
          </p:sp>
          <p:sp>
            <p:nvSpPr>
              <p:cNvPr id="83" name="矩形 82">
                <a:extLst>
                  <a:ext uri="{FF2B5EF4-FFF2-40B4-BE49-F238E27FC236}">
                    <a16:creationId xmlns:a16="http://schemas.microsoft.com/office/drawing/2014/main" id="{7EE56F18-850F-44E1-A0EE-9392E92EEE68}"/>
                  </a:ext>
                </a:extLst>
              </p:cNvPr>
              <p:cNvSpPr/>
              <p:nvPr/>
            </p:nvSpPr>
            <p:spPr>
              <a:xfrm>
                <a:off x="7364083" y="2403893"/>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DA5B99E8-0475-4F54-A628-C0A1F59B3743}"/>
                  </a:ext>
                </a:extLst>
              </p:cNvPr>
              <p:cNvSpPr txBox="1"/>
              <p:nvPr/>
            </p:nvSpPr>
            <p:spPr>
              <a:xfrm>
                <a:off x="7138899" y="4400010"/>
                <a:ext cx="2074652" cy="2894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nn.EmbeddingBag: [n, m]</a:t>
                </a:r>
              </a:p>
            </p:txBody>
          </p:sp>
          <p:cxnSp>
            <p:nvCxnSpPr>
              <p:cNvPr id="85" name="直接箭头连接符 84">
                <a:extLst>
                  <a:ext uri="{FF2B5EF4-FFF2-40B4-BE49-F238E27FC236}">
                    <a16:creationId xmlns:a16="http://schemas.microsoft.com/office/drawing/2014/main" id="{29D5A028-7B24-44B7-A5B6-3ABEAFED2F19}"/>
                  </a:ext>
                </a:extLst>
              </p:cNvPr>
              <p:cNvCxnSpPr/>
              <p:nvPr/>
            </p:nvCxnSpPr>
            <p:spPr>
              <a:xfrm flipV="1">
                <a:off x="6092903" y="3063514"/>
                <a:ext cx="1270828" cy="6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E22121D3-F84A-4B2F-A65C-F3EF279E0C57}"/>
                  </a:ext>
                </a:extLst>
              </p:cNvPr>
              <p:cNvCxnSpPr/>
              <p:nvPr/>
            </p:nvCxnSpPr>
            <p:spPr>
              <a:xfrm>
                <a:off x="8884488" y="3442658"/>
                <a:ext cx="864080" cy="1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F10F91B4-1E2E-401E-8D08-7CE814EC54E1}"/>
                  </a:ext>
                </a:extLst>
              </p:cNvPr>
              <p:cNvCxnSpPr>
                <a:cxnSpLocks/>
              </p:cNvCxnSpPr>
              <p:nvPr/>
            </p:nvCxnSpPr>
            <p:spPr>
              <a:xfrm>
                <a:off x="6117850" y="3720305"/>
                <a:ext cx="1225135" cy="13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6" name="组合 5">
            <a:extLst>
              <a:ext uri="{FF2B5EF4-FFF2-40B4-BE49-F238E27FC236}">
                <a16:creationId xmlns:a16="http://schemas.microsoft.com/office/drawing/2014/main" id="{B7DA465E-CF91-4017-8C9D-252D056B4D30}"/>
              </a:ext>
            </a:extLst>
          </p:cNvPr>
          <p:cNvGrpSpPr/>
          <p:nvPr/>
        </p:nvGrpSpPr>
        <p:grpSpPr>
          <a:xfrm>
            <a:off x="2706558" y="4816301"/>
            <a:ext cx="7486292" cy="1360100"/>
            <a:chOff x="786318" y="3328876"/>
            <a:chExt cx="10705766" cy="2389089"/>
          </a:xfrm>
        </p:grpSpPr>
        <p:sp>
          <p:nvSpPr>
            <p:cNvPr id="91" name="文本框 90">
              <a:extLst>
                <a:ext uri="{FF2B5EF4-FFF2-40B4-BE49-F238E27FC236}">
                  <a16:creationId xmlns:a16="http://schemas.microsoft.com/office/drawing/2014/main" id="{660026AD-F180-4338-A229-AD14993F3B52}"/>
                </a:ext>
              </a:extLst>
            </p:cNvPr>
            <p:cNvSpPr txBox="1"/>
            <p:nvPr/>
          </p:nvSpPr>
          <p:spPr>
            <a:xfrm>
              <a:off x="786318" y="3971331"/>
              <a:ext cx="914801" cy="1746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479]</a:t>
              </a:r>
              <a:endParaRPr lang="zh-CN" sz="600">
                <a:ea typeface="宋体"/>
                <a:cs typeface="Calibri"/>
              </a:endParaRPr>
            </a:p>
          </p:txBody>
        </p:sp>
        <p:sp>
          <p:nvSpPr>
            <p:cNvPr id="92" name="矩形 91">
              <a:extLst>
                <a:ext uri="{FF2B5EF4-FFF2-40B4-BE49-F238E27FC236}">
                  <a16:creationId xmlns:a16="http://schemas.microsoft.com/office/drawing/2014/main" id="{E5EF11FA-A143-4D26-ADA6-133863ED154A}"/>
                </a:ext>
              </a:extLst>
            </p:cNvPr>
            <p:cNvSpPr/>
            <p:nvPr/>
          </p:nvSpPr>
          <p:spPr>
            <a:xfrm>
              <a:off x="1591056" y="3392424"/>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6C5E562D-9F79-4A20-BB32-C16E8DA2850E}"/>
                </a:ext>
              </a:extLst>
            </p:cNvPr>
            <p:cNvSpPr txBox="1"/>
            <p:nvPr/>
          </p:nvSpPr>
          <p:spPr>
            <a:xfrm>
              <a:off x="1511740" y="4691505"/>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a:t>
              </a:r>
              <a:r>
                <a:rPr lang="zh-CN" altLang="en-US" sz="600" dirty="0">
                  <a:ea typeface="宋体"/>
                  <a:cs typeface="Calibri"/>
                </a:rPr>
                <a:t>479]</a:t>
              </a:r>
            </a:p>
            <a:p>
              <a:r>
                <a:rPr lang="zh-CN" altLang="en-US" sz="600">
                  <a:ea typeface="宋体"/>
                  <a:cs typeface="Calibri"/>
                </a:rPr>
                <a:t>+</a:t>
              </a:r>
            </a:p>
            <a:p>
              <a:r>
                <a:rPr lang="zh-CN" altLang="en-US" sz="600">
                  <a:ea typeface="宋体"/>
                  <a:cs typeface="Calibri"/>
                </a:rPr>
                <a:t>ReLU</a:t>
              </a:r>
            </a:p>
          </p:txBody>
        </p:sp>
        <p:sp>
          <p:nvSpPr>
            <p:cNvPr id="94" name="文本框 93">
              <a:extLst>
                <a:ext uri="{FF2B5EF4-FFF2-40B4-BE49-F238E27FC236}">
                  <a16:creationId xmlns:a16="http://schemas.microsoft.com/office/drawing/2014/main" id="{F2D1C669-01FD-48CB-AA2C-00EA3B0C4757}"/>
                </a:ext>
              </a:extLst>
            </p:cNvPr>
            <p:cNvSpPr txBox="1"/>
            <p:nvPr/>
          </p:nvSpPr>
          <p:spPr>
            <a:xfrm>
              <a:off x="8002275" y="4342230"/>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a:ea typeface="+mn-lt"/>
                  <a:cs typeface="+mn-lt"/>
                </a:rPr>
                <a:t>, </a:t>
              </a:r>
              <a:r>
                <a:rPr lang="en-US" altLang="zh-CN" sz="60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95" name="矩形 94">
              <a:extLst>
                <a:ext uri="{FF2B5EF4-FFF2-40B4-BE49-F238E27FC236}">
                  <a16:creationId xmlns:a16="http://schemas.microsoft.com/office/drawing/2014/main" id="{7C82D19A-E6D7-44CD-A3E1-8092A7BD1685}"/>
                </a:ext>
              </a:extLst>
            </p:cNvPr>
            <p:cNvSpPr/>
            <p:nvPr/>
          </p:nvSpPr>
          <p:spPr>
            <a:xfrm>
              <a:off x="8010144" y="3672840"/>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95">
              <a:extLst>
                <a:ext uri="{FF2B5EF4-FFF2-40B4-BE49-F238E27FC236}">
                  <a16:creationId xmlns:a16="http://schemas.microsoft.com/office/drawing/2014/main" id="{E954C1C5-6A00-4B94-BE69-51984F5ADDAA}"/>
                </a:ext>
              </a:extLst>
            </p:cNvPr>
            <p:cNvSpPr/>
            <p:nvPr/>
          </p:nvSpPr>
          <p:spPr>
            <a:xfrm rot="16200000">
              <a:off x="1837944" y="4005072"/>
              <a:ext cx="1292352"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62208A49-ECD9-43B2-AFF1-E77F94AB2279}"/>
                </a:ext>
              </a:extLst>
            </p:cNvPr>
            <p:cNvSpPr/>
            <p:nvPr/>
          </p:nvSpPr>
          <p:spPr>
            <a:xfrm rot="16200000">
              <a:off x="8805672" y="3992880"/>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文本框 114">
              <a:extLst>
                <a:ext uri="{FF2B5EF4-FFF2-40B4-BE49-F238E27FC236}">
                  <a16:creationId xmlns:a16="http://schemas.microsoft.com/office/drawing/2014/main" id="{AC39BC14-7290-4ED3-AB91-F2212CBDF8A4}"/>
                </a:ext>
              </a:extLst>
            </p:cNvPr>
            <p:cNvSpPr txBox="1"/>
            <p:nvPr/>
          </p:nvSpPr>
          <p:spPr>
            <a:xfrm>
              <a:off x="9718789" y="4076493"/>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altLang="en-US" sz="600" dirty="0">
                  <a:ea typeface="+mn-lt"/>
                  <a:cs typeface="+mn-lt"/>
                </a:rPr>
                <a:t> </a:t>
              </a:r>
              <a:r>
                <a:rPr lang="zh-CN" sz="600">
                  <a:ea typeface="+mn-lt"/>
                  <a:cs typeface="+mn-lt"/>
                </a:rPr>
                <a:t>[1</a:t>
              </a:r>
              <a:r>
                <a:rPr lang="en-US" altLang="zh-CN" sz="600">
                  <a:ea typeface="+mn-lt"/>
                  <a:cs typeface="+mn-lt"/>
                </a:rPr>
                <a:t>,</a:t>
              </a:r>
              <a:r>
                <a:rPr lang="zh-CN" altLang="en-US" sz="600" dirty="0">
                  <a:ea typeface="+mn-lt"/>
                  <a:cs typeface="+mn-lt"/>
                </a:rPr>
                <a:t> </a:t>
              </a:r>
              <a:r>
                <a:rPr lang="en-US" altLang="en-US" sz="600" dirty="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Sigmoid</a:t>
              </a:r>
            </a:p>
          </p:txBody>
        </p:sp>
        <p:sp>
          <p:nvSpPr>
            <p:cNvPr id="143" name="矩形 142">
              <a:extLst>
                <a:ext uri="{FF2B5EF4-FFF2-40B4-BE49-F238E27FC236}">
                  <a16:creationId xmlns:a16="http://schemas.microsoft.com/office/drawing/2014/main" id="{3B62FBF6-780E-4441-896A-BE9C4A91918D}"/>
                </a:ext>
              </a:extLst>
            </p:cNvPr>
            <p:cNvSpPr/>
            <p:nvPr/>
          </p:nvSpPr>
          <p:spPr>
            <a:xfrm rot="5400000">
              <a:off x="10192512" y="3715511"/>
              <a:ext cx="54864" cy="74371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a:extLst>
                <a:ext uri="{FF2B5EF4-FFF2-40B4-BE49-F238E27FC236}">
                  <a16:creationId xmlns:a16="http://schemas.microsoft.com/office/drawing/2014/main" id="{BDAE7D97-4683-4711-B601-7AC6E4F6B08B}"/>
                </a:ext>
              </a:extLst>
            </p:cNvPr>
            <p:cNvSpPr/>
            <p:nvPr/>
          </p:nvSpPr>
          <p:spPr>
            <a:xfrm rot="16200000">
              <a:off x="10588752" y="4050792"/>
              <a:ext cx="60960" cy="4876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文本框 144">
              <a:extLst>
                <a:ext uri="{FF2B5EF4-FFF2-40B4-BE49-F238E27FC236}">
                  <a16:creationId xmlns:a16="http://schemas.microsoft.com/office/drawing/2014/main" id="{198C8C8B-641E-4425-8054-31D40CCD2134}"/>
                </a:ext>
              </a:extLst>
            </p:cNvPr>
            <p:cNvSpPr txBox="1"/>
            <p:nvPr/>
          </p:nvSpPr>
          <p:spPr>
            <a:xfrm>
              <a:off x="2487101" y="3971492"/>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sp>
          <p:nvSpPr>
            <p:cNvPr id="146" name="文本框 145">
              <a:extLst>
                <a:ext uri="{FF2B5EF4-FFF2-40B4-BE49-F238E27FC236}">
                  <a16:creationId xmlns:a16="http://schemas.microsoft.com/office/drawing/2014/main" id="{0F6F9BE9-E7F4-45C3-BCCF-2ECF5E77AAFD}"/>
                </a:ext>
              </a:extLst>
            </p:cNvPr>
            <p:cNvSpPr txBox="1"/>
            <p:nvPr/>
          </p:nvSpPr>
          <p:spPr>
            <a:xfrm>
              <a:off x="9150881" y="4010876"/>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4: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147" name="文本框 146">
              <a:extLst>
                <a:ext uri="{FF2B5EF4-FFF2-40B4-BE49-F238E27FC236}">
                  <a16:creationId xmlns:a16="http://schemas.microsoft.com/office/drawing/2014/main" id="{A3C67E50-BF7D-4C86-80B9-A600BD30C7AB}"/>
                </a:ext>
              </a:extLst>
            </p:cNvPr>
            <p:cNvSpPr txBox="1"/>
            <p:nvPr/>
          </p:nvSpPr>
          <p:spPr>
            <a:xfrm>
              <a:off x="10577283" y="3994072"/>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5: </a:t>
              </a:r>
              <a:endParaRPr lang="zh-CN" sz="600">
                <a:ea typeface="宋体"/>
                <a:cs typeface="Calibri"/>
              </a:endParaRPr>
            </a:p>
            <a:p>
              <a:r>
                <a:rPr lang="zh-CN" altLang="en-US" sz="600">
                  <a:ea typeface="宋体"/>
                  <a:cs typeface="Calibri"/>
                </a:rPr>
                <a:t>[batch_size, 1]</a:t>
              </a:r>
              <a:endParaRPr lang="zh-CN" sz="600">
                <a:ea typeface="宋体"/>
                <a:cs typeface="Calibri"/>
              </a:endParaRPr>
            </a:p>
          </p:txBody>
        </p:sp>
        <p:cxnSp>
          <p:nvCxnSpPr>
            <p:cNvPr id="148" name="直接箭头连接符 147">
              <a:extLst>
                <a:ext uri="{FF2B5EF4-FFF2-40B4-BE49-F238E27FC236}">
                  <a16:creationId xmlns:a16="http://schemas.microsoft.com/office/drawing/2014/main" id="{1D3660D3-66B8-4C80-A89B-551CC244C16A}"/>
                </a:ext>
              </a:extLst>
            </p:cNvPr>
            <p:cNvCxnSpPr/>
            <p:nvPr/>
          </p:nvCxnSpPr>
          <p:spPr>
            <a:xfrm flipV="1">
              <a:off x="860900" y="4032596"/>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2549DFA7-1BDC-4478-BEAC-90670AF15EDD}"/>
                </a:ext>
              </a:extLst>
            </p:cNvPr>
            <p:cNvCxnSpPr>
              <a:cxnSpLocks/>
            </p:cNvCxnSpPr>
            <p:nvPr/>
          </p:nvCxnSpPr>
          <p:spPr>
            <a:xfrm>
              <a:off x="2525107" y="4018555"/>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3D273D9D-54B3-401D-81C4-864869D3FD2D}"/>
                </a:ext>
              </a:extLst>
            </p:cNvPr>
            <p:cNvCxnSpPr>
              <a:cxnSpLocks/>
            </p:cNvCxnSpPr>
            <p:nvPr/>
          </p:nvCxnSpPr>
          <p:spPr>
            <a:xfrm flipV="1">
              <a:off x="9230707" y="4081363"/>
              <a:ext cx="597989" cy="4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直接箭头连接符 150">
              <a:extLst>
                <a:ext uri="{FF2B5EF4-FFF2-40B4-BE49-F238E27FC236}">
                  <a16:creationId xmlns:a16="http://schemas.microsoft.com/office/drawing/2014/main" id="{965D2C8C-5AC1-4A01-AC6E-FCB87025A929}"/>
                </a:ext>
              </a:extLst>
            </p:cNvPr>
            <p:cNvCxnSpPr>
              <a:cxnSpLocks/>
            </p:cNvCxnSpPr>
            <p:nvPr/>
          </p:nvCxnSpPr>
          <p:spPr>
            <a:xfrm>
              <a:off x="10698075" y="4073419"/>
              <a:ext cx="555317"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2" name="矩形 151">
              <a:extLst>
                <a:ext uri="{FF2B5EF4-FFF2-40B4-BE49-F238E27FC236}">
                  <a16:creationId xmlns:a16="http://schemas.microsoft.com/office/drawing/2014/main" id="{B98F2F2D-E470-425F-BD62-2AD40F4CF8DD}"/>
                </a:ext>
              </a:extLst>
            </p:cNvPr>
            <p:cNvSpPr/>
            <p:nvPr/>
          </p:nvSpPr>
          <p:spPr>
            <a:xfrm>
              <a:off x="3396736" y="3328876"/>
              <a:ext cx="1527107" cy="14111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152">
              <a:extLst>
                <a:ext uri="{FF2B5EF4-FFF2-40B4-BE49-F238E27FC236}">
                  <a16:creationId xmlns:a16="http://schemas.microsoft.com/office/drawing/2014/main" id="{ACD8BFBD-2676-473F-AE37-8A78637DDDBC}"/>
                </a:ext>
              </a:extLst>
            </p:cNvPr>
            <p:cNvSpPr txBox="1"/>
            <p:nvPr/>
          </p:nvSpPr>
          <p:spPr>
            <a:xfrm>
              <a:off x="3584381" y="4734177"/>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1024]</a:t>
              </a:r>
            </a:p>
            <a:p>
              <a:r>
                <a:rPr lang="zh-CN" altLang="en-US" sz="600">
                  <a:ea typeface="宋体"/>
                  <a:cs typeface="Calibri"/>
                </a:rPr>
                <a:t>+</a:t>
              </a:r>
            </a:p>
            <a:p>
              <a:r>
                <a:rPr lang="zh-CN" altLang="en-US" sz="600">
                  <a:ea typeface="宋体"/>
                  <a:cs typeface="Calibri"/>
                </a:rPr>
                <a:t>ReLU</a:t>
              </a:r>
            </a:p>
          </p:txBody>
        </p:sp>
        <p:sp>
          <p:nvSpPr>
            <p:cNvPr id="154" name="矩形 153">
              <a:extLst>
                <a:ext uri="{FF2B5EF4-FFF2-40B4-BE49-F238E27FC236}">
                  <a16:creationId xmlns:a16="http://schemas.microsoft.com/office/drawing/2014/main" id="{823C70F4-FF04-43E6-AF77-D6DB09439544}"/>
                </a:ext>
              </a:extLst>
            </p:cNvPr>
            <p:cNvSpPr/>
            <p:nvPr/>
          </p:nvSpPr>
          <p:spPr>
            <a:xfrm rot="16200000">
              <a:off x="4273296" y="3983736"/>
              <a:ext cx="1414272" cy="12192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a:extLst>
                <a:ext uri="{FF2B5EF4-FFF2-40B4-BE49-F238E27FC236}">
                  <a16:creationId xmlns:a16="http://schemas.microsoft.com/office/drawing/2014/main" id="{CAA6EEA5-C3B8-405E-B2B9-BACEB31D4C90}"/>
                </a:ext>
              </a:extLst>
            </p:cNvPr>
            <p:cNvSpPr txBox="1"/>
            <p:nvPr/>
          </p:nvSpPr>
          <p:spPr>
            <a:xfrm>
              <a:off x="5041326" y="3937884"/>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cxnSp>
          <p:nvCxnSpPr>
            <p:cNvPr id="156" name="直接箭头连接符 155">
              <a:extLst>
                <a:ext uri="{FF2B5EF4-FFF2-40B4-BE49-F238E27FC236}">
                  <a16:creationId xmlns:a16="http://schemas.microsoft.com/office/drawing/2014/main" id="{C0A849A0-F125-4113-BDEC-54F97B1DC2D0}"/>
                </a:ext>
              </a:extLst>
            </p:cNvPr>
            <p:cNvCxnSpPr>
              <a:cxnSpLocks/>
            </p:cNvCxnSpPr>
            <p:nvPr/>
          </p:nvCxnSpPr>
          <p:spPr>
            <a:xfrm>
              <a:off x="5030563" y="4012459"/>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7" name="矩形 156">
              <a:extLst>
                <a:ext uri="{FF2B5EF4-FFF2-40B4-BE49-F238E27FC236}">
                  <a16:creationId xmlns:a16="http://schemas.microsoft.com/office/drawing/2014/main" id="{1E243669-5F9D-40FC-8ECD-E9AA8DCC3E60}"/>
                </a:ext>
              </a:extLst>
            </p:cNvPr>
            <p:cNvSpPr/>
            <p:nvPr/>
          </p:nvSpPr>
          <p:spPr>
            <a:xfrm rot="16200000">
              <a:off x="6108191" y="3380232"/>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a:extLst>
                <a:ext uri="{FF2B5EF4-FFF2-40B4-BE49-F238E27FC236}">
                  <a16:creationId xmlns:a16="http://schemas.microsoft.com/office/drawing/2014/main" id="{3C3396CF-E56C-406F-B933-15010658E3A4}"/>
                </a:ext>
              </a:extLst>
            </p:cNvPr>
            <p:cNvSpPr txBox="1"/>
            <p:nvPr/>
          </p:nvSpPr>
          <p:spPr>
            <a:xfrm>
              <a:off x="5906957" y="4441569"/>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1024]</a:t>
              </a:r>
            </a:p>
            <a:p>
              <a:r>
                <a:rPr lang="zh-CN" altLang="en-US" sz="600">
                  <a:ea typeface="宋体"/>
                  <a:cs typeface="Calibri"/>
                </a:rPr>
                <a:t>+</a:t>
              </a:r>
            </a:p>
            <a:p>
              <a:r>
                <a:rPr lang="zh-CN" altLang="en-US" sz="600">
                  <a:ea typeface="宋体"/>
                  <a:cs typeface="Calibri"/>
                </a:rPr>
                <a:t>ReLU</a:t>
              </a:r>
            </a:p>
          </p:txBody>
        </p:sp>
        <p:sp>
          <p:nvSpPr>
            <p:cNvPr id="159" name="矩形 158">
              <a:extLst>
                <a:ext uri="{FF2B5EF4-FFF2-40B4-BE49-F238E27FC236}">
                  <a16:creationId xmlns:a16="http://schemas.microsoft.com/office/drawing/2014/main" id="{525FCE95-684E-46DA-B5A0-5CD55897F62E}"/>
                </a:ext>
              </a:extLst>
            </p:cNvPr>
            <p:cNvSpPr/>
            <p:nvPr/>
          </p:nvSpPr>
          <p:spPr>
            <a:xfrm rot="16200000">
              <a:off x="6809232" y="3977640"/>
              <a:ext cx="841248" cy="975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文本框 159">
              <a:extLst>
                <a:ext uri="{FF2B5EF4-FFF2-40B4-BE49-F238E27FC236}">
                  <a16:creationId xmlns:a16="http://schemas.microsoft.com/office/drawing/2014/main" id="{4B951D42-D579-4E3A-AB8D-C25E31D4A3B1}"/>
                </a:ext>
              </a:extLst>
            </p:cNvPr>
            <p:cNvSpPr txBox="1"/>
            <p:nvPr/>
          </p:nvSpPr>
          <p:spPr>
            <a:xfrm>
              <a:off x="7223693" y="3971333"/>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cxnSp>
          <p:nvCxnSpPr>
            <p:cNvPr id="161" name="直接箭头连接符 160">
              <a:extLst>
                <a:ext uri="{FF2B5EF4-FFF2-40B4-BE49-F238E27FC236}">
                  <a16:creationId xmlns:a16="http://schemas.microsoft.com/office/drawing/2014/main" id="{B802C3B0-7A36-4EAE-BB61-FE39C7D500DF}"/>
                </a:ext>
              </a:extLst>
            </p:cNvPr>
            <p:cNvCxnSpPr>
              <a:cxnSpLocks/>
            </p:cNvCxnSpPr>
            <p:nvPr/>
          </p:nvCxnSpPr>
          <p:spPr>
            <a:xfrm flipV="1">
              <a:off x="7279987" y="4038691"/>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8FA83545-BD2B-470E-81D5-AB5453BFA590}"/>
              </a:ext>
            </a:extLst>
          </p:cNvPr>
          <p:cNvGrpSpPr/>
          <p:nvPr/>
        </p:nvGrpSpPr>
        <p:grpSpPr>
          <a:xfrm>
            <a:off x="365760" y="5285231"/>
            <a:ext cx="1591055" cy="903994"/>
            <a:chOff x="310896" y="4462271"/>
            <a:chExt cx="1591055" cy="903994"/>
          </a:xfrm>
        </p:grpSpPr>
        <p:sp>
          <p:nvSpPr>
            <p:cNvPr id="174" name="矩形 173">
              <a:extLst>
                <a:ext uri="{FF2B5EF4-FFF2-40B4-BE49-F238E27FC236}">
                  <a16:creationId xmlns:a16="http://schemas.microsoft.com/office/drawing/2014/main" id="{542AB9C7-B136-4550-A7AB-AF0C07B85A21}"/>
                </a:ext>
              </a:extLst>
            </p:cNvPr>
            <p:cNvSpPr/>
            <p:nvPr/>
          </p:nvSpPr>
          <p:spPr>
            <a:xfrm>
              <a:off x="310896" y="4648200"/>
              <a:ext cx="609600" cy="67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a:extLst>
                <a:ext uri="{FF2B5EF4-FFF2-40B4-BE49-F238E27FC236}">
                  <a16:creationId xmlns:a16="http://schemas.microsoft.com/office/drawing/2014/main" id="{965A5CEC-B078-4A26-8EA0-5433C7B46528}"/>
                </a:ext>
              </a:extLst>
            </p:cNvPr>
            <p:cNvSpPr/>
            <p:nvPr/>
          </p:nvSpPr>
          <p:spPr>
            <a:xfrm>
              <a:off x="310896" y="4788408"/>
              <a:ext cx="609600" cy="6705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a:extLst>
                <a:ext uri="{FF2B5EF4-FFF2-40B4-BE49-F238E27FC236}">
                  <a16:creationId xmlns:a16="http://schemas.microsoft.com/office/drawing/2014/main" id="{A05B77E5-51C7-46FD-9DEC-B7163CFFF5E5}"/>
                </a:ext>
              </a:extLst>
            </p:cNvPr>
            <p:cNvSpPr/>
            <p:nvPr/>
          </p:nvSpPr>
          <p:spPr>
            <a:xfrm>
              <a:off x="310896" y="4928616"/>
              <a:ext cx="609600" cy="670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a:extLst>
                <a:ext uri="{FF2B5EF4-FFF2-40B4-BE49-F238E27FC236}">
                  <a16:creationId xmlns:a16="http://schemas.microsoft.com/office/drawing/2014/main" id="{8B34010C-BC51-4F96-8A87-CA8F78573E83}"/>
                </a:ext>
              </a:extLst>
            </p:cNvPr>
            <p:cNvSpPr/>
            <p:nvPr/>
          </p:nvSpPr>
          <p:spPr>
            <a:xfrm>
              <a:off x="310896" y="5093208"/>
              <a:ext cx="609600" cy="67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a:extLst>
                <a:ext uri="{FF2B5EF4-FFF2-40B4-BE49-F238E27FC236}">
                  <a16:creationId xmlns:a16="http://schemas.microsoft.com/office/drawing/2014/main" id="{CA6F273A-8F5C-466A-9FC2-B89E6A6D6D1C}"/>
                </a:ext>
              </a:extLst>
            </p:cNvPr>
            <p:cNvSpPr/>
            <p:nvPr/>
          </p:nvSpPr>
          <p:spPr>
            <a:xfrm>
              <a:off x="310896" y="5233416"/>
              <a:ext cx="609600" cy="6705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a:extLst>
                <a:ext uri="{FF2B5EF4-FFF2-40B4-BE49-F238E27FC236}">
                  <a16:creationId xmlns:a16="http://schemas.microsoft.com/office/drawing/2014/main" id="{4B5E9FE7-1B3C-457D-9D53-989998446342}"/>
                </a:ext>
              </a:extLst>
            </p:cNvPr>
            <p:cNvSpPr/>
            <p:nvPr/>
          </p:nvSpPr>
          <p:spPr>
            <a:xfrm>
              <a:off x="310896" y="4520184"/>
              <a:ext cx="609600" cy="6705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a:extLst>
                <a:ext uri="{FF2B5EF4-FFF2-40B4-BE49-F238E27FC236}">
                  <a16:creationId xmlns:a16="http://schemas.microsoft.com/office/drawing/2014/main" id="{984398B4-032C-493E-9668-97DC7CD7C88D}"/>
                </a:ext>
              </a:extLst>
            </p:cNvPr>
            <p:cNvSpPr txBox="1"/>
            <p:nvPr/>
          </p:nvSpPr>
          <p:spPr>
            <a:xfrm>
              <a:off x="920496" y="5035296"/>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nn.EmbeddingBag</a:t>
              </a:r>
            </a:p>
          </p:txBody>
        </p:sp>
        <p:sp>
          <p:nvSpPr>
            <p:cNvPr id="184" name="文本框 183">
              <a:extLst>
                <a:ext uri="{FF2B5EF4-FFF2-40B4-BE49-F238E27FC236}">
                  <a16:creationId xmlns:a16="http://schemas.microsoft.com/office/drawing/2014/main" id="{5AE77CF2-9081-498E-9EE2-6E9150E8912A}"/>
                </a:ext>
              </a:extLst>
            </p:cNvPr>
            <p:cNvSpPr txBox="1"/>
            <p:nvPr/>
          </p:nvSpPr>
          <p:spPr>
            <a:xfrm>
              <a:off x="920495" y="5181599"/>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Sigmoid</a:t>
              </a:r>
            </a:p>
          </p:txBody>
        </p:sp>
        <p:sp>
          <p:nvSpPr>
            <p:cNvPr id="186" name="文本框 185">
              <a:extLst>
                <a:ext uri="{FF2B5EF4-FFF2-40B4-BE49-F238E27FC236}">
                  <a16:creationId xmlns:a16="http://schemas.microsoft.com/office/drawing/2014/main" id="{C024BAFD-8763-494D-B951-71A238259F86}"/>
                </a:ext>
              </a:extLst>
            </p:cNvPr>
            <p:cNvSpPr txBox="1"/>
            <p:nvPr/>
          </p:nvSpPr>
          <p:spPr>
            <a:xfrm>
              <a:off x="920495" y="4876799"/>
              <a:ext cx="981456"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Data/Simple Operations</a:t>
              </a:r>
            </a:p>
          </p:txBody>
        </p:sp>
        <p:sp>
          <p:nvSpPr>
            <p:cNvPr id="188" name="文本框 187">
              <a:extLst>
                <a:ext uri="{FF2B5EF4-FFF2-40B4-BE49-F238E27FC236}">
                  <a16:creationId xmlns:a16="http://schemas.microsoft.com/office/drawing/2014/main" id="{4EB72EFA-0D7D-4CBD-AC0B-33EFEEC0F5FC}"/>
                </a:ext>
              </a:extLst>
            </p:cNvPr>
            <p:cNvSpPr txBox="1"/>
            <p:nvPr/>
          </p:nvSpPr>
          <p:spPr>
            <a:xfrm>
              <a:off x="920495" y="4730495"/>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ReLU</a:t>
              </a:r>
            </a:p>
          </p:txBody>
        </p:sp>
        <p:sp>
          <p:nvSpPr>
            <p:cNvPr id="190" name="文本框 189">
              <a:extLst>
                <a:ext uri="{FF2B5EF4-FFF2-40B4-BE49-F238E27FC236}">
                  <a16:creationId xmlns:a16="http://schemas.microsoft.com/office/drawing/2014/main" id="{48E86361-0842-4AF4-9B26-DAD89FF425E0}"/>
                </a:ext>
              </a:extLst>
            </p:cNvPr>
            <p:cNvSpPr txBox="1"/>
            <p:nvPr/>
          </p:nvSpPr>
          <p:spPr>
            <a:xfrm>
              <a:off x="920495" y="4596383"/>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a:t>
              </a:r>
              <a:endParaRPr lang="zh-CN" altLang="en-US" sz="600" dirty="0">
                <a:ea typeface="宋体"/>
                <a:cs typeface="Calibri"/>
              </a:endParaRPr>
            </a:p>
          </p:txBody>
        </p:sp>
        <p:sp>
          <p:nvSpPr>
            <p:cNvPr id="192" name="文本框 191">
              <a:extLst>
                <a:ext uri="{FF2B5EF4-FFF2-40B4-BE49-F238E27FC236}">
                  <a16:creationId xmlns:a16="http://schemas.microsoft.com/office/drawing/2014/main" id="{0E11015B-9839-4548-BEE7-38EC02D8EE7B}"/>
                </a:ext>
              </a:extLst>
            </p:cNvPr>
            <p:cNvSpPr txBox="1"/>
            <p:nvPr/>
          </p:nvSpPr>
          <p:spPr>
            <a:xfrm>
              <a:off x="920495" y="4462271"/>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Offsets</a:t>
              </a:r>
            </a:p>
          </p:txBody>
        </p:sp>
      </p:grpSp>
    </p:spTree>
    <p:extLst>
      <p:ext uri="{BB962C8B-B14F-4D97-AF65-F5344CB8AC3E}">
        <p14:creationId xmlns:p14="http://schemas.microsoft.com/office/powerpoint/2010/main" val="5431245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标题 1">
            <a:extLst>
              <a:ext uri="{FF2B5EF4-FFF2-40B4-BE49-F238E27FC236}">
                <a16:creationId xmlns:a16="http://schemas.microsoft.com/office/drawing/2014/main" id="{85F701CF-057A-4CDE-B0FC-2CC284047B38}"/>
              </a:ext>
            </a:extLst>
          </p:cNvPr>
          <p:cNvSpPr txBox="1">
            <a:spLocks/>
          </p:cNvSpPr>
          <p:nvPr/>
        </p:nvSpPr>
        <p:spPr>
          <a:xfrm>
            <a:off x="765048" y="493141"/>
            <a:ext cx="10509504" cy="8927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a:latin typeface="SimSun"/>
                <a:ea typeface="SimSun"/>
                <a:cs typeface="Calibri Light"/>
              </a:rPr>
              <a:t>Operations of X_i on device D_i with PrEmbeddingBag </a:t>
            </a:r>
            <a:r>
              <a:rPr lang="zh-CN" sz="2800">
                <a:latin typeface="SimSun"/>
                <a:ea typeface="SimSun"/>
                <a:cs typeface="Calibri Light"/>
              </a:rPr>
              <a:t>under</a:t>
            </a:r>
            <a:br>
              <a:rPr lang="zh-CN" sz="2800" dirty="0">
                <a:latin typeface="SimSun"/>
                <a:ea typeface="SimSun"/>
                <a:cs typeface="Calibri Light"/>
              </a:rPr>
            </a:br>
            <a:r>
              <a:rPr lang="zh-CN" sz="2800">
                <a:latin typeface="SimSun"/>
                <a:ea typeface="SimSun"/>
                <a:cs typeface="Calibri Light"/>
              </a:rPr>
              <a:t>the 'run_and_time.sh' setting</a:t>
            </a:r>
            <a:endParaRPr lang="zh-CN" sz="2800">
              <a:latin typeface="SimSun"/>
              <a:ea typeface="SimSun"/>
              <a:cs typeface="+mj-lt"/>
            </a:endParaRPr>
          </a:p>
        </p:txBody>
      </p:sp>
      <p:cxnSp>
        <p:nvCxnSpPr>
          <p:cNvPr id="181" name="直接箭头连接符 180">
            <a:extLst>
              <a:ext uri="{FF2B5EF4-FFF2-40B4-BE49-F238E27FC236}">
                <a16:creationId xmlns:a16="http://schemas.microsoft.com/office/drawing/2014/main" id="{E37279B4-3B55-48E7-9DD7-48C4144E1D5F}"/>
              </a:ext>
            </a:extLst>
          </p:cNvPr>
          <p:cNvCxnSpPr>
            <a:cxnSpLocks/>
          </p:cNvCxnSpPr>
          <p:nvPr/>
        </p:nvCxnSpPr>
        <p:spPr>
          <a:xfrm>
            <a:off x="3756107" y="3543585"/>
            <a:ext cx="2062923" cy="483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直接箭头连接符 182">
            <a:extLst>
              <a:ext uri="{FF2B5EF4-FFF2-40B4-BE49-F238E27FC236}">
                <a16:creationId xmlns:a16="http://schemas.microsoft.com/office/drawing/2014/main" id="{A62C7C45-0A84-4264-9A86-3331EB0E9F15}"/>
              </a:ext>
            </a:extLst>
          </p:cNvPr>
          <p:cNvCxnSpPr>
            <a:cxnSpLocks/>
          </p:cNvCxnSpPr>
          <p:nvPr/>
        </p:nvCxnSpPr>
        <p:spPr>
          <a:xfrm flipH="1">
            <a:off x="5840425" y="3464444"/>
            <a:ext cx="3162677" cy="562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5" name="菱形 184">
            <a:extLst>
              <a:ext uri="{FF2B5EF4-FFF2-40B4-BE49-F238E27FC236}">
                <a16:creationId xmlns:a16="http://schemas.microsoft.com/office/drawing/2014/main" id="{24EF2345-52A3-4ACB-A7B7-F01E45BF216D}"/>
              </a:ext>
            </a:extLst>
          </p:cNvPr>
          <p:cNvSpPr/>
          <p:nvPr/>
        </p:nvSpPr>
        <p:spPr>
          <a:xfrm>
            <a:off x="170401" y="4063669"/>
            <a:ext cx="11390243" cy="339785"/>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Concat the 2 tensors (and optionally do dot product with its own transposition)</a:t>
            </a:r>
          </a:p>
        </p:txBody>
      </p:sp>
      <p:cxnSp>
        <p:nvCxnSpPr>
          <p:cNvPr id="187" name="直接箭头连接符 186">
            <a:extLst>
              <a:ext uri="{FF2B5EF4-FFF2-40B4-BE49-F238E27FC236}">
                <a16:creationId xmlns:a16="http://schemas.microsoft.com/office/drawing/2014/main" id="{000D7689-3D51-4540-A093-272512545452}"/>
              </a:ext>
            </a:extLst>
          </p:cNvPr>
          <p:cNvCxnSpPr/>
          <p:nvPr/>
        </p:nvCxnSpPr>
        <p:spPr>
          <a:xfrm>
            <a:off x="5828830" y="4401263"/>
            <a:ext cx="2741" cy="1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87A87C0E-32E9-4805-AD92-F19F590BD42E}"/>
              </a:ext>
            </a:extLst>
          </p:cNvPr>
          <p:cNvCxnSpPr>
            <a:cxnSpLocks/>
          </p:cNvCxnSpPr>
          <p:nvPr/>
        </p:nvCxnSpPr>
        <p:spPr>
          <a:xfrm>
            <a:off x="5703463" y="6072625"/>
            <a:ext cx="1591" cy="180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矩形 190">
            <a:extLst>
              <a:ext uri="{FF2B5EF4-FFF2-40B4-BE49-F238E27FC236}">
                <a16:creationId xmlns:a16="http://schemas.microsoft.com/office/drawing/2014/main" id="{2F34E027-0BC7-4619-B76B-C0A1D6D6CFF5}"/>
              </a:ext>
            </a:extLst>
          </p:cNvPr>
          <p:cNvSpPr/>
          <p:nvPr/>
        </p:nvSpPr>
        <p:spPr>
          <a:xfrm>
            <a:off x="5281787" y="6257543"/>
            <a:ext cx="941256" cy="27891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Output_i</a:t>
            </a:r>
          </a:p>
        </p:txBody>
      </p:sp>
      <p:sp>
        <p:nvSpPr>
          <p:cNvPr id="197" name="矩形 196">
            <a:extLst>
              <a:ext uri="{FF2B5EF4-FFF2-40B4-BE49-F238E27FC236}">
                <a16:creationId xmlns:a16="http://schemas.microsoft.com/office/drawing/2014/main" id="{CCA41C2E-F747-4B06-A55F-F4E9C7E8964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99" name="直接箭头连接符 198">
            <a:extLst>
              <a:ext uri="{FF2B5EF4-FFF2-40B4-BE49-F238E27FC236}">
                <a16:creationId xmlns:a16="http://schemas.microsoft.com/office/drawing/2014/main" id="{BA4F921F-CAB9-4858-AB8D-4D6CCA6D327B}"/>
              </a:ext>
            </a:extLst>
          </p:cNvPr>
          <p:cNvCxnSpPr>
            <a:cxnSpLocks/>
          </p:cNvCxnSpPr>
          <p:nvPr/>
        </p:nvCxnSpPr>
        <p:spPr>
          <a:xfrm>
            <a:off x="9338364" y="2061640"/>
            <a:ext cx="5038" cy="220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3" name="矩形 202">
            <a:extLst>
              <a:ext uri="{FF2B5EF4-FFF2-40B4-BE49-F238E27FC236}">
                <a16:creationId xmlns:a16="http://schemas.microsoft.com/office/drawing/2014/main" id="{AE3AE479-2902-412B-8007-EC43D4B9BF3E}"/>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205" name="直接箭头连接符 204">
            <a:extLst>
              <a:ext uri="{FF2B5EF4-FFF2-40B4-BE49-F238E27FC236}">
                <a16:creationId xmlns:a16="http://schemas.microsoft.com/office/drawing/2014/main" id="{5DF9FA13-4552-4E16-BFA7-3F4314F0802A}"/>
              </a:ext>
            </a:extLst>
          </p:cNvPr>
          <p:cNvCxnSpPr/>
          <p:nvPr/>
        </p:nvCxnSpPr>
        <p:spPr>
          <a:xfrm>
            <a:off x="1628996" y="1994684"/>
            <a:ext cx="1036901"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7" name="矩形 206">
            <a:extLst>
              <a:ext uri="{FF2B5EF4-FFF2-40B4-BE49-F238E27FC236}">
                <a16:creationId xmlns:a16="http://schemas.microsoft.com/office/drawing/2014/main" id="{71356876-0EB9-44F7-92CF-CB657C87311F}"/>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209" name="直接箭头连接符 208">
            <a:extLst>
              <a:ext uri="{FF2B5EF4-FFF2-40B4-BE49-F238E27FC236}">
                <a16:creationId xmlns:a16="http://schemas.microsoft.com/office/drawing/2014/main" id="{05C6B27E-28EA-4A99-8236-F34BB73B09DA}"/>
              </a:ext>
            </a:extLst>
          </p:cNvPr>
          <p:cNvCxnSpPr>
            <a:cxnSpLocks/>
          </p:cNvCxnSpPr>
          <p:nvPr/>
        </p:nvCxnSpPr>
        <p:spPr>
          <a:xfrm flipH="1">
            <a:off x="2678703" y="1994684"/>
            <a:ext cx="1479619" cy="465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D4DEB65D-5A78-4251-8077-BBA9C31E796F}"/>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279" name="矩形 278">
            <a:extLst>
              <a:ext uri="{FF2B5EF4-FFF2-40B4-BE49-F238E27FC236}">
                <a16:creationId xmlns:a16="http://schemas.microsoft.com/office/drawing/2014/main" id="{F878B274-41C4-4F44-829E-3648D7C67F7F}"/>
              </a:ext>
            </a:extLst>
          </p:cNvPr>
          <p:cNvSpPr/>
          <p:nvPr/>
        </p:nvSpPr>
        <p:spPr>
          <a:xfrm>
            <a:off x="6589776" y="2282951"/>
            <a:ext cx="5498592" cy="11826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矩形 303">
            <a:extLst>
              <a:ext uri="{FF2B5EF4-FFF2-40B4-BE49-F238E27FC236}">
                <a16:creationId xmlns:a16="http://schemas.microsoft.com/office/drawing/2014/main" id="{9A587998-8F4F-4BA2-96B2-8788B8A99CE8}"/>
              </a:ext>
            </a:extLst>
          </p:cNvPr>
          <p:cNvSpPr/>
          <p:nvPr/>
        </p:nvSpPr>
        <p:spPr>
          <a:xfrm>
            <a:off x="554735" y="2490215"/>
            <a:ext cx="3194304" cy="1481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9DC2AD0-6AB0-4487-9B7D-2A7792621304}"/>
              </a:ext>
            </a:extLst>
          </p:cNvPr>
          <p:cNvGrpSpPr/>
          <p:nvPr/>
        </p:nvGrpSpPr>
        <p:grpSpPr>
          <a:xfrm>
            <a:off x="6620189" y="2331723"/>
            <a:ext cx="5578240" cy="1016144"/>
            <a:chOff x="1213038" y="3488302"/>
            <a:chExt cx="5639201" cy="1662313"/>
          </a:xfrm>
        </p:grpSpPr>
        <p:sp>
          <p:nvSpPr>
            <p:cNvPr id="97" name="文本框 96">
              <a:extLst>
                <a:ext uri="{FF2B5EF4-FFF2-40B4-BE49-F238E27FC236}">
                  <a16:creationId xmlns:a16="http://schemas.microsoft.com/office/drawing/2014/main" id="{BB5E55D3-B399-4602-A6CA-16C72EACEFDC}"/>
                </a:ext>
              </a:extLst>
            </p:cNvPr>
            <p:cNvSpPr txBox="1"/>
            <p:nvPr/>
          </p:nvSpPr>
          <p:spPr>
            <a:xfrm>
              <a:off x="1213038" y="4090159"/>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13]</a:t>
              </a:r>
              <a:endParaRPr lang="zh-CN" sz="600">
                <a:ea typeface="宋体"/>
                <a:cs typeface="Calibri"/>
              </a:endParaRPr>
            </a:p>
          </p:txBody>
        </p:sp>
        <p:sp>
          <p:nvSpPr>
            <p:cNvPr id="98" name="矩形 97">
              <a:extLst>
                <a:ext uri="{FF2B5EF4-FFF2-40B4-BE49-F238E27FC236}">
                  <a16:creationId xmlns:a16="http://schemas.microsoft.com/office/drawing/2014/main" id="{F82A6250-98B1-461E-9CF7-84DCCFFC2F78}"/>
                </a:ext>
              </a:extLst>
            </p:cNvPr>
            <p:cNvSpPr/>
            <p:nvPr/>
          </p:nvSpPr>
          <p:spPr>
            <a:xfrm rot="16200000">
              <a:off x="1420368" y="4075176"/>
              <a:ext cx="1280160" cy="146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860D4F39-168A-4B2E-A40D-095DC9923A93}"/>
                </a:ext>
              </a:extLst>
            </p:cNvPr>
            <p:cNvSpPr txBox="1"/>
            <p:nvPr/>
          </p:nvSpPr>
          <p:spPr>
            <a:xfrm>
              <a:off x="1879435" y="4781283"/>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13]</a:t>
              </a:r>
            </a:p>
            <a:p>
              <a:r>
                <a:rPr lang="zh-CN" altLang="en-US" sz="600">
                  <a:ea typeface="宋体"/>
                  <a:cs typeface="Calibri"/>
                </a:rPr>
                <a:t>+</a:t>
              </a:r>
            </a:p>
            <a:p>
              <a:r>
                <a:rPr lang="zh-CN" altLang="en-US" sz="600">
                  <a:ea typeface="宋体"/>
                  <a:cs typeface="Calibri"/>
                </a:rPr>
                <a:t>ReLU</a:t>
              </a:r>
            </a:p>
          </p:txBody>
        </p:sp>
        <p:sp>
          <p:nvSpPr>
            <p:cNvPr id="100" name="文本框 99">
              <a:extLst>
                <a:ext uri="{FF2B5EF4-FFF2-40B4-BE49-F238E27FC236}">
                  <a16:creationId xmlns:a16="http://schemas.microsoft.com/office/drawing/2014/main" id="{C7AB2D07-9ECA-499A-BC05-D9C6E8F2B3B6}"/>
                </a:ext>
              </a:extLst>
            </p:cNvPr>
            <p:cNvSpPr txBox="1"/>
            <p:nvPr/>
          </p:nvSpPr>
          <p:spPr>
            <a:xfrm>
              <a:off x="3303965" y="4514721"/>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dirty="0">
                  <a:ea typeface="+mn-lt"/>
                  <a:cs typeface="+mn-lt"/>
                </a:rPr>
                <a:t>, </a:t>
              </a:r>
              <a:r>
                <a:rPr lang="en-US" altLang="zh-CN" sz="600" dirty="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1" name="矩形 100">
              <a:extLst>
                <a:ext uri="{FF2B5EF4-FFF2-40B4-BE49-F238E27FC236}">
                  <a16:creationId xmlns:a16="http://schemas.microsoft.com/office/drawing/2014/main" id="{D6529202-A744-40EB-B723-A0C6CCE0180A}"/>
                </a:ext>
              </a:extLst>
            </p:cNvPr>
            <p:cNvSpPr/>
            <p:nvPr/>
          </p:nvSpPr>
          <p:spPr>
            <a:xfrm>
              <a:off x="3121152" y="3776472"/>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8194F929-6658-47BC-BC6F-CBD8DABFC948}"/>
                </a:ext>
              </a:extLst>
            </p:cNvPr>
            <p:cNvSpPr/>
            <p:nvPr/>
          </p:nvSpPr>
          <p:spPr>
            <a:xfrm rot="16200000">
              <a:off x="1557661" y="4070470"/>
              <a:ext cx="1292351" cy="12801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B9C5AA47-AD59-4C90-85CB-94C1AB407AC0}"/>
                </a:ext>
              </a:extLst>
            </p:cNvPr>
            <p:cNvSpPr/>
            <p:nvPr/>
          </p:nvSpPr>
          <p:spPr>
            <a:xfrm rot="16200000">
              <a:off x="3916680" y="4096512"/>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a:extLst>
                <a:ext uri="{FF2B5EF4-FFF2-40B4-BE49-F238E27FC236}">
                  <a16:creationId xmlns:a16="http://schemas.microsoft.com/office/drawing/2014/main" id="{F1B9E268-D478-4133-A3A8-99FC5905A23A}"/>
                </a:ext>
              </a:extLst>
            </p:cNvPr>
            <p:cNvSpPr txBox="1"/>
            <p:nvPr/>
          </p:nvSpPr>
          <p:spPr>
            <a:xfrm>
              <a:off x="5199821" y="4368417"/>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[1</a:t>
              </a:r>
              <a:r>
                <a:rPr lang="en-US" altLang="zh-CN" sz="600">
                  <a:ea typeface="+mn-lt"/>
                  <a:cs typeface="+mn-lt"/>
                </a:rPr>
                <a:t>28,</a:t>
              </a:r>
              <a:r>
                <a:rPr lang="zh-CN" altLang="en-US" sz="600" dirty="0">
                  <a:ea typeface="+mn-lt"/>
                  <a:cs typeface="+mn-lt"/>
                </a:rPr>
                <a:t> </a:t>
              </a:r>
              <a:r>
                <a:rPr lang="en-US" altLang="en-US" sz="60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5" name="矩形 104">
              <a:extLst>
                <a:ext uri="{FF2B5EF4-FFF2-40B4-BE49-F238E27FC236}">
                  <a16:creationId xmlns:a16="http://schemas.microsoft.com/office/drawing/2014/main" id="{53332877-A20E-4336-9BA7-25D054FF89A1}"/>
                </a:ext>
              </a:extLst>
            </p:cNvPr>
            <p:cNvSpPr/>
            <p:nvPr/>
          </p:nvSpPr>
          <p:spPr>
            <a:xfrm rot="5400000">
              <a:off x="5370576" y="3813047"/>
              <a:ext cx="384048" cy="707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25D11349-BF13-405D-98C8-658FC92D4AA9}"/>
                </a:ext>
              </a:extLst>
            </p:cNvPr>
            <p:cNvSpPr/>
            <p:nvPr/>
          </p:nvSpPr>
          <p:spPr>
            <a:xfrm rot="16200000">
              <a:off x="5763768" y="4126992"/>
              <a:ext cx="390144"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AA5B010C-D933-4553-8B64-D3AEE2E346FC}"/>
                </a:ext>
              </a:extLst>
            </p:cNvPr>
            <p:cNvSpPr txBox="1"/>
            <p:nvPr/>
          </p:nvSpPr>
          <p:spPr>
            <a:xfrm>
              <a:off x="2304221" y="4046392"/>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sp>
          <p:nvSpPr>
            <p:cNvPr id="108" name="文本框 107">
              <a:extLst>
                <a:ext uri="{FF2B5EF4-FFF2-40B4-BE49-F238E27FC236}">
                  <a16:creationId xmlns:a16="http://schemas.microsoft.com/office/drawing/2014/main" id="{A43A1EF2-103D-49E9-B7AA-8BDE819063BC}"/>
                </a:ext>
              </a:extLst>
            </p:cNvPr>
            <p:cNvSpPr txBox="1"/>
            <p:nvPr/>
          </p:nvSpPr>
          <p:spPr>
            <a:xfrm>
              <a:off x="4328093" y="4130611"/>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109" name="文本框 108">
              <a:extLst>
                <a:ext uri="{FF2B5EF4-FFF2-40B4-BE49-F238E27FC236}">
                  <a16:creationId xmlns:a16="http://schemas.microsoft.com/office/drawing/2014/main" id="{7BBF644E-97A1-4B3E-B67D-A4ECBAF2AC39}"/>
                </a:ext>
              </a:extLst>
            </p:cNvPr>
            <p:cNvSpPr txBox="1"/>
            <p:nvPr/>
          </p:nvSpPr>
          <p:spPr>
            <a:xfrm>
              <a:off x="5937437" y="4137270"/>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128]</a:t>
              </a:r>
              <a:endParaRPr lang="zh-CN" sz="600">
                <a:ea typeface="宋体"/>
                <a:cs typeface="Calibri"/>
              </a:endParaRPr>
            </a:p>
          </p:txBody>
        </p:sp>
        <p:cxnSp>
          <p:nvCxnSpPr>
            <p:cNvPr id="110" name="直接箭头连接符 109">
              <a:extLst>
                <a:ext uri="{FF2B5EF4-FFF2-40B4-BE49-F238E27FC236}">
                  <a16:creationId xmlns:a16="http://schemas.microsoft.com/office/drawing/2014/main" id="{F7AF1A0A-F89A-45C1-9CFB-7A27BF0CD700}"/>
                </a:ext>
              </a:extLst>
            </p:cNvPr>
            <p:cNvCxnSpPr/>
            <p:nvPr/>
          </p:nvCxnSpPr>
          <p:spPr>
            <a:xfrm flipV="1">
              <a:off x="1269332" y="4142324"/>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F87688C5-5EC9-47DF-81EE-048B994740CE}"/>
                </a:ext>
              </a:extLst>
            </p:cNvPr>
            <p:cNvCxnSpPr>
              <a:cxnSpLocks/>
            </p:cNvCxnSpPr>
            <p:nvPr/>
          </p:nvCxnSpPr>
          <p:spPr>
            <a:xfrm>
              <a:off x="2250787" y="4116091"/>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B81E2477-B977-4FB2-BD29-9B116A4605E0}"/>
                </a:ext>
              </a:extLst>
            </p:cNvPr>
            <p:cNvCxnSpPr>
              <a:cxnSpLocks/>
            </p:cNvCxnSpPr>
            <p:nvPr/>
          </p:nvCxnSpPr>
          <p:spPr>
            <a:xfrm>
              <a:off x="4347811" y="4183147"/>
              <a:ext cx="860117" cy="7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FF0BC785-1C06-483C-BA88-01C56D9797DF}"/>
                </a:ext>
              </a:extLst>
            </p:cNvPr>
            <p:cNvCxnSpPr>
              <a:cxnSpLocks/>
            </p:cNvCxnSpPr>
            <p:nvPr/>
          </p:nvCxnSpPr>
          <p:spPr>
            <a:xfrm>
              <a:off x="5993731" y="4183147"/>
              <a:ext cx="658949"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B869C376-E5FB-49A5-8C59-7CBF128D5135}"/>
              </a:ext>
            </a:extLst>
          </p:cNvPr>
          <p:cNvGrpSpPr/>
          <p:nvPr/>
        </p:nvGrpSpPr>
        <p:grpSpPr>
          <a:xfrm>
            <a:off x="554670" y="2535475"/>
            <a:ext cx="3120060" cy="1478778"/>
            <a:chOff x="-58923" y="2450131"/>
            <a:chExt cx="10957413" cy="2270264"/>
          </a:xfrm>
        </p:grpSpPr>
        <p:sp>
          <p:nvSpPr>
            <p:cNvPr id="145" name="文本框 144">
              <a:extLst>
                <a:ext uri="{FF2B5EF4-FFF2-40B4-BE49-F238E27FC236}">
                  <a16:creationId xmlns:a16="http://schemas.microsoft.com/office/drawing/2014/main" id="{FFFBF664-5C24-499F-B5DF-6B0C441906AB}"/>
                </a:ext>
              </a:extLst>
            </p:cNvPr>
            <p:cNvSpPr txBox="1"/>
            <p:nvPr/>
          </p:nvSpPr>
          <p:spPr>
            <a:xfrm>
              <a:off x="-58923" y="2759759"/>
              <a:ext cx="2775681" cy="4252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[batch_size]</a:t>
              </a:r>
            </a:p>
          </p:txBody>
        </p:sp>
        <p:sp>
          <p:nvSpPr>
            <p:cNvPr id="146" name="矩形 145">
              <a:extLst>
                <a:ext uri="{FF2B5EF4-FFF2-40B4-BE49-F238E27FC236}">
                  <a16:creationId xmlns:a16="http://schemas.microsoft.com/office/drawing/2014/main" id="{65237C04-B332-466C-A984-A1DCEB1C1076}"/>
                </a:ext>
              </a:extLst>
            </p:cNvPr>
            <p:cNvSpPr/>
            <p:nvPr/>
          </p:nvSpPr>
          <p:spPr>
            <a:xfrm>
              <a:off x="2148149" y="2450131"/>
              <a:ext cx="1524001" cy="20056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文本框 146">
              <a:extLst>
                <a:ext uri="{FF2B5EF4-FFF2-40B4-BE49-F238E27FC236}">
                  <a16:creationId xmlns:a16="http://schemas.microsoft.com/office/drawing/2014/main" id="{ACC352C3-31EE-404A-8A3A-19677DB09078}"/>
                </a:ext>
              </a:extLst>
            </p:cNvPr>
            <p:cNvSpPr txBox="1"/>
            <p:nvPr/>
          </p:nvSpPr>
          <p:spPr>
            <a:xfrm>
              <a:off x="1130843" y="4436890"/>
              <a:ext cx="4129885" cy="2835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nn.EmbeddingBag: [n, m_i]</a:t>
              </a:r>
            </a:p>
          </p:txBody>
        </p:sp>
        <p:cxnSp>
          <p:nvCxnSpPr>
            <p:cNvPr id="148" name="直接箭头连接符 147">
              <a:extLst>
                <a:ext uri="{FF2B5EF4-FFF2-40B4-BE49-F238E27FC236}">
                  <a16:creationId xmlns:a16="http://schemas.microsoft.com/office/drawing/2014/main" id="{4080ACE8-F797-45DB-86EC-02728D6B08A8}"/>
                </a:ext>
              </a:extLst>
            </p:cNvPr>
            <p:cNvCxnSpPr/>
            <p:nvPr/>
          </p:nvCxnSpPr>
          <p:spPr>
            <a:xfrm>
              <a:off x="889162" y="3128923"/>
              <a:ext cx="1243986" cy="14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D0C0C684-3F6A-4427-9A7B-722ADCED48FE}"/>
                </a:ext>
              </a:extLst>
            </p:cNvPr>
            <p:cNvCxnSpPr/>
            <p:nvPr/>
          </p:nvCxnSpPr>
          <p:spPr>
            <a:xfrm flipV="1">
              <a:off x="3668555" y="3480328"/>
              <a:ext cx="2308832" cy="14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E7C7F6A4-7E0E-4C2F-A31B-4652766A4FDC}"/>
                </a:ext>
              </a:extLst>
            </p:cNvPr>
            <p:cNvSpPr txBox="1"/>
            <p:nvPr/>
          </p:nvSpPr>
          <p:spPr>
            <a:xfrm>
              <a:off x="3503316" y="3122465"/>
              <a:ext cx="2799407" cy="4252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rPr>
                <a:t>Embeded word: [offset_size, m_i]</a:t>
              </a:r>
              <a:endParaRPr lang="zh-CN" altLang="en-US" sz="600">
                <a:ea typeface="宋体"/>
                <a:cs typeface="Calibri"/>
              </a:endParaRPr>
            </a:p>
          </p:txBody>
        </p:sp>
        <p:sp>
          <p:nvSpPr>
            <p:cNvPr id="151" name="矩形 150">
              <a:extLst>
                <a:ext uri="{FF2B5EF4-FFF2-40B4-BE49-F238E27FC236}">
                  <a16:creationId xmlns:a16="http://schemas.microsoft.com/office/drawing/2014/main" id="{6445B5B8-83D9-41DD-95C7-BB56CE2E5D47}"/>
                </a:ext>
              </a:extLst>
            </p:cNvPr>
            <p:cNvSpPr/>
            <p:nvPr/>
          </p:nvSpPr>
          <p:spPr>
            <a:xfrm>
              <a:off x="5986926" y="2721828"/>
              <a:ext cx="2242867" cy="1380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文本框 151">
              <a:extLst>
                <a:ext uri="{FF2B5EF4-FFF2-40B4-BE49-F238E27FC236}">
                  <a16:creationId xmlns:a16="http://schemas.microsoft.com/office/drawing/2014/main" id="{793D7B0F-0DFE-47AB-9D55-B62976E0D23E}"/>
                </a:ext>
              </a:extLst>
            </p:cNvPr>
            <p:cNvSpPr txBox="1"/>
            <p:nvPr/>
          </p:nvSpPr>
          <p:spPr>
            <a:xfrm>
              <a:off x="5855508" y="4072999"/>
              <a:ext cx="2743199" cy="4252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rPr>
                <a:t>Linear/FC: </a:t>
              </a:r>
            </a:p>
            <a:p>
              <a:r>
                <a:rPr lang="zh-CN" altLang="en-US" sz="600">
                  <a:ea typeface="宋体"/>
                </a:rPr>
                <a:t>[m_i, base_dim]</a:t>
              </a:r>
              <a:endParaRPr lang="zh-CN" altLang="en-US" sz="600">
                <a:ea typeface="宋体"/>
                <a:cs typeface="Calibri"/>
              </a:endParaRPr>
            </a:p>
          </p:txBody>
        </p:sp>
        <p:sp>
          <p:nvSpPr>
            <p:cNvPr id="153" name="文本框 152">
              <a:extLst>
                <a:ext uri="{FF2B5EF4-FFF2-40B4-BE49-F238E27FC236}">
                  <a16:creationId xmlns:a16="http://schemas.microsoft.com/office/drawing/2014/main" id="{F2169E3D-709D-4D5A-8061-5C1EC8FB59C9}"/>
                </a:ext>
              </a:extLst>
            </p:cNvPr>
            <p:cNvSpPr txBox="1"/>
            <p:nvPr/>
          </p:nvSpPr>
          <p:spPr>
            <a:xfrm>
              <a:off x="8155291" y="2873075"/>
              <a:ext cx="2743199" cy="5670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a:t>
              </a:r>
              <a:r>
                <a:rPr lang="zh-CN" sz="600">
                  <a:ea typeface="+mn-lt"/>
                  <a:cs typeface="+mn-lt"/>
                </a:rPr>
                <a:t>offset_size</a:t>
              </a:r>
              <a:r>
                <a:rPr lang="zh-CN" altLang="en-US" sz="600">
                  <a:ea typeface="宋体"/>
                  <a:cs typeface="Calibri"/>
                </a:rPr>
                <a:t>, base_dim]</a:t>
              </a:r>
            </a:p>
          </p:txBody>
        </p:sp>
        <p:sp>
          <p:nvSpPr>
            <p:cNvPr id="154" name="文本框 153">
              <a:extLst>
                <a:ext uri="{FF2B5EF4-FFF2-40B4-BE49-F238E27FC236}">
                  <a16:creationId xmlns:a16="http://schemas.microsoft.com/office/drawing/2014/main" id="{AAEA48B6-B02A-4264-B318-0D053B76ADE3}"/>
                </a:ext>
              </a:extLst>
            </p:cNvPr>
            <p:cNvSpPr txBox="1"/>
            <p:nvPr/>
          </p:nvSpPr>
          <p:spPr>
            <a:xfrm>
              <a:off x="208194" y="3339571"/>
              <a:ext cx="2304689" cy="5670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 [offset_size]</a:t>
              </a:r>
              <a:endParaRPr lang="zh-CN" altLang="en-US" sz="600" dirty="0">
                <a:ea typeface="宋体"/>
                <a:cs typeface="Calibri"/>
              </a:endParaRPr>
            </a:p>
            <a:p>
              <a:endParaRPr lang="zh-CN" altLang="en-US" sz="600" dirty="0">
                <a:ea typeface="宋体"/>
                <a:cs typeface="Calibri"/>
              </a:endParaRPr>
            </a:p>
          </p:txBody>
        </p:sp>
        <p:cxnSp>
          <p:nvCxnSpPr>
            <p:cNvPr id="155" name="直接箭头连接符 154">
              <a:extLst>
                <a:ext uri="{FF2B5EF4-FFF2-40B4-BE49-F238E27FC236}">
                  <a16:creationId xmlns:a16="http://schemas.microsoft.com/office/drawing/2014/main" id="{6380A7EA-B847-406E-A70B-DF31A6F08546}"/>
                </a:ext>
              </a:extLst>
            </p:cNvPr>
            <p:cNvCxnSpPr>
              <a:cxnSpLocks/>
            </p:cNvCxnSpPr>
            <p:nvPr/>
          </p:nvCxnSpPr>
          <p:spPr>
            <a:xfrm>
              <a:off x="897050" y="3689088"/>
              <a:ext cx="1243423" cy="1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a:extLst>
                <a:ext uri="{FF2B5EF4-FFF2-40B4-BE49-F238E27FC236}">
                  <a16:creationId xmlns:a16="http://schemas.microsoft.com/office/drawing/2014/main" id="{CCAD30DB-085A-412E-ADE8-E948CA826559}"/>
                </a:ext>
              </a:extLst>
            </p:cNvPr>
            <p:cNvCxnSpPr>
              <a:cxnSpLocks/>
            </p:cNvCxnSpPr>
            <p:nvPr/>
          </p:nvCxnSpPr>
          <p:spPr>
            <a:xfrm flipV="1">
              <a:off x="8206153" y="3391653"/>
              <a:ext cx="2035903" cy="4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D4594F58-1604-4786-87B4-B8C89055A73D}"/>
              </a:ext>
            </a:extLst>
          </p:cNvPr>
          <p:cNvSpPr/>
          <p:nvPr/>
        </p:nvSpPr>
        <p:spPr>
          <a:xfrm>
            <a:off x="2554224" y="4587240"/>
            <a:ext cx="7662672" cy="1481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8306D7B1-27AA-4B29-A4BB-E3B81095ACB0}"/>
              </a:ext>
            </a:extLst>
          </p:cNvPr>
          <p:cNvGrpSpPr/>
          <p:nvPr/>
        </p:nvGrpSpPr>
        <p:grpSpPr>
          <a:xfrm>
            <a:off x="2706558" y="4816302"/>
            <a:ext cx="7486290" cy="1360101"/>
            <a:chOff x="786318" y="3328876"/>
            <a:chExt cx="10705766" cy="2389089"/>
          </a:xfrm>
        </p:grpSpPr>
        <p:sp>
          <p:nvSpPr>
            <p:cNvPr id="310" name="文本框 309">
              <a:extLst>
                <a:ext uri="{FF2B5EF4-FFF2-40B4-BE49-F238E27FC236}">
                  <a16:creationId xmlns:a16="http://schemas.microsoft.com/office/drawing/2014/main" id="{53A996FF-E3B8-4CB4-B287-B0BCBAB4048C}"/>
                </a:ext>
              </a:extLst>
            </p:cNvPr>
            <p:cNvSpPr txBox="1"/>
            <p:nvPr/>
          </p:nvSpPr>
          <p:spPr>
            <a:xfrm>
              <a:off x="786318" y="3971331"/>
              <a:ext cx="914801" cy="1746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479]</a:t>
              </a:r>
              <a:endParaRPr lang="zh-CN" sz="600">
                <a:ea typeface="宋体"/>
                <a:cs typeface="Calibri"/>
              </a:endParaRPr>
            </a:p>
          </p:txBody>
        </p:sp>
        <p:sp>
          <p:nvSpPr>
            <p:cNvPr id="311" name="矩形 310">
              <a:extLst>
                <a:ext uri="{FF2B5EF4-FFF2-40B4-BE49-F238E27FC236}">
                  <a16:creationId xmlns:a16="http://schemas.microsoft.com/office/drawing/2014/main" id="{3F330CD5-8524-4402-A4FC-671CC911DF5A}"/>
                </a:ext>
              </a:extLst>
            </p:cNvPr>
            <p:cNvSpPr/>
            <p:nvPr/>
          </p:nvSpPr>
          <p:spPr>
            <a:xfrm>
              <a:off x="1591056" y="3392424"/>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2" name="文本框 311">
              <a:extLst>
                <a:ext uri="{FF2B5EF4-FFF2-40B4-BE49-F238E27FC236}">
                  <a16:creationId xmlns:a16="http://schemas.microsoft.com/office/drawing/2014/main" id="{F7CB1981-BA39-4455-92C3-11D5EFA21F2D}"/>
                </a:ext>
              </a:extLst>
            </p:cNvPr>
            <p:cNvSpPr txBox="1"/>
            <p:nvPr/>
          </p:nvSpPr>
          <p:spPr>
            <a:xfrm>
              <a:off x="1511740" y="4691505"/>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a:t>
              </a:r>
              <a:r>
                <a:rPr lang="zh-CN" altLang="en-US" sz="600" dirty="0">
                  <a:ea typeface="宋体"/>
                  <a:cs typeface="Calibri"/>
                </a:rPr>
                <a:t>479]</a:t>
              </a:r>
            </a:p>
            <a:p>
              <a:r>
                <a:rPr lang="zh-CN" altLang="en-US" sz="600">
                  <a:ea typeface="宋体"/>
                  <a:cs typeface="Calibri"/>
                </a:rPr>
                <a:t>+</a:t>
              </a:r>
            </a:p>
            <a:p>
              <a:r>
                <a:rPr lang="zh-CN" altLang="en-US" sz="600">
                  <a:ea typeface="宋体"/>
                  <a:cs typeface="Calibri"/>
                </a:rPr>
                <a:t>ReLU</a:t>
              </a:r>
            </a:p>
          </p:txBody>
        </p:sp>
        <p:sp>
          <p:nvSpPr>
            <p:cNvPr id="313" name="文本框 312">
              <a:extLst>
                <a:ext uri="{FF2B5EF4-FFF2-40B4-BE49-F238E27FC236}">
                  <a16:creationId xmlns:a16="http://schemas.microsoft.com/office/drawing/2014/main" id="{1EF542F7-B78F-4CFA-8316-1CDDD0B3C61F}"/>
                </a:ext>
              </a:extLst>
            </p:cNvPr>
            <p:cNvSpPr txBox="1"/>
            <p:nvPr/>
          </p:nvSpPr>
          <p:spPr>
            <a:xfrm>
              <a:off x="8002275" y="4342230"/>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a:ea typeface="+mn-lt"/>
                  <a:cs typeface="+mn-lt"/>
                </a:rPr>
                <a:t>, </a:t>
              </a:r>
              <a:r>
                <a:rPr lang="en-US" altLang="zh-CN" sz="60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314" name="矩形 313">
              <a:extLst>
                <a:ext uri="{FF2B5EF4-FFF2-40B4-BE49-F238E27FC236}">
                  <a16:creationId xmlns:a16="http://schemas.microsoft.com/office/drawing/2014/main" id="{18209F3C-D73F-4C8A-A99E-8E49082CD752}"/>
                </a:ext>
              </a:extLst>
            </p:cNvPr>
            <p:cNvSpPr/>
            <p:nvPr/>
          </p:nvSpPr>
          <p:spPr>
            <a:xfrm>
              <a:off x="8010144" y="3672840"/>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5" name="矩形 314">
              <a:extLst>
                <a:ext uri="{FF2B5EF4-FFF2-40B4-BE49-F238E27FC236}">
                  <a16:creationId xmlns:a16="http://schemas.microsoft.com/office/drawing/2014/main" id="{6C764043-B8AD-47EC-95C6-B5DB3996727D}"/>
                </a:ext>
              </a:extLst>
            </p:cNvPr>
            <p:cNvSpPr/>
            <p:nvPr/>
          </p:nvSpPr>
          <p:spPr>
            <a:xfrm rot="16200000">
              <a:off x="1837944" y="4005072"/>
              <a:ext cx="1292352"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矩形 315">
              <a:extLst>
                <a:ext uri="{FF2B5EF4-FFF2-40B4-BE49-F238E27FC236}">
                  <a16:creationId xmlns:a16="http://schemas.microsoft.com/office/drawing/2014/main" id="{46A83B83-A251-43F6-B5A4-6BD9C1B1ADE0}"/>
                </a:ext>
              </a:extLst>
            </p:cNvPr>
            <p:cNvSpPr/>
            <p:nvPr/>
          </p:nvSpPr>
          <p:spPr>
            <a:xfrm rot="16200000">
              <a:off x="8805672" y="3992880"/>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文本框 316">
              <a:extLst>
                <a:ext uri="{FF2B5EF4-FFF2-40B4-BE49-F238E27FC236}">
                  <a16:creationId xmlns:a16="http://schemas.microsoft.com/office/drawing/2014/main" id="{B63E1BEC-C958-4F59-ADAF-9DF9A6C3DDF5}"/>
                </a:ext>
              </a:extLst>
            </p:cNvPr>
            <p:cNvSpPr txBox="1"/>
            <p:nvPr/>
          </p:nvSpPr>
          <p:spPr>
            <a:xfrm>
              <a:off x="9718789" y="4076493"/>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altLang="en-US" sz="600" dirty="0">
                  <a:ea typeface="+mn-lt"/>
                  <a:cs typeface="+mn-lt"/>
                </a:rPr>
                <a:t> </a:t>
              </a:r>
              <a:r>
                <a:rPr lang="zh-CN" sz="600">
                  <a:ea typeface="+mn-lt"/>
                  <a:cs typeface="+mn-lt"/>
                </a:rPr>
                <a:t>[1</a:t>
              </a:r>
              <a:r>
                <a:rPr lang="en-US" altLang="zh-CN" sz="600">
                  <a:ea typeface="+mn-lt"/>
                  <a:cs typeface="+mn-lt"/>
                </a:rPr>
                <a:t>,</a:t>
              </a:r>
              <a:r>
                <a:rPr lang="zh-CN" altLang="en-US" sz="600" dirty="0">
                  <a:ea typeface="+mn-lt"/>
                  <a:cs typeface="+mn-lt"/>
                </a:rPr>
                <a:t> </a:t>
              </a:r>
              <a:r>
                <a:rPr lang="en-US" altLang="en-US" sz="600" dirty="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Sigmoid</a:t>
              </a:r>
            </a:p>
          </p:txBody>
        </p:sp>
        <p:sp>
          <p:nvSpPr>
            <p:cNvPr id="318" name="矩形 317">
              <a:extLst>
                <a:ext uri="{FF2B5EF4-FFF2-40B4-BE49-F238E27FC236}">
                  <a16:creationId xmlns:a16="http://schemas.microsoft.com/office/drawing/2014/main" id="{71397D7B-5237-47DB-B389-0161C1266216}"/>
                </a:ext>
              </a:extLst>
            </p:cNvPr>
            <p:cNvSpPr/>
            <p:nvPr/>
          </p:nvSpPr>
          <p:spPr>
            <a:xfrm rot="5400000">
              <a:off x="10192512" y="3715511"/>
              <a:ext cx="54864" cy="74371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矩形 318">
              <a:extLst>
                <a:ext uri="{FF2B5EF4-FFF2-40B4-BE49-F238E27FC236}">
                  <a16:creationId xmlns:a16="http://schemas.microsoft.com/office/drawing/2014/main" id="{B34A8EEF-2FE0-41E9-9C08-93CAA33CCA26}"/>
                </a:ext>
              </a:extLst>
            </p:cNvPr>
            <p:cNvSpPr/>
            <p:nvPr/>
          </p:nvSpPr>
          <p:spPr>
            <a:xfrm rot="16200000">
              <a:off x="10588752" y="4050792"/>
              <a:ext cx="60960" cy="4876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文本框 319">
              <a:extLst>
                <a:ext uri="{FF2B5EF4-FFF2-40B4-BE49-F238E27FC236}">
                  <a16:creationId xmlns:a16="http://schemas.microsoft.com/office/drawing/2014/main" id="{8EA28E04-7A5B-4AC4-914A-44943E3ECC0C}"/>
                </a:ext>
              </a:extLst>
            </p:cNvPr>
            <p:cNvSpPr txBox="1"/>
            <p:nvPr/>
          </p:nvSpPr>
          <p:spPr>
            <a:xfrm>
              <a:off x="2487101" y="3971492"/>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sp>
          <p:nvSpPr>
            <p:cNvPr id="321" name="文本框 320">
              <a:extLst>
                <a:ext uri="{FF2B5EF4-FFF2-40B4-BE49-F238E27FC236}">
                  <a16:creationId xmlns:a16="http://schemas.microsoft.com/office/drawing/2014/main" id="{8B1E5CF0-0424-47E7-ACC7-6C425A51CEAB}"/>
                </a:ext>
              </a:extLst>
            </p:cNvPr>
            <p:cNvSpPr txBox="1"/>
            <p:nvPr/>
          </p:nvSpPr>
          <p:spPr>
            <a:xfrm>
              <a:off x="9150881" y="4010876"/>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4: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322" name="文本框 321">
              <a:extLst>
                <a:ext uri="{FF2B5EF4-FFF2-40B4-BE49-F238E27FC236}">
                  <a16:creationId xmlns:a16="http://schemas.microsoft.com/office/drawing/2014/main" id="{ED96E4A0-2734-48FE-86F5-DDDDB5279291}"/>
                </a:ext>
              </a:extLst>
            </p:cNvPr>
            <p:cNvSpPr txBox="1"/>
            <p:nvPr/>
          </p:nvSpPr>
          <p:spPr>
            <a:xfrm>
              <a:off x="10577283" y="3994072"/>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5: </a:t>
              </a:r>
              <a:endParaRPr lang="zh-CN" sz="600">
                <a:ea typeface="宋体"/>
                <a:cs typeface="Calibri"/>
              </a:endParaRPr>
            </a:p>
            <a:p>
              <a:r>
                <a:rPr lang="zh-CN" altLang="en-US" sz="600">
                  <a:ea typeface="宋体"/>
                  <a:cs typeface="Calibri"/>
                </a:rPr>
                <a:t>[batch_size, 1]</a:t>
              </a:r>
              <a:endParaRPr lang="zh-CN" sz="600">
                <a:ea typeface="宋体"/>
                <a:cs typeface="Calibri"/>
              </a:endParaRPr>
            </a:p>
          </p:txBody>
        </p:sp>
        <p:cxnSp>
          <p:nvCxnSpPr>
            <p:cNvPr id="323" name="直接箭头连接符 322">
              <a:extLst>
                <a:ext uri="{FF2B5EF4-FFF2-40B4-BE49-F238E27FC236}">
                  <a16:creationId xmlns:a16="http://schemas.microsoft.com/office/drawing/2014/main" id="{5AE7177F-CC7F-40CC-9E53-0C6CD6BBDEF0}"/>
                </a:ext>
              </a:extLst>
            </p:cNvPr>
            <p:cNvCxnSpPr/>
            <p:nvPr/>
          </p:nvCxnSpPr>
          <p:spPr>
            <a:xfrm flipV="1">
              <a:off x="860900" y="4032596"/>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4" name="直接箭头连接符 323">
              <a:extLst>
                <a:ext uri="{FF2B5EF4-FFF2-40B4-BE49-F238E27FC236}">
                  <a16:creationId xmlns:a16="http://schemas.microsoft.com/office/drawing/2014/main" id="{74D479FB-0C63-4034-9382-4BBC737CE76A}"/>
                </a:ext>
              </a:extLst>
            </p:cNvPr>
            <p:cNvCxnSpPr>
              <a:cxnSpLocks/>
            </p:cNvCxnSpPr>
            <p:nvPr/>
          </p:nvCxnSpPr>
          <p:spPr>
            <a:xfrm>
              <a:off x="2525107" y="4018555"/>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5" name="直接箭头连接符 324">
              <a:extLst>
                <a:ext uri="{FF2B5EF4-FFF2-40B4-BE49-F238E27FC236}">
                  <a16:creationId xmlns:a16="http://schemas.microsoft.com/office/drawing/2014/main" id="{61B0DF9C-25B6-4EBE-858F-E93C50AC2925}"/>
                </a:ext>
              </a:extLst>
            </p:cNvPr>
            <p:cNvCxnSpPr>
              <a:cxnSpLocks/>
            </p:cNvCxnSpPr>
            <p:nvPr/>
          </p:nvCxnSpPr>
          <p:spPr>
            <a:xfrm flipV="1">
              <a:off x="9230707" y="4081363"/>
              <a:ext cx="597989" cy="4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6" name="直接箭头连接符 325">
              <a:extLst>
                <a:ext uri="{FF2B5EF4-FFF2-40B4-BE49-F238E27FC236}">
                  <a16:creationId xmlns:a16="http://schemas.microsoft.com/office/drawing/2014/main" id="{577F25B6-E22A-44C9-AD23-F2420616B4F6}"/>
                </a:ext>
              </a:extLst>
            </p:cNvPr>
            <p:cNvCxnSpPr>
              <a:cxnSpLocks/>
            </p:cNvCxnSpPr>
            <p:nvPr/>
          </p:nvCxnSpPr>
          <p:spPr>
            <a:xfrm>
              <a:off x="10698075" y="4073419"/>
              <a:ext cx="555317"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7" name="矩形 326">
              <a:extLst>
                <a:ext uri="{FF2B5EF4-FFF2-40B4-BE49-F238E27FC236}">
                  <a16:creationId xmlns:a16="http://schemas.microsoft.com/office/drawing/2014/main" id="{C5EC73AC-B9D1-4C18-8819-4E4D5C6DEF01}"/>
                </a:ext>
              </a:extLst>
            </p:cNvPr>
            <p:cNvSpPr/>
            <p:nvPr/>
          </p:nvSpPr>
          <p:spPr>
            <a:xfrm>
              <a:off x="3396736" y="3328876"/>
              <a:ext cx="1527107" cy="14111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8" name="文本框 327">
              <a:extLst>
                <a:ext uri="{FF2B5EF4-FFF2-40B4-BE49-F238E27FC236}">
                  <a16:creationId xmlns:a16="http://schemas.microsoft.com/office/drawing/2014/main" id="{6D10DC06-7ECD-45F5-B891-76366A32B74D}"/>
                </a:ext>
              </a:extLst>
            </p:cNvPr>
            <p:cNvSpPr txBox="1"/>
            <p:nvPr/>
          </p:nvSpPr>
          <p:spPr>
            <a:xfrm>
              <a:off x="3584381" y="4734177"/>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1024]</a:t>
              </a:r>
            </a:p>
            <a:p>
              <a:r>
                <a:rPr lang="zh-CN" altLang="en-US" sz="600">
                  <a:ea typeface="宋体"/>
                  <a:cs typeface="Calibri"/>
                </a:rPr>
                <a:t>+</a:t>
              </a:r>
            </a:p>
            <a:p>
              <a:r>
                <a:rPr lang="zh-CN" altLang="en-US" sz="600">
                  <a:ea typeface="宋体"/>
                  <a:cs typeface="Calibri"/>
                </a:rPr>
                <a:t>ReLU</a:t>
              </a:r>
            </a:p>
          </p:txBody>
        </p:sp>
        <p:sp>
          <p:nvSpPr>
            <p:cNvPr id="329" name="矩形 328">
              <a:extLst>
                <a:ext uri="{FF2B5EF4-FFF2-40B4-BE49-F238E27FC236}">
                  <a16:creationId xmlns:a16="http://schemas.microsoft.com/office/drawing/2014/main" id="{595CED07-E0B4-47D9-B319-AFE0713AC30C}"/>
                </a:ext>
              </a:extLst>
            </p:cNvPr>
            <p:cNvSpPr/>
            <p:nvPr/>
          </p:nvSpPr>
          <p:spPr>
            <a:xfrm rot="16200000">
              <a:off x="4273296" y="3983736"/>
              <a:ext cx="1414272" cy="12192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文本框 329">
              <a:extLst>
                <a:ext uri="{FF2B5EF4-FFF2-40B4-BE49-F238E27FC236}">
                  <a16:creationId xmlns:a16="http://schemas.microsoft.com/office/drawing/2014/main" id="{4F616ED3-8341-4E9B-A996-27BD9988B701}"/>
                </a:ext>
              </a:extLst>
            </p:cNvPr>
            <p:cNvSpPr txBox="1"/>
            <p:nvPr/>
          </p:nvSpPr>
          <p:spPr>
            <a:xfrm>
              <a:off x="5041326" y="3937884"/>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cxnSp>
          <p:nvCxnSpPr>
            <p:cNvPr id="331" name="直接箭头连接符 330">
              <a:extLst>
                <a:ext uri="{FF2B5EF4-FFF2-40B4-BE49-F238E27FC236}">
                  <a16:creationId xmlns:a16="http://schemas.microsoft.com/office/drawing/2014/main" id="{995A76E3-8EAA-4768-9138-97C08EEFFF67}"/>
                </a:ext>
              </a:extLst>
            </p:cNvPr>
            <p:cNvCxnSpPr>
              <a:cxnSpLocks/>
            </p:cNvCxnSpPr>
            <p:nvPr/>
          </p:nvCxnSpPr>
          <p:spPr>
            <a:xfrm>
              <a:off x="5030563" y="4012459"/>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2" name="矩形 331">
              <a:extLst>
                <a:ext uri="{FF2B5EF4-FFF2-40B4-BE49-F238E27FC236}">
                  <a16:creationId xmlns:a16="http://schemas.microsoft.com/office/drawing/2014/main" id="{CE50FC9A-354F-49DC-A6F4-D9B33ACE4881}"/>
                </a:ext>
              </a:extLst>
            </p:cNvPr>
            <p:cNvSpPr/>
            <p:nvPr/>
          </p:nvSpPr>
          <p:spPr>
            <a:xfrm rot="16200000">
              <a:off x="6108191" y="3380232"/>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文本框 332">
              <a:extLst>
                <a:ext uri="{FF2B5EF4-FFF2-40B4-BE49-F238E27FC236}">
                  <a16:creationId xmlns:a16="http://schemas.microsoft.com/office/drawing/2014/main" id="{E20E8D78-8CB8-4405-B5B5-58C6AC504B21}"/>
                </a:ext>
              </a:extLst>
            </p:cNvPr>
            <p:cNvSpPr txBox="1"/>
            <p:nvPr/>
          </p:nvSpPr>
          <p:spPr>
            <a:xfrm>
              <a:off x="5906957" y="4441569"/>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1024]</a:t>
              </a:r>
            </a:p>
            <a:p>
              <a:r>
                <a:rPr lang="zh-CN" altLang="en-US" sz="600">
                  <a:ea typeface="宋体"/>
                  <a:cs typeface="Calibri"/>
                </a:rPr>
                <a:t>+</a:t>
              </a:r>
            </a:p>
            <a:p>
              <a:r>
                <a:rPr lang="zh-CN" altLang="en-US" sz="600">
                  <a:ea typeface="宋体"/>
                  <a:cs typeface="Calibri"/>
                </a:rPr>
                <a:t>ReLU</a:t>
              </a:r>
            </a:p>
          </p:txBody>
        </p:sp>
        <p:sp>
          <p:nvSpPr>
            <p:cNvPr id="334" name="矩形 333">
              <a:extLst>
                <a:ext uri="{FF2B5EF4-FFF2-40B4-BE49-F238E27FC236}">
                  <a16:creationId xmlns:a16="http://schemas.microsoft.com/office/drawing/2014/main" id="{A78C542E-A0C4-4609-8385-B79E9FD3FB18}"/>
                </a:ext>
              </a:extLst>
            </p:cNvPr>
            <p:cNvSpPr/>
            <p:nvPr/>
          </p:nvSpPr>
          <p:spPr>
            <a:xfrm rot="16200000">
              <a:off x="6809232" y="3977640"/>
              <a:ext cx="841248" cy="975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文本框 334">
              <a:extLst>
                <a:ext uri="{FF2B5EF4-FFF2-40B4-BE49-F238E27FC236}">
                  <a16:creationId xmlns:a16="http://schemas.microsoft.com/office/drawing/2014/main" id="{96F73F44-82E3-485B-AD92-2923735F5C57}"/>
                </a:ext>
              </a:extLst>
            </p:cNvPr>
            <p:cNvSpPr txBox="1"/>
            <p:nvPr/>
          </p:nvSpPr>
          <p:spPr>
            <a:xfrm>
              <a:off x="7223693" y="3971333"/>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cxnSp>
          <p:nvCxnSpPr>
            <p:cNvPr id="336" name="直接箭头连接符 335">
              <a:extLst>
                <a:ext uri="{FF2B5EF4-FFF2-40B4-BE49-F238E27FC236}">
                  <a16:creationId xmlns:a16="http://schemas.microsoft.com/office/drawing/2014/main" id="{5D645F75-6800-45FB-9CCC-A69E2A7BA7C5}"/>
                </a:ext>
              </a:extLst>
            </p:cNvPr>
            <p:cNvCxnSpPr>
              <a:cxnSpLocks/>
            </p:cNvCxnSpPr>
            <p:nvPr/>
          </p:nvCxnSpPr>
          <p:spPr>
            <a:xfrm flipV="1">
              <a:off x="7279987" y="4038691"/>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786F6671-6ACE-4014-B075-D0F1D23FEF56}"/>
              </a:ext>
            </a:extLst>
          </p:cNvPr>
          <p:cNvGrpSpPr/>
          <p:nvPr/>
        </p:nvGrpSpPr>
        <p:grpSpPr>
          <a:xfrm>
            <a:off x="365760" y="5285231"/>
            <a:ext cx="1591055" cy="903994"/>
            <a:chOff x="310896" y="4462271"/>
            <a:chExt cx="1591055" cy="903994"/>
          </a:xfrm>
        </p:grpSpPr>
        <p:sp>
          <p:nvSpPr>
            <p:cNvPr id="351" name="矩形 350">
              <a:extLst>
                <a:ext uri="{FF2B5EF4-FFF2-40B4-BE49-F238E27FC236}">
                  <a16:creationId xmlns:a16="http://schemas.microsoft.com/office/drawing/2014/main" id="{D1B9D0E2-112E-440F-9788-3E5BC635BBF7}"/>
                </a:ext>
              </a:extLst>
            </p:cNvPr>
            <p:cNvSpPr/>
            <p:nvPr/>
          </p:nvSpPr>
          <p:spPr>
            <a:xfrm>
              <a:off x="310896" y="4648200"/>
              <a:ext cx="609600" cy="67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矩形 351">
              <a:extLst>
                <a:ext uri="{FF2B5EF4-FFF2-40B4-BE49-F238E27FC236}">
                  <a16:creationId xmlns:a16="http://schemas.microsoft.com/office/drawing/2014/main" id="{59915F54-9878-4A0E-A059-FE2539BF695A}"/>
                </a:ext>
              </a:extLst>
            </p:cNvPr>
            <p:cNvSpPr/>
            <p:nvPr/>
          </p:nvSpPr>
          <p:spPr>
            <a:xfrm>
              <a:off x="310896" y="4788408"/>
              <a:ext cx="609600" cy="6705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3" name="矩形 352">
              <a:extLst>
                <a:ext uri="{FF2B5EF4-FFF2-40B4-BE49-F238E27FC236}">
                  <a16:creationId xmlns:a16="http://schemas.microsoft.com/office/drawing/2014/main" id="{1ECBC86D-4372-427E-A45B-FB5C73BB6EDA}"/>
                </a:ext>
              </a:extLst>
            </p:cNvPr>
            <p:cNvSpPr/>
            <p:nvPr/>
          </p:nvSpPr>
          <p:spPr>
            <a:xfrm>
              <a:off x="310896" y="4928616"/>
              <a:ext cx="609600" cy="670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4" name="矩形 353">
              <a:extLst>
                <a:ext uri="{FF2B5EF4-FFF2-40B4-BE49-F238E27FC236}">
                  <a16:creationId xmlns:a16="http://schemas.microsoft.com/office/drawing/2014/main" id="{4A8CD1CD-BE58-4AE5-8F5E-82BC528E6A26}"/>
                </a:ext>
              </a:extLst>
            </p:cNvPr>
            <p:cNvSpPr/>
            <p:nvPr/>
          </p:nvSpPr>
          <p:spPr>
            <a:xfrm>
              <a:off x="310896" y="5093208"/>
              <a:ext cx="609600" cy="67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矩形 354">
              <a:extLst>
                <a:ext uri="{FF2B5EF4-FFF2-40B4-BE49-F238E27FC236}">
                  <a16:creationId xmlns:a16="http://schemas.microsoft.com/office/drawing/2014/main" id="{674BCD1D-C4BB-49D7-A2DC-44CF47279B22}"/>
                </a:ext>
              </a:extLst>
            </p:cNvPr>
            <p:cNvSpPr/>
            <p:nvPr/>
          </p:nvSpPr>
          <p:spPr>
            <a:xfrm>
              <a:off x="310896" y="5233416"/>
              <a:ext cx="609600" cy="6705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矩形 355">
              <a:extLst>
                <a:ext uri="{FF2B5EF4-FFF2-40B4-BE49-F238E27FC236}">
                  <a16:creationId xmlns:a16="http://schemas.microsoft.com/office/drawing/2014/main" id="{4BC6445C-4F19-41EE-BBE7-795D97283488}"/>
                </a:ext>
              </a:extLst>
            </p:cNvPr>
            <p:cNvSpPr/>
            <p:nvPr/>
          </p:nvSpPr>
          <p:spPr>
            <a:xfrm>
              <a:off x="310896" y="4520184"/>
              <a:ext cx="609600" cy="6705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7" name="文本框 356">
              <a:extLst>
                <a:ext uri="{FF2B5EF4-FFF2-40B4-BE49-F238E27FC236}">
                  <a16:creationId xmlns:a16="http://schemas.microsoft.com/office/drawing/2014/main" id="{85BE1BAD-118F-45A3-8F58-19FA035C0274}"/>
                </a:ext>
              </a:extLst>
            </p:cNvPr>
            <p:cNvSpPr txBox="1"/>
            <p:nvPr/>
          </p:nvSpPr>
          <p:spPr>
            <a:xfrm>
              <a:off x="920496" y="5035296"/>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nn.EmbeddingBag</a:t>
              </a:r>
            </a:p>
          </p:txBody>
        </p:sp>
        <p:sp>
          <p:nvSpPr>
            <p:cNvPr id="358" name="文本框 357">
              <a:extLst>
                <a:ext uri="{FF2B5EF4-FFF2-40B4-BE49-F238E27FC236}">
                  <a16:creationId xmlns:a16="http://schemas.microsoft.com/office/drawing/2014/main" id="{0BD6E53B-63A6-43D7-9679-791DD3634982}"/>
                </a:ext>
              </a:extLst>
            </p:cNvPr>
            <p:cNvSpPr txBox="1"/>
            <p:nvPr/>
          </p:nvSpPr>
          <p:spPr>
            <a:xfrm>
              <a:off x="920495" y="5181599"/>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Sigmoid</a:t>
              </a:r>
            </a:p>
          </p:txBody>
        </p:sp>
        <p:sp>
          <p:nvSpPr>
            <p:cNvPr id="359" name="文本框 358">
              <a:extLst>
                <a:ext uri="{FF2B5EF4-FFF2-40B4-BE49-F238E27FC236}">
                  <a16:creationId xmlns:a16="http://schemas.microsoft.com/office/drawing/2014/main" id="{CFF0EA42-3789-4FF2-9BEE-07889E46BAB2}"/>
                </a:ext>
              </a:extLst>
            </p:cNvPr>
            <p:cNvSpPr txBox="1"/>
            <p:nvPr/>
          </p:nvSpPr>
          <p:spPr>
            <a:xfrm>
              <a:off x="920495" y="4876799"/>
              <a:ext cx="981456"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Data/Simple Operations</a:t>
              </a:r>
            </a:p>
          </p:txBody>
        </p:sp>
        <p:sp>
          <p:nvSpPr>
            <p:cNvPr id="360" name="文本框 359">
              <a:extLst>
                <a:ext uri="{FF2B5EF4-FFF2-40B4-BE49-F238E27FC236}">
                  <a16:creationId xmlns:a16="http://schemas.microsoft.com/office/drawing/2014/main" id="{2E30F26E-18D8-4F9C-B345-CF8A0627BF34}"/>
                </a:ext>
              </a:extLst>
            </p:cNvPr>
            <p:cNvSpPr txBox="1"/>
            <p:nvPr/>
          </p:nvSpPr>
          <p:spPr>
            <a:xfrm>
              <a:off x="920495" y="4730495"/>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ReLU</a:t>
              </a:r>
            </a:p>
          </p:txBody>
        </p:sp>
        <p:sp>
          <p:nvSpPr>
            <p:cNvPr id="361" name="文本框 360">
              <a:extLst>
                <a:ext uri="{FF2B5EF4-FFF2-40B4-BE49-F238E27FC236}">
                  <a16:creationId xmlns:a16="http://schemas.microsoft.com/office/drawing/2014/main" id="{743B6DED-B46C-4763-988F-47A40A9BEB02}"/>
                </a:ext>
              </a:extLst>
            </p:cNvPr>
            <p:cNvSpPr txBox="1"/>
            <p:nvPr/>
          </p:nvSpPr>
          <p:spPr>
            <a:xfrm>
              <a:off x="920495" y="4596383"/>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a:t>
              </a:r>
              <a:endParaRPr lang="zh-CN" altLang="en-US" sz="600" dirty="0">
                <a:ea typeface="宋体"/>
                <a:cs typeface="Calibri"/>
              </a:endParaRPr>
            </a:p>
          </p:txBody>
        </p:sp>
        <p:sp>
          <p:nvSpPr>
            <p:cNvPr id="362" name="文本框 361">
              <a:extLst>
                <a:ext uri="{FF2B5EF4-FFF2-40B4-BE49-F238E27FC236}">
                  <a16:creationId xmlns:a16="http://schemas.microsoft.com/office/drawing/2014/main" id="{8C9013F9-AE8B-4BBC-823E-88D8F0380796}"/>
                </a:ext>
              </a:extLst>
            </p:cNvPr>
            <p:cNvSpPr txBox="1"/>
            <p:nvPr/>
          </p:nvSpPr>
          <p:spPr>
            <a:xfrm>
              <a:off x="920495" y="4462271"/>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Offsets</a:t>
              </a:r>
            </a:p>
          </p:txBody>
        </p:sp>
      </p:grpSp>
    </p:spTree>
    <p:extLst>
      <p:ext uri="{BB962C8B-B14F-4D97-AF65-F5344CB8AC3E}">
        <p14:creationId xmlns:p14="http://schemas.microsoft.com/office/powerpoint/2010/main" val="2455200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标题 1">
            <a:extLst>
              <a:ext uri="{FF2B5EF4-FFF2-40B4-BE49-F238E27FC236}">
                <a16:creationId xmlns:a16="http://schemas.microsoft.com/office/drawing/2014/main" id="{85F701CF-057A-4CDE-B0FC-2CC284047B38}"/>
              </a:ext>
            </a:extLst>
          </p:cNvPr>
          <p:cNvSpPr txBox="1">
            <a:spLocks/>
          </p:cNvSpPr>
          <p:nvPr/>
        </p:nvSpPr>
        <p:spPr>
          <a:xfrm>
            <a:off x="765048" y="493141"/>
            <a:ext cx="10509504" cy="8927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a:latin typeface="SimSun"/>
                <a:ea typeface="SimSun"/>
                <a:cs typeface="Calibri Light"/>
              </a:rPr>
              <a:t>Operations of X_i on device D_i with QREmbeddingBag </a:t>
            </a:r>
            <a:r>
              <a:rPr lang="zh-CN" sz="2800">
                <a:latin typeface="SimSun"/>
                <a:ea typeface="SimSun"/>
                <a:cs typeface="Calibri Light"/>
              </a:rPr>
              <a:t>under</a:t>
            </a:r>
            <a:br>
              <a:rPr lang="zh-CN" sz="2800" dirty="0">
                <a:latin typeface="SimSun"/>
                <a:ea typeface="SimSun"/>
                <a:cs typeface="Calibri Light"/>
              </a:rPr>
            </a:br>
            <a:r>
              <a:rPr lang="zh-CN" sz="2800">
                <a:latin typeface="SimSun"/>
                <a:ea typeface="SimSun"/>
                <a:cs typeface="Calibri Light"/>
              </a:rPr>
              <a:t>the 'run_and_time.sh' setting</a:t>
            </a:r>
            <a:endParaRPr lang="zh-CN" sz="2800">
              <a:latin typeface="SimSun"/>
              <a:ea typeface="SimSun"/>
              <a:cs typeface="+mj-lt"/>
            </a:endParaRPr>
          </a:p>
        </p:txBody>
      </p:sp>
      <p:cxnSp>
        <p:nvCxnSpPr>
          <p:cNvPr id="183" name="直接箭头连接符 182">
            <a:extLst>
              <a:ext uri="{FF2B5EF4-FFF2-40B4-BE49-F238E27FC236}">
                <a16:creationId xmlns:a16="http://schemas.microsoft.com/office/drawing/2014/main" id="{A62C7C45-0A84-4264-9A86-3331EB0E9F15}"/>
              </a:ext>
            </a:extLst>
          </p:cNvPr>
          <p:cNvCxnSpPr>
            <a:cxnSpLocks/>
          </p:cNvCxnSpPr>
          <p:nvPr/>
        </p:nvCxnSpPr>
        <p:spPr>
          <a:xfrm flipH="1">
            <a:off x="8169097" y="3458348"/>
            <a:ext cx="827909" cy="775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5" name="菱形 184">
            <a:extLst>
              <a:ext uri="{FF2B5EF4-FFF2-40B4-BE49-F238E27FC236}">
                <a16:creationId xmlns:a16="http://schemas.microsoft.com/office/drawing/2014/main" id="{24EF2345-52A3-4ACB-A7B7-F01E45BF216D}"/>
              </a:ext>
            </a:extLst>
          </p:cNvPr>
          <p:cNvSpPr/>
          <p:nvPr/>
        </p:nvSpPr>
        <p:spPr>
          <a:xfrm>
            <a:off x="170401" y="4179493"/>
            <a:ext cx="11390243" cy="339785"/>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Concat the 2 tensors (and optionally do dot product with its own transposition)</a:t>
            </a:r>
          </a:p>
        </p:txBody>
      </p:sp>
      <p:cxnSp>
        <p:nvCxnSpPr>
          <p:cNvPr id="187" name="直接箭头连接符 186">
            <a:extLst>
              <a:ext uri="{FF2B5EF4-FFF2-40B4-BE49-F238E27FC236}">
                <a16:creationId xmlns:a16="http://schemas.microsoft.com/office/drawing/2014/main" id="{000D7689-3D51-4540-A093-272512545452}"/>
              </a:ext>
            </a:extLst>
          </p:cNvPr>
          <p:cNvCxnSpPr/>
          <p:nvPr/>
        </p:nvCxnSpPr>
        <p:spPr>
          <a:xfrm>
            <a:off x="5853214" y="4547567"/>
            <a:ext cx="2741" cy="186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87A87C0E-32E9-4805-AD92-F19F590BD42E}"/>
              </a:ext>
            </a:extLst>
          </p:cNvPr>
          <p:cNvCxnSpPr>
            <a:cxnSpLocks/>
          </p:cNvCxnSpPr>
          <p:nvPr/>
        </p:nvCxnSpPr>
        <p:spPr>
          <a:xfrm>
            <a:off x="5727847" y="6218929"/>
            <a:ext cx="1591" cy="180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矩形 190">
            <a:extLst>
              <a:ext uri="{FF2B5EF4-FFF2-40B4-BE49-F238E27FC236}">
                <a16:creationId xmlns:a16="http://schemas.microsoft.com/office/drawing/2014/main" id="{2F34E027-0BC7-4619-B76B-C0A1D6D6CFF5}"/>
              </a:ext>
            </a:extLst>
          </p:cNvPr>
          <p:cNvSpPr/>
          <p:nvPr/>
        </p:nvSpPr>
        <p:spPr>
          <a:xfrm>
            <a:off x="5306171" y="6403847"/>
            <a:ext cx="941256" cy="27891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Output_i</a:t>
            </a:r>
          </a:p>
        </p:txBody>
      </p:sp>
      <p:sp>
        <p:nvSpPr>
          <p:cNvPr id="197" name="矩形 196">
            <a:extLst>
              <a:ext uri="{FF2B5EF4-FFF2-40B4-BE49-F238E27FC236}">
                <a16:creationId xmlns:a16="http://schemas.microsoft.com/office/drawing/2014/main" id="{CCA41C2E-F747-4B06-A55F-F4E9C7E8964C}"/>
              </a:ext>
            </a:extLst>
          </p:cNvPr>
          <p:cNvSpPr/>
          <p:nvPr/>
        </p:nvSpPr>
        <p:spPr>
          <a:xfrm>
            <a:off x="8363976" y="1502928"/>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Continous _X_i</a:t>
            </a:r>
          </a:p>
        </p:txBody>
      </p:sp>
      <p:cxnSp>
        <p:nvCxnSpPr>
          <p:cNvPr id="199" name="直接箭头连接符 198">
            <a:extLst>
              <a:ext uri="{FF2B5EF4-FFF2-40B4-BE49-F238E27FC236}">
                <a16:creationId xmlns:a16="http://schemas.microsoft.com/office/drawing/2014/main" id="{BA4F921F-CAB9-4858-AB8D-4D6CCA6D327B}"/>
              </a:ext>
            </a:extLst>
          </p:cNvPr>
          <p:cNvCxnSpPr>
            <a:cxnSpLocks/>
          </p:cNvCxnSpPr>
          <p:nvPr/>
        </p:nvCxnSpPr>
        <p:spPr>
          <a:xfrm>
            <a:off x="9338364" y="2061640"/>
            <a:ext cx="5038" cy="220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3" name="矩形 202">
            <a:extLst>
              <a:ext uri="{FF2B5EF4-FFF2-40B4-BE49-F238E27FC236}">
                <a16:creationId xmlns:a16="http://schemas.microsoft.com/office/drawing/2014/main" id="{AE3AE479-2902-412B-8007-EC43D4B9BF3E}"/>
              </a:ext>
            </a:extLst>
          </p:cNvPr>
          <p:cNvSpPr/>
          <p:nvPr/>
        </p:nvSpPr>
        <p:spPr>
          <a:xfrm>
            <a:off x="770982" y="1433142"/>
            <a:ext cx="1934639" cy="56118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Categorical_X_i</a:t>
            </a:r>
          </a:p>
        </p:txBody>
      </p:sp>
      <p:cxnSp>
        <p:nvCxnSpPr>
          <p:cNvPr id="205" name="直接箭头连接符 204">
            <a:extLst>
              <a:ext uri="{FF2B5EF4-FFF2-40B4-BE49-F238E27FC236}">
                <a16:creationId xmlns:a16="http://schemas.microsoft.com/office/drawing/2014/main" id="{5DF9FA13-4552-4E16-BFA7-3F4314F0802A}"/>
              </a:ext>
            </a:extLst>
          </p:cNvPr>
          <p:cNvCxnSpPr/>
          <p:nvPr/>
        </p:nvCxnSpPr>
        <p:spPr>
          <a:xfrm>
            <a:off x="1628996" y="1994684"/>
            <a:ext cx="1091765" cy="306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7" name="矩形 206">
            <a:extLst>
              <a:ext uri="{FF2B5EF4-FFF2-40B4-BE49-F238E27FC236}">
                <a16:creationId xmlns:a16="http://schemas.microsoft.com/office/drawing/2014/main" id="{71356876-0EB9-44F7-92CF-CB657C87311F}"/>
              </a:ext>
            </a:extLst>
          </p:cNvPr>
          <p:cNvSpPr/>
          <p:nvPr/>
        </p:nvSpPr>
        <p:spPr>
          <a:xfrm>
            <a:off x="3160700" y="1383766"/>
            <a:ext cx="1882586" cy="6019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ea typeface="宋体"/>
                <a:cs typeface="Calibri"/>
              </a:rPr>
              <a:t>Offsets_i</a:t>
            </a:r>
            <a:endParaRPr lang="zh-CN" altLang="en-US"/>
          </a:p>
        </p:txBody>
      </p:sp>
      <p:cxnSp>
        <p:nvCxnSpPr>
          <p:cNvPr id="209" name="直接箭头连接符 208">
            <a:extLst>
              <a:ext uri="{FF2B5EF4-FFF2-40B4-BE49-F238E27FC236}">
                <a16:creationId xmlns:a16="http://schemas.microsoft.com/office/drawing/2014/main" id="{05C6B27E-28EA-4A99-8236-F34BB73B09DA}"/>
              </a:ext>
            </a:extLst>
          </p:cNvPr>
          <p:cNvCxnSpPr>
            <a:cxnSpLocks/>
          </p:cNvCxnSpPr>
          <p:nvPr/>
        </p:nvCxnSpPr>
        <p:spPr>
          <a:xfrm flipH="1">
            <a:off x="3117615" y="1994684"/>
            <a:ext cx="1040707" cy="300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D4DEB65D-5A78-4251-8077-BBA9C31E796F}"/>
              </a:ext>
            </a:extLst>
          </p:cNvPr>
          <p:cNvSpPr txBox="1"/>
          <p:nvPr/>
        </p:nvSpPr>
        <p:spPr>
          <a:xfrm>
            <a:off x="6350853" y="168391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a:ea typeface="宋体"/>
              </a:rPr>
              <a:t>or</a:t>
            </a:r>
            <a:endParaRPr lang="zh-CN" altLang="en-US"/>
          </a:p>
        </p:txBody>
      </p:sp>
      <p:sp>
        <p:nvSpPr>
          <p:cNvPr id="278" name="矩形 277">
            <a:extLst>
              <a:ext uri="{FF2B5EF4-FFF2-40B4-BE49-F238E27FC236}">
                <a16:creationId xmlns:a16="http://schemas.microsoft.com/office/drawing/2014/main" id="{659A18CB-B989-426C-8DC8-F244CFDE2CF5}"/>
              </a:ext>
            </a:extLst>
          </p:cNvPr>
          <p:cNvSpPr/>
          <p:nvPr/>
        </p:nvSpPr>
        <p:spPr>
          <a:xfrm>
            <a:off x="2578608" y="4733544"/>
            <a:ext cx="7662672" cy="1481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9" name="矩形 278">
            <a:extLst>
              <a:ext uri="{FF2B5EF4-FFF2-40B4-BE49-F238E27FC236}">
                <a16:creationId xmlns:a16="http://schemas.microsoft.com/office/drawing/2014/main" id="{F878B274-41C4-4F44-829E-3648D7C67F7F}"/>
              </a:ext>
            </a:extLst>
          </p:cNvPr>
          <p:cNvSpPr/>
          <p:nvPr/>
        </p:nvSpPr>
        <p:spPr>
          <a:xfrm>
            <a:off x="6589776" y="2282951"/>
            <a:ext cx="5498592" cy="11826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9DC2AD0-6AB0-4487-9B7D-2A7792621304}"/>
              </a:ext>
            </a:extLst>
          </p:cNvPr>
          <p:cNvGrpSpPr/>
          <p:nvPr/>
        </p:nvGrpSpPr>
        <p:grpSpPr>
          <a:xfrm>
            <a:off x="6620189" y="2331723"/>
            <a:ext cx="5578240" cy="1016144"/>
            <a:chOff x="1213038" y="3488302"/>
            <a:chExt cx="5639201" cy="1662313"/>
          </a:xfrm>
        </p:grpSpPr>
        <p:sp>
          <p:nvSpPr>
            <p:cNvPr id="97" name="文本框 96">
              <a:extLst>
                <a:ext uri="{FF2B5EF4-FFF2-40B4-BE49-F238E27FC236}">
                  <a16:creationId xmlns:a16="http://schemas.microsoft.com/office/drawing/2014/main" id="{BB5E55D3-B399-4602-A6CA-16C72EACEFDC}"/>
                </a:ext>
              </a:extLst>
            </p:cNvPr>
            <p:cNvSpPr txBox="1"/>
            <p:nvPr/>
          </p:nvSpPr>
          <p:spPr>
            <a:xfrm>
              <a:off x="1213038" y="4090159"/>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13]</a:t>
              </a:r>
              <a:endParaRPr lang="zh-CN" sz="600">
                <a:ea typeface="宋体"/>
                <a:cs typeface="Calibri"/>
              </a:endParaRPr>
            </a:p>
          </p:txBody>
        </p:sp>
        <p:sp>
          <p:nvSpPr>
            <p:cNvPr id="98" name="矩形 97">
              <a:extLst>
                <a:ext uri="{FF2B5EF4-FFF2-40B4-BE49-F238E27FC236}">
                  <a16:creationId xmlns:a16="http://schemas.microsoft.com/office/drawing/2014/main" id="{F82A6250-98B1-461E-9CF7-84DCCFFC2F78}"/>
                </a:ext>
              </a:extLst>
            </p:cNvPr>
            <p:cNvSpPr/>
            <p:nvPr/>
          </p:nvSpPr>
          <p:spPr>
            <a:xfrm rot="16200000">
              <a:off x="1420368" y="4075176"/>
              <a:ext cx="1280160" cy="1463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860D4F39-168A-4B2E-A40D-095DC9923A93}"/>
                </a:ext>
              </a:extLst>
            </p:cNvPr>
            <p:cNvSpPr txBox="1"/>
            <p:nvPr/>
          </p:nvSpPr>
          <p:spPr>
            <a:xfrm>
              <a:off x="1879435" y="4781283"/>
              <a:ext cx="140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13]</a:t>
              </a:r>
            </a:p>
            <a:p>
              <a:r>
                <a:rPr lang="zh-CN" altLang="en-US" sz="600">
                  <a:ea typeface="宋体"/>
                  <a:cs typeface="Calibri"/>
                </a:rPr>
                <a:t>+</a:t>
              </a:r>
            </a:p>
            <a:p>
              <a:r>
                <a:rPr lang="zh-CN" altLang="en-US" sz="600">
                  <a:ea typeface="宋体"/>
                  <a:cs typeface="Calibri"/>
                </a:rPr>
                <a:t>ReLU</a:t>
              </a:r>
            </a:p>
          </p:txBody>
        </p:sp>
        <p:sp>
          <p:nvSpPr>
            <p:cNvPr id="100" name="文本框 99">
              <a:extLst>
                <a:ext uri="{FF2B5EF4-FFF2-40B4-BE49-F238E27FC236}">
                  <a16:creationId xmlns:a16="http://schemas.microsoft.com/office/drawing/2014/main" id="{C7AB2D07-9ECA-499A-BC05-D9C6E8F2B3B6}"/>
                </a:ext>
              </a:extLst>
            </p:cNvPr>
            <p:cNvSpPr txBox="1"/>
            <p:nvPr/>
          </p:nvSpPr>
          <p:spPr>
            <a:xfrm>
              <a:off x="3303965" y="4514721"/>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dirty="0">
                  <a:ea typeface="+mn-lt"/>
                  <a:cs typeface="+mn-lt"/>
                </a:rPr>
                <a:t>, </a:t>
              </a:r>
              <a:r>
                <a:rPr lang="en-US" altLang="zh-CN" sz="600" dirty="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1" name="矩形 100">
              <a:extLst>
                <a:ext uri="{FF2B5EF4-FFF2-40B4-BE49-F238E27FC236}">
                  <a16:creationId xmlns:a16="http://schemas.microsoft.com/office/drawing/2014/main" id="{D6529202-A744-40EB-B723-A0C6CCE0180A}"/>
                </a:ext>
              </a:extLst>
            </p:cNvPr>
            <p:cNvSpPr/>
            <p:nvPr/>
          </p:nvSpPr>
          <p:spPr>
            <a:xfrm>
              <a:off x="3121152" y="3776472"/>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8194F929-6658-47BC-BC6F-CBD8DABFC948}"/>
                </a:ext>
              </a:extLst>
            </p:cNvPr>
            <p:cNvSpPr/>
            <p:nvPr/>
          </p:nvSpPr>
          <p:spPr>
            <a:xfrm rot="16200000">
              <a:off x="1557661" y="4070470"/>
              <a:ext cx="1292351" cy="12801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B9C5AA47-AD59-4C90-85CB-94C1AB407AC0}"/>
                </a:ext>
              </a:extLst>
            </p:cNvPr>
            <p:cNvSpPr/>
            <p:nvPr/>
          </p:nvSpPr>
          <p:spPr>
            <a:xfrm rot="16200000">
              <a:off x="3916680" y="4096512"/>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a:extLst>
                <a:ext uri="{FF2B5EF4-FFF2-40B4-BE49-F238E27FC236}">
                  <a16:creationId xmlns:a16="http://schemas.microsoft.com/office/drawing/2014/main" id="{F1B9E268-D478-4133-A3A8-99FC5905A23A}"/>
                </a:ext>
              </a:extLst>
            </p:cNvPr>
            <p:cNvSpPr txBox="1"/>
            <p:nvPr/>
          </p:nvSpPr>
          <p:spPr>
            <a:xfrm>
              <a:off x="5199821" y="4368417"/>
              <a:ext cx="1298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[1</a:t>
              </a:r>
              <a:r>
                <a:rPr lang="en-US" altLang="zh-CN" sz="600">
                  <a:ea typeface="+mn-lt"/>
                  <a:cs typeface="+mn-lt"/>
                </a:rPr>
                <a:t>28,</a:t>
              </a:r>
              <a:r>
                <a:rPr lang="zh-CN" altLang="en-US" sz="600" dirty="0">
                  <a:ea typeface="+mn-lt"/>
                  <a:cs typeface="+mn-lt"/>
                </a:rPr>
                <a:t> </a:t>
              </a:r>
              <a:r>
                <a:rPr lang="en-US" altLang="en-US" sz="60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105" name="矩形 104">
              <a:extLst>
                <a:ext uri="{FF2B5EF4-FFF2-40B4-BE49-F238E27FC236}">
                  <a16:creationId xmlns:a16="http://schemas.microsoft.com/office/drawing/2014/main" id="{53332877-A20E-4336-9BA7-25D054FF89A1}"/>
                </a:ext>
              </a:extLst>
            </p:cNvPr>
            <p:cNvSpPr/>
            <p:nvPr/>
          </p:nvSpPr>
          <p:spPr>
            <a:xfrm rot="5400000">
              <a:off x="5370576" y="3813047"/>
              <a:ext cx="384048" cy="707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a:extLst>
                <a:ext uri="{FF2B5EF4-FFF2-40B4-BE49-F238E27FC236}">
                  <a16:creationId xmlns:a16="http://schemas.microsoft.com/office/drawing/2014/main" id="{25D11349-BF13-405D-98C8-658FC92D4AA9}"/>
                </a:ext>
              </a:extLst>
            </p:cNvPr>
            <p:cNvSpPr/>
            <p:nvPr/>
          </p:nvSpPr>
          <p:spPr>
            <a:xfrm rot="16200000">
              <a:off x="5763768" y="4126992"/>
              <a:ext cx="390144"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AA5B010C-D933-4553-8B64-D3AEE2E346FC}"/>
                </a:ext>
              </a:extLst>
            </p:cNvPr>
            <p:cNvSpPr txBox="1"/>
            <p:nvPr/>
          </p:nvSpPr>
          <p:spPr>
            <a:xfrm>
              <a:off x="2304221" y="4046392"/>
              <a:ext cx="8111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sp>
          <p:nvSpPr>
            <p:cNvPr id="108" name="文本框 107">
              <a:extLst>
                <a:ext uri="{FF2B5EF4-FFF2-40B4-BE49-F238E27FC236}">
                  <a16:creationId xmlns:a16="http://schemas.microsoft.com/office/drawing/2014/main" id="{A43A1EF2-103D-49E9-B7AA-8BDE819063BC}"/>
                </a:ext>
              </a:extLst>
            </p:cNvPr>
            <p:cNvSpPr txBox="1"/>
            <p:nvPr/>
          </p:nvSpPr>
          <p:spPr>
            <a:xfrm>
              <a:off x="4328093" y="4130611"/>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109" name="文本框 108">
              <a:extLst>
                <a:ext uri="{FF2B5EF4-FFF2-40B4-BE49-F238E27FC236}">
                  <a16:creationId xmlns:a16="http://schemas.microsoft.com/office/drawing/2014/main" id="{7BBF644E-97A1-4B3E-B67D-A4ECBAF2AC39}"/>
                </a:ext>
              </a:extLst>
            </p:cNvPr>
            <p:cNvSpPr txBox="1"/>
            <p:nvPr/>
          </p:nvSpPr>
          <p:spPr>
            <a:xfrm>
              <a:off x="5937437" y="4137270"/>
              <a:ext cx="9148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128]</a:t>
              </a:r>
              <a:endParaRPr lang="zh-CN" sz="600">
                <a:ea typeface="宋体"/>
                <a:cs typeface="Calibri"/>
              </a:endParaRPr>
            </a:p>
          </p:txBody>
        </p:sp>
        <p:cxnSp>
          <p:nvCxnSpPr>
            <p:cNvPr id="110" name="直接箭头连接符 109">
              <a:extLst>
                <a:ext uri="{FF2B5EF4-FFF2-40B4-BE49-F238E27FC236}">
                  <a16:creationId xmlns:a16="http://schemas.microsoft.com/office/drawing/2014/main" id="{F7AF1A0A-F89A-45C1-9CFB-7A27BF0CD700}"/>
                </a:ext>
              </a:extLst>
            </p:cNvPr>
            <p:cNvCxnSpPr/>
            <p:nvPr/>
          </p:nvCxnSpPr>
          <p:spPr>
            <a:xfrm flipV="1">
              <a:off x="1269332" y="4142324"/>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F87688C5-5EC9-47DF-81EE-048B994740CE}"/>
                </a:ext>
              </a:extLst>
            </p:cNvPr>
            <p:cNvCxnSpPr>
              <a:cxnSpLocks/>
            </p:cNvCxnSpPr>
            <p:nvPr/>
          </p:nvCxnSpPr>
          <p:spPr>
            <a:xfrm>
              <a:off x="2250787" y="4116091"/>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B81E2477-B977-4FB2-BD29-9B116A4605E0}"/>
                </a:ext>
              </a:extLst>
            </p:cNvPr>
            <p:cNvCxnSpPr>
              <a:cxnSpLocks/>
            </p:cNvCxnSpPr>
            <p:nvPr/>
          </p:nvCxnSpPr>
          <p:spPr>
            <a:xfrm>
              <a:off x="4347811" y="4183147"/>
              <a:ext cx="860117" cy="7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FF0BC785-1C06-483C-BA88-01C56D9797DF}"/>
                </a:ext>
              </a:extLst>
            </p:cNvPr>
            <p:cNvCxnSpPr>
              <a:cxnSpLocks/>
            </p:cNvCxnSpPr>
            <p:nvPr/>
          </p:nvCxnSpPr>
          <p:spPr>
            <a:xfrm>
              <a:off x="5993731" y="4183147"/>
              <a:ext cx="658949"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E687E14F-8564-4DE3-B73F-780119A06181}"/>
              </a:ext>
            </a:extLst>
          </p:cNvPr>
          <p:cNvGrpSpPr/>
          <p:nvPr/>
        </p:nvGrpSpPr>
        <p:grpSpPr>
          <a:xfrm>
            <a:off x="626615" y="2342891"/>
            <a:ext cx="5655664" cy="1748971"/>
            <a:chOff x="-180697" y="2640668"/>
            <a:chExt cx="11291246" cy="4169538"/>
          </a:xfrm>
        </p:grpSpPr>
        <p:sp>
          <p:nvSpPr>
            <p:cNvPr id="79" name="文本框 78">
              <a:extLst>
                <a:ext uri="{FF2B5EF4-FFF2-40B4-BE49-F238E27FC236}">
                  <a16:creationId xmlns:a16="http://schemas.microsoft.com/office/drawing/2014/main" id="{7EF412D3-17AC-4C9A-8FCF-0B4D8127B607}"/>
                </a:ext>
              </a:extLst>
            </p:cNvPr>
            <p:cNvSpPr txBox="1"/>
            <p:nvPr/>
          </p:nvSpPr>
          <p:spPr>
            <a:xfrm>
              <a:off x="-180697" y="3464873"/>
              <a:ext cx="1682816" cy="8804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x: [batch_size]</a:t>
              </a:r>
            </a:p>
          </p:txBody>
        </p:sp>
        <p:grpSp>
          <p:nvGrpSpPr>
            <p:cNvPr id="80" name="组合 79">
              <a:extLst>
                <a:ext uri="{FF2B5EF4-FFF2-40B4-BE49-F238E27FC236}">
                  <a16:creationId xmlns:a16="http://schemas.microsoft.com/office/drawing/2014/main" id="{8948A452-E988-44C6-89CB-65A850076AD3}"/>
                </a:ext>
              </a:extLst>
            </p:cNvPr>
            <p:cNvGrpSpPr/>
            <p:nvPr/>
          </p:nvGrpSpPr>
          <p:grpSpPr>
            <a:xfrm>
              <a:off x="160401" y="2640668"/>
              <a:ext cx="10950148" cy="4169538"/>
              <a:chOff x="160401" y="2640668"/>
              <a:chExt cx="10950148" cy="4169538"/>
            </a:xfrm>
          </p:grpSpPr>
          <p:sp>
            <p:nvSpPr>
              <p:cNvPr id="81" name="文本框 80">
                <a:extLst>
                  <a:ext uri="{FF2B5EF4-FFF2-40B4-BE49-F238E27FC236}">
                    <a16:creationId xmlns:a16="http://schemas.microsoft.com/office/drawing/2014/main" id="{C4637158-B7EC-49DE-A08E-7C8951A3B2AB}"/>
                  </a:ext>
                </a:extLst>
              </p:cNvPr>
              <p:cNvSpPr txBox="1"/>
              <p:nvPr/>
            </p:nvSpPr>
            <p:spPr>
              <a:xfrm>
                <a:off x="2555577" y="2640668"/>
                <a:ext cx="1303701"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Quotients  x/k: [batch_size]</a:t>
                </a:r>
              </a:p>
            </p:txBody>
          </p:sp>
          <p:sp>
            <p:nvSpPr>
              <p:cNvPr id="82" name="文本框 81">
                <a:extLst>
                  <a:ext uri="{FF2B5EF4-FFF2-40B4-BE49-F238E27FC236}">
                    <a16:creationId xmlns:a16="http://schemas.microsoft.com/office/drawing/2014/main" id="{78618AC2-71B0-4A97-8B29-E32308D3FA99}"/>
                  </a:ext>
                </a:extLst>
              </p:cNvPr>
              <p:cNvSpPr txBox="1"/>
              <p:nvPr/>
            </p:nvSpPr>
            <p:spPr>
              <a:xfrm>
                <a:off x="2650137" y="6149842"/>
                <a:ext cx="1501422"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Remainders x%k: [Batch_size]</a:t>
                </a:r>
              </a:p>
            </p:txBody>
          </p:sp>
          <p:sp>
            <p:nvSpPr>
              <p:cNvPr id="83" name="矩形 82">
                <a:extLst>
                  <a:ext uri="{FF2B5EF4-FFF2-40B4-BE49-F238E27FC236}">
                    <a16:creationId xmlns:a16="http://schemas.microsoft.com/office/drawing/2014/main" id="{937BF758-760C-4940-87CA-209515C6C472}"/>
                  </a:ext>
                </a:extLst>
              </p:cNvPr>
              <p:cNvSpPr/>
              <p:nvPr/>
            </p:nvSpPr>
            <p:spPr>
              <a:xfrm>
                <a:off x="3654058" y="2737145"/>
                <a:ext cx="1425224" cy="127892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a:solidFill>
                      <a:schemeClr val="tx1"/>
                    </a:solidFill>
                    <a:ea typeface="宋体"/>
                    <a:cs typeface="Calibri" panose="020F0502020204030204"/>
                  </a:rPr>
                  <a:t>Q</a:t>
                </a:r>
              </a:p>
            </p:txBody>
          </p:sp>
          <p:sp>
            <p:nvSpPr>
              <p:cNvPr id="84" name="矩形 83">
                <a:extLst>
                  <a:ext uri="{FF2B5EF4-FFF2-40B4-BE49-F238E27FC236}">
                    <a16:creationId xmlns:a16="http://schemas.microsoft.com/office/drawing/2014/main" id="{2CCEA3B9-0FA0-4E1F-AA1A-3F0AE75EB92B}"/>
                  </a:ext>
                </a:extLst>
              </p:cNvPr>
              <p:cNvSpPr/>
              <p:nvPr/>
            </p:nvSpPr>
            <p:spPr>
              <a:xfrm>
                <a:off x="3654057" y="5192478"/>
                <a:ext cx="1382889" cy="2346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a:solidFill>
                      <a:schemeClr val="tx1"/>
                    </a:solidFill>
                    <a:ea typeface="宋体"/>
                    <a:cs typeface="Calibri"/>
                  </a:rPr>
                  <a:t>R</a:t>
                </a:r>
              </a:p>
            </p:txBody>
          </p:sp>
          <p:sp>
            <p:nvSpPr>
              <p:cNvPr id="85" name="文本框 84">
                <a:extLst>
                  <a:ext uri="{FF2B5EF4-FFF2-40B4-BE49-F238E27FC236}">
                    <a16:creationId xmlns:a16="http://schemas.microsoft.com/office/drawing/2014/main" id="{00D6F38D-A130-4E94-9F58-2D980CA1AFE6}"/>
                  </a:ext>
                </a:extLst>
              </p:cNvPr>
              <p:cNvSpPr txBox="1"/>
              <p:nvPr/>
            </p:nvSpPr>
            <p:spPr>
              <a:xfrm>
                <a:off x="3533775" y="4048472"/>
                <a:ext cx="1501422"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QEmbeddingBag x/k: [c/k, m0]</a:t>
                </a:r>
              </a:p>
            </p:txBody>
          </p:sp>
          <p:sp>
            <p:nvSpPr>
              <p:cNvPr id="86" name="文本框 85">
                <a:extLst>
                  <a:ext uri="{FF2B5EF4-FFF2-40B4-BE49-F238E27FC236}">
                    <a16:creationId xmlns:a16="http://schemas.microsoft.com/office/drawing/2014/main" id="{673A83E8-3D17-41A6-949D-F23FA6626D06}"/>
                  </a:ext>
                </a:extLst>
              </p:cNvPr>
              <p:cNvSpPr txBox="1"/>
              <p:nvPr/>
            </p:nvSpPr>
            <p:spPr>
              <a:xfrm>
                <a:off x="3604330" y="5501917"/>
                <a:ext cx="1571976"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REmbeddingBag  x%k: [c%k, m1]</a:t>
                </a:r>
              </a:p>
            </p:txBody>
          </p:sp>
          <p:sp>
            <p:nvSpPr>
              <p:cNvPr id="87" name="文本框 86">
                <a:extLst>
                  <a:ext uri="{FF2B5EF4-FFF2-40B4-BE49-F238E27FC236}">
                    <a16:creationId xmlns:a16="http://schemas.microsoft.com/office/drawing/2014/main" id="{5BD57C8B-4688-477D-936D-762C1A930BAB}"/>
                  </a:ext>
                </a:extLst>
              </p:cNvPr>
              <p:cNvSpPr txBox="1"/>
              <p:nvPr/>
            </p:nvSpPr>
            <p:spPr>
              <a:xfrm>
                <a:off x="4952713" y="2899103"/>
                <a:ext cx="1501422"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Q_embedded: [offset_size, m0]</a:t>
                </a:r>
              </a:p>
            </p:txBody>
          </p:sp>
          <p:sp>
            <p:nvSpPr>
              <p:cNvPr id="88" name="文本框 87">
                <a:extLst>
                  <a:ext uri="{FF2B5EF4-FFF2-40B4-BE49-F238E27FC236}">
                    <a16:creationId xmlns:a16="http://schemas.microsoft.com/office/drawing/2014/main" id="{568F3835-AF12-4E2C-B1F2-3064397AD19D}"/>
                  </a:ext>
                </a:extLst>
              </p:cNvPr>
              <p:cNvSpPr txBox="1"/>
              <p:nvPr/>
            </p:nvSpPr>
            <p:spPr>
              <a:xfrm>
                <a:off x="4928986" y="4771705"/>
                <a:ext cx="1501422"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R_Embedded: [offset_size, m1]</a:t>
                </a:r>
              </a:p>
            </p:txBody>
          </p:sp>
          <p:sp>
            <p:nvSpPr>
              <p:cNvPr id="89" name="矩形 88">
                <a:extLst>
                  <a:ext uri="{FF2B5EF4-FFF2-40B4-BE49-F238E27FC236}">
                    <a16:creationId xmlns:a16="http://schemas.microsoft.com/office/drawing/2014/main" id="{5743BAB9-54CE-4AEB-B04B-9D26431BB715}"/>
                  </a:ext>
                </a:extLst>
              </p:cNvPr>
              <p:cNvSpPr/>
              <p:nvPr/>
            </p:nvSpPr>
            <p:spPr>
              <a:xfrm>
                <a:off x="7783689" y="3916889"/>
                <a:ext cx="917222" cy="917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3D6D45C5-DBD0-4F10-889B-C363468CE81B}"/>
                  </a:ext>
                </a:extLst>
              </p:cNvPr>
              <p:cNvSpPr txBox="1"/>
              <p:nvPr/>
            </p:nvSpPr>
            <p:spPr>
              <a:xfrm>
                <a:off x="7494590" y="4831641"/>
                <a:ext cx="2658512"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dirty="0">
                    <a:latin typeface="SimSun"/>
                    <a:ea typeface="SimSun"/>
                  </a:rPr>
                  <a:t> </a:t>
                </a:r>
                <a:r>
                  <a:rPr lang="en-US" altLang="zh-CN" sz="600">
                    <a:latin typeface="SimSun"/>
                    <a:ea typeface="+mn-lt"/>
                  </a:rPr>
                  <a:t>Operation ∈ </a:t>
                </a:r>
                <a:endParaRPr lang="zh-CN" altLang="en-US" sz="600">
                  <a:latin typeface="SimSun"/>
                  <a:ea typeface="SimSun"/>
                  <a:cs typeface="Calibri"/>
                </a:endParaRPr>
              </a:p>
              <a:p>
                <a:r>
                  <a:rPr lang="en-US" altLang="zh-CN" sz="600">
                    <a:latin typeface="SimSun"/>
                    <a:ea typeface="+mn-lt"/>
                  </a:rPr>
                  <a:t>[ 'mult', 'add', 'concat']</a:t>
                </a:r>
                <a:endParaRPr lang="zh-CN" sz="600">
                  <a:latin typeface="SimSun"/>
                  <a:ea typeface="SimSun"/>
                  <a:cs typeface="Calibri"/>
                </a:endParaRPr>
              </a:p>
            </p:txBody>
          </p:sp>
          <p:cxnSp>
            <p:nvCxnSpPr>
              <p:cNvPr id="91" name="直接箭头连接符 90">
                <a:extLst>
                  <a:ext uri="{FF2B5EF4-FFF2-40B4-BE49-F238E27FC236}">
                    <a16:creationId xmlns:a16="http://schemas.microsoft.com/office/drawing/2014/main" id="{8F8A94EC-363B-466C-A37C-5C00CB5DEBD2}"/>
                  </a:ext>
                </a:extLst>
              </p:cNvPr>
              <p:cNvCxnSpPr/>
              <p:nvPr/>
            </p:nvCxnSpPr>
            <p:spPr>
              <a:xfrm>
                <a:off x="8699147" y="4367638"/>
                <a:ext cx="2314221" cy="10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E794702C-06EB-4D00-A6C1-ACE45066C481}"/>
                  </a:ext>
                </a:extLst>
              </p:cNvPr>
              <p:cNvSpPr txBox="1"/>
              <p:nvPr/>
            </p:nvSpPr>
            <p:spPr>
              <a:xfrm>
                <a:off x="8564907" y="3340650"/>
                <a:ext cx="2545642" cy="1100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600">
                    <a:latin typeface="Calibri"/>
                    <a:ea typeface="SimSun"/>
                    <a:cs typeface="Calibri"/>
                  </a:rPr>
                  <a:t>Output: </a:t>
                </a:r>
                <a:endParaRPr lang="en-US" altLang="zh-CN" sz="600" dirty="0">
                  <a:latin typeface="Calibri"/>
                  <a:ea typeface="SimSun"/>
                  <a:cs typeface="Calibri"/>
                </a:endParaRPr>
              </a:p>
              <a:p>
                <a:r>
                  <a:rPr lang="en-US" altLang="zh-CN" sz="600">
                    <a:latin typeface="Calibri"/>
                    <a:ea typeface="SimSun"/>
                    <a:cs typeface="Calibri"/>
                  </a:rPr>
                  <a:t>If '</a:t>
                </a:r>
                <a:r>
                  <a:rPr lang="en-US" altLang="zh-CN" sz="600" err="1">
                    <a:latin typeface="Calibri"/>
                    <a:ea typeface="SimSun"/>
                    <a:cs typeface="Calibri"/>
                  </a:rPr>
                  <a:t>mult</a:t>
                </a:r>
                <a:r>
                  <a:rPr lang="en-US" altLang="zh-CN" sz="600">
                    <a:latin typeface="Calibri"/>
                    <a:ea typeface="SimSun"/>
                    <a:cs typeface="Calibri"/>
                  </a:rPr>
                  <a:t>' or 'add': [</a:t>
                </a:r>
                <a:r>
                  <a:rPr lang="en-US" altLang="zh-CN" sz="600" err="1">
                    <a:latin typeface="Calibri"/>
                    <a:ea typeface="SimSun"/>
                    <a:cs typeface="Calibri"/>
                  </a:rPr>
                  <a:t>offset_size</a:t>
                </a:r>
                <a:r>
                  <a:rPr lang="en-US" altLang="zh-CN" sz="600">
                    <a:latin typeface="Calibri"/>
                    <a:ea typeface="SimSun"/>
                    <a:cs typeface="Calibri"/>
                  </a:rPr>
                  <a:t>, m] </a:t>
                </a:r>
                <a:endParaRPr lang="en-US" altLang="zh-CN" sz="600" dirty="0">
                  <a:latin typeface="Calibri"/>
                  <a:ea typeface="SimSun"/>
                  <a:cs typeface="Calibri"/>
                </a:endParaRPr>
              </a:p>
              <a:p>
                <a:r>
                  <a:rPr lang="en-US" altLang="zh-CN" sz="600" dirty="0">
                    <a:latin typeface="Calibri"/>
                    <a:ea typeface="SimSun"/>
                    <a:cs typeface="Calibri"/>
                  </a:rPr>
                  <a:t>                               </a:t>
                </a:r>
                <a:r>
                  <a:rPr lang="en-US" altLang="zh-CN" sz="600">
                    <a:latin typeface="Calibri"/>
                    <a:ea typeface="SimSun"/>
                    <a:cs typeface="Calibri"/>
                  </a:rPr>
                  <a:t>for m = m0 = m1</a:t>
                </a:r>
                <a:endParaRPr lang="en-US" altLang="zh-CN" sz="600" dirty="0">
                  <a:latin typeface="Calibri"/>
                  <a:ea typeface="SimSun"/>
                  <a:cs typeface="Calibri"/>
                </a:endParaRPr>
              </a:p>
              <a:p>
                <a:r>
                  <a:rPr lang="en-US" altLang="zh-CN" sz="600">
                    <a:latin typeface="Calibri"/>
                    <a:ea typeface="SimSun"/>
                    <a:cs typeface="Calibri"/>
                  </a:rPr>
                  <a:t>If '</a:t>
                </a:r>
                <a:r>
                  <a:rPr lang="en-US" altLang="zh-CN" sz="600" err="1">
                    <a:latin typeface="Calibri"/>
                    <a:ea typeface="SimSun"/>
                    <a:cs typeface="Calibri"/>
                  </a:rPr>
                  <a:t>concat</a:t>
                </a:r>
                <a:r>
                  <a:rPr lang="en-US" altLang="zh-CN" sz="600">
                    <a:latin typeface="Calibri"/>
                    <a:ea typeface="SimSun"/>
                    <a:cs typeface="Calibri"/>
                  </a:rPr>
                  <a:t>' : [</a:t>
                </a:r>
                <a:r>
                  <a:rPr lang="en-US" altLang="zh-CN" sz="600" err="1">
                    <a:latin typeface="Calibri"/>
                    <a:ea typeface="SimSun"/>
                    <a:cs typeface="Calibri"/>
                  </a:rPr>
                  <a:t>offset_size</a:t>
                </a:r>
                <a:r>
                  <a:rPr lang="en-US" altLang="zh-CN" sz="600">
                    <a:latin typeface="Calibri"/>
                    <a:ea typeface="SimSun"/>
                    <a:cs typeface="Calibri"/>
                  </a:rPr>
                  <a:t>, m0+m1]</a:t>
                </a:r>
                <a:endParaRPr lang="en-US" altLang="zh-CN" sz="600" dirty="0">
                  <a:latin typeface="Calibri"/>
                  <a:ea typeface="SimSun"/>
                  <a:cs typeface="Calibri"/>
                </a:endParaRPr>
              </a:p>
            </p:txBody>
          </p:sp>
          <p:sp>
            <p:nvSpPr>
              <p:cNvPr id="93" name="文本框 92">
                <a:extLst>
                  <a:ext uri="{FF2B5EF4-FFF2-40B4-BE49-F238E27FC236}">
                    <a16:creationId xmlns:a16="http://schemas.microsoft.com/office/drawing/2014/main" id="{BF1F5F07-D365-479C-84DF-B049540AA6FC}"/>
                  </a:ext>
                </a:extLst>
              </p:cNvPr>
              <p:cNvSpPr txBox="1"/>
              <p:nvPr/>
            </p:nvSpPr>
            <p:spPr>
              <a:xfrm>
                <a:off x="2052141" y="3693915"/>
                <a:ext cx="1323967" cy="6603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 [offset_size]</a:t>
                </a:r>
              </a:p>
            </p:txBody>
          </p:sp>
          <p:cxnSp>
            <p:nvCxnSpPr>
              <p:cNvPr id="94" name="连接符: 肘形 93">
                <a:extLst>
                  <a:ext uri="{FF2B5EF4-FFF2-40B4-BE49-F238E27FC236}">
                    <a16:creationId xmlns:a16="http://schemas.microsoft.com/office/drawing/2014/main" id="{1EF02965-C4ED-4C18-AB7A-6AAE8B1C6555}"/>
                  </a:ext>
                </a:extLst>
              </p:cNvPr>
              <p:cNvCxnSpPr/>
              <p:nvPr/>
            </p:nvCxnSpPr>
            <p:spPr>
              <a:xfrm>
                <a:off x="5084064" y="3447288"/>
                <a:ext cx="2700528" cy="835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连接符: 肘形 94">
                <a:extLst>
                  <a:ext uri="{FF2B5EF4-FFF2-40B4-BE49-F238E27FC236}">
                    <a16:creationId xmlns:a16="http://schemas.microsoft.com/office/drawing/2014/main" id="{E1C1FBE3-D282-442C-8B8C-FB5EBC6A2977}"/>
                  </a:ext>
                </a:extLst>
              </p:cNvPr>
              <p:cNvCxnSpPr>
                <a:cxnSpLocks/>
              </p:cNvCxnSpPr>
              <p:nvPr/>
            </p:nvCxnSpPr>
            <p:spPr>
              <a:xfrm flipV="1">
                <a:off x="5041391" y="4501896"/>
                <a:ext cx="2743200" cy="8107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a:extLst>
                  <a:ext uri="{FF2B5EF4-FFF2-40B4-BE49-F238E27FC236}">
                    <a16:creationId xmlns:a16="http://schemas.microsoft.com/office/drawing/2014/main" id="{AA682BBA-CFC3-4C91-A034-6E3316937A92}"/>
                  </a:ext>
                </a:extLst>
              </p:cNvPr>
              <p:cNvCxnSpPr/>
              <p:nvPr/>
            </p:nvCxnSpPr>
            <p:spPr>
              <a:xfrm>
                <a:off x="2410588" y="4248530"/>
                <a:ext cx="1243584" cy="10119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连接符: 肘形 113">
                <a:extLst>
                  <a:ext uri="{FF2B5EF4-FFF2-40B4-BE49-F238E27FC236}">
                    <a16:creationId xmlns:a16="http://schemas.microsoft.com/office/drawing/2014/main" id="{DC05F2A8-309D-4052-BA9E-E4385DB7F52E}"/>
                  </a:ext>
                </a:extLst>
              </p:cNvPr>
              <p:cNvCxnSpPr>
                <a:cxnSpLocks/>
              </p:cNvCxnSpPr>
              <p:nvPr/>
            </p:nvCxnSpPr>
            <p:spPr>
              <a:xfrm flipV="1">
                <a:off x="2410586" y="3529202"/>
                <a:ext cx="1243584" cy="7193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连接符: 肘形 114">
                <a:extLst>
                  <a:ext uri="{FF2B5EF4-FFF2-40B4-BE49-F238E27FC236}">
                    <a16:creationId xmlns:a16="http://schemas.microsoft.com/office/drawing/2014/main" id="{DE4A8920-E102-4F41-80E7-2385057171E8}"/>
                  </a:ext>
                </a:extLst>
              </p:cNvPr>
              <p:cNvCxnSpPr/>
              <p:nvPr/>
            </p:nvCxnSpPr>
            <p:spPr>
              <a:xfrm>
                <a:off x="163831" y="4245102"/>
                <a:ext cx="2121409" cy="19385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连接符: 肘形 142">
                <a:extLst>
                  <a:ext uri="{FF2B5EF4-FFF2-40B4-BE49-F238E27FC236}">
                    <a16:creationId xmlns:a16="http://schemas.microsoft.com/office/drawing/2014/main" id="{C67B2795-E7BE-466C-A563-D7BB37C073AF}"/>
                  </a:ext>
                </a:extLst>
              </p:cNvPr>
              <p:cNvCxnSpPr/>
              <p:nvPr/>
            </p:nvCxnSpPr>
            <p:spPr>
              <a:xfrm flipV="1">
                <a:off x="160401" y="3180968"/>
                <a:ext cx="2121408" cy="10607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4" name="矩形 143">
                <a:extLst>
                  <a:ext uri="{FF2B5EF4-FFF2-40B4-BE49-F238E27FC236}">
                    <a16:creationId xmlns:a16="http://schemas.microsoft.com/office/drawing/2014/main" id="{F0736438-951B-4F35-95A4-AFE9DB2244C6}"/>
                  </a:ext>
                </a:extLst>
              </p:cNvPr>
              <p:cNvSpPr/>
              <p:nvPr/>
            </p:nvSpPr>
            <p:spPr>
              <a:xfrm>
                <a:off x="2284475" y="2982469"/>
                <a:ext cx="426763" cy="46890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a:ea typeface="宋体"/>
                    <a:cs typeface="Calibri"/>
                  </a:rPr>
                  <a:t>/k</a:t>
                </a:r>
              </a:p>
            </p:txBody>
          </p:sp>
          <p:sp>
            <p:nvSpPr>
              <p:cNvPr id="145" name="矩形 144">
                <a:extLst>
                  <a:ext uri="{FF2B5EF4-FFF2-40B4-BE49-F238E27FC236}">
                    <a16:creationId xmlns:a16="http://schemas.microsoft.com/office/drawing/2014/main" id="{45DAAE57-BB46-402F-BC37-C5EAFAA7E341}"/>
                  </a:ext>
                </a:extLst>
              </p:cNvPr>
              <p:cNvSpPr/>
              <p:nvPr/>
            </p:nvSpPr>
            <p:spPr>
              <a:xfrm>
                <a:off x="2284476" y="5957315"/>
                <a:ext cx="451104" cy="4267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a:ea typeface="宋体"/>
                    <a:cs typeface="Calibri"/>
                  </a:rPr>
                  <a:t>%k</a:t>
                </a:r>
              </a:p>
            </p:txBody>
          </p:sp>
          <p:cxnSp>
            <p:nvCxnSpPr>
              <p:cNvPr id="146" name="连接符: 肘形 145">
                <a:extLst>
                  <a:ext uri="{FF2B5EF4-FFF2-40B4-BE49-F238E27FC236}">
                    <a16:creationId xmlns:a16="http://schemas.microsoft.com/office/drawing/2014/main" id="{504BB1EF-CFE0-492C-B3C3-D34D3F1FF025}"/>
                  </a:ext>
                </a:extLst>
              </p:cNvPr>
              <p:cNvCxnSpPr/>
              <p:nvPr/>
            </p:nvCxnSpPr>
            <p:spPr>
              <a:xfrm flipV="1">
                <a:off x="2732151" y="5350383"/>
                <a:ext cx="920496" cy="8229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456CAC85-8201-40DB-918E-B576286FB41F}"/>
                  </a:ext>
                </a:extLst>
              </p:cNvPr>
              <p:cNvCxnSpPr/>
              <p:nvPr/>
            </p:nvCxnSpPr>
            <p:spPr>
              <a:xfrm>
                <a:off x="2722626" y="3176778"/>
                <a:ext cx="9204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166" name="矩形 165">
            <a:extLst>
              <a:ext uri="{FF2B5EF4-FFF2-40B4-BE49-F238E27FC236}">
                <a16:creationId xmlns:a16="http://schemas.microsoft.com/office/drawing/2014/main" id="{B083D4F1-8F2C-488A-9DD6-92E1419F7820}"/>
              </a:ext>
            </a:extLst>
          </p:cNvPr>
          <p:cNvSpPr/>
          <p:nvPr/>
        </p:nvSpPr>
        <p:spPr>
          <a:xfrm>
            <a:off x="365759" y="2307335"/>
            <a:ext cx="5913120" cy="1786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9BE433F0-87D3-4ABA-8555-30C1A253DBE2}"/>
              </a:ext>
            </a:extLst>
          </p:cNvPr>
          <p:cNvCxnSpPr/>
          <p:nvPr/>
        </p:nvCxnSpPr>
        <p:spPr>
          <a:xfrm>
            <a:off x="3279648" y="4087368"/>
            <a:ext cx="292608" cy="158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D4DC98F6-1C52-4C85-8CE7-DAFF934F663A}"/>
              </a:ext>
            </a:extLst>
          </p:cNvPr>
          <p:cNvGrpSpPr/>
          <p:nvPr/>
        </p:nvGrpSpPr>
        <p:grpSpPr>
          <a:xfrm>
            <a:off x="2846766" y="4993085"/>
            <a:ext cx="7486290" cy="1360101"/>
            <a:chOff x="786318" y="3328876"/>
            <a:chExt cx="10705766" cy="2389089"/>
          </a:xfrm>
        </p:grpSpPr>
        <p:sp>
          <p:nvSpPr>
            <p:cNvPr id="238" name="文本框 237">
              <a:extLst>
                <a:ext uri="{FF2B5EF4-FFF2-40B4-BE49-F238E27FC236}">
                  <a16:creationId xmlns:a16="http://schemas.microsoft.com/office/drawing/2014/main" id="{5DC52113-86D7-427B-9994-34E92BB8465C}"/>
                </a:ext>
              </a:extLst>
            </p:cNvPr>
            <p:cNvSpPr txBox="1"/>
            <p:nvPr/>
          </p:nvSpPr>
          <p:spPr>
            <a:xfrm>
              <a:off x="786318" y="3971331"/>
              <a:ext cx="914801" cy="1746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A batch of input: </a:t>
              </a:r>
              <a:endParaRPr lang="zh-CN" sz="600">
                <a:ea typeface="宋体"/>
                <a:cs typeface="Calibri"/>
              </a:endParaRPr>
            </a:p>
            <a:p>
              <a:r>
                <a:rPr lang="zh-CN" altLang="en-US" sz="600">
                  <a:ea typeface="宋体"/>
                  <a:cs typeface="Calibri"/>
                </a:rPr>
                <a:t>[batch_size, 479]</a:t>
              </a:r>
              <a:endParaRPr lang="zh-CN" sz="600">
                <a:ea typeface="宋体"/>
                <a:cs typeface="Calibri"/>
              </a:endParaRPr>
            </a:p>
          </p:txBody>
        </p:sp>
        <p:sp>
          <p:nvSpPr>
            <p:cNvPr id="239" name="矩形 238">
              <a:extLst>
                <a:ext uri="{FF2B5EF4-FFF2-40B4-BE49-F238E27FC236}">
                  <a16:creationId xmlns:a16="http://schemas.microsoft.com/office/drawing/2014/main" id="{D6A52E0A-43AE-4555-94A0-98520C0CD182}"/>
                </a:ext>
              </a:extLst>
            </p:cNvPr>
            <p:cNvSpPr/>
            <p:nvPr/>
          </p:nvSpPr>
          <p:spPr>
            <a:xfrm>
              <a:off x="1591056" y="3392424"/>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文本框 239">
              <a:extLst>
                <a:ext uri="{FF2B5EF4-FFF2-40B4-BE49-F238E27FC236}">
                  <a16:creationId xmlns:a16="http://schemas.microsoft.com/office/drawing/2014/main" id="{73E5D034-6A18-4DD4-B3A8-60A82ECA7A7C}"/>
                </a:ext>
              </a:extLst>
            </p:cNvPr>
            <p:cNvSpPr txBox="1"/>
            <p:nvPr/>
          </p:nvSpPr>
          <p:spPr>
            <a:xfrm>
              <a:off x="1511740" y="4691505"/>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a:t>
              </a:r>
              <a:r>
                <a:rPr lang="zh-CN" altLang="en-US" sz="600" dirty="0">
                  <a:ea typeface="宋体"/>
                  <a:cs typeface="Calibri"/>
                </a:rPr>
                <a:t>479]</a:t>
              </a:r>
            </a:p>
            <a:p>
              <a:r>
                <a:rPr lang="zh-CN" altLang="en-US" sz="600">
                  <a:ea typeface="宋体"/>
                  <a:cs typeface="Calibri"/>
                </a:rPr>
                <a:t>+</a:t>
              </a:r>
            </a:p>
            <a:p>
              <a:r>
                <a:rPr lang="zh-CN" altLang="en-US" sz="600">
                  <a:ea typeface="宋体"/>
                  <a:cs typeface="Calibri"/>
                </a:rPr>
                <a:t>ReLU</a:t>
              </a:r>
            </a:p>
          </p:txBody>
        </p:sp>
        <p:sp>
          <p:nvSpPr>
            <p:cNvPr id="241" name="文本框 240">
              <a:extLst>
                <a:ext uri="{FF2B5EF4-FFF2-40B4-BE49-F238E27FC236}">
                  <a16:creationId xmlns:a16="http://schemas.microsoft.com/office/drawing/2014/main" id="{06B11102-B7F9-49F6-9C4F-29AA86D200CD}"/>
                </a:ext>
              </a:extLst>
            </p:cNvPr>
            <p:cNvSpPr txBox="1"/>
            <p:nvPr/>
          </p:nvSpPr>
          <p:spPr>
            <a:xfrm>
              <a:off x="8002275" y="4342230"/>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sz="600">
                  <a:ea typeface="+mn-lt"/>
                  <a:cs typeface="+mn-lt"/>
                </a:rPr>
                <a:t>: [2</a:t>
              </a:r>
              <a:r>
                <a:rPr lang="en-US" altLang="zh-CN" sz="600">
                  <a:ea typeface="+mn-lt"/>
                  <a:cs typeface="+mn-lt"/>
                </a:rPr>
                <a:t>56</a:t>
              </a:r>
              <a:r>
                <a:rPr lang="zh-CN" sz="600">
                  <a:ea typeface="+mn-lt"/>
                  <a:cs typeface="+mn-lt"/>
                </a:rPr>
                <a:t>, </a:t>
              </a:r>
              <a:r>
                <a:rPr lang="en-US" altLang="zh-CN" sz="600">
                  <a:ea typeface="+mn-lt"/>
                  <a:cs typeface="+mn-lt"/>
                </a:rPr>
                <a:t>5</a:t>
              </a:r>
              <a:r>
                <a:rPr lang="zh-CN" sz="600" dirty="0">
                  <a:ea typeface="+mn-lt"/>
                  <a:cs typeface="+mn-lt"/>
                </a:rPr>
                <a:t>1</a:t>
              </a:r>
              <a:r>
                <a:rPr lang="en-US" altLang="zh-CN" sz="600" dirty="0">
                  <a:ea typeface="+mn-lt"/>
                  <a:cs typeface="+mn-lt"/>
                </a:rPr>
                <a:t>2</a:t>
              </a:r>
              <a:r>
                <a:rPr lang="zh-CN" sz="600" dirty="0">
                  <a:ea typeface="+mn-lt"/>
                  <a:cs typeface="+mn-lt"/>
                </a:rPr>
                <a:t>]</a:t>
              </a:r>
            </a:p>
            <a:p>
              <a:r>
                <a:rPr lang="zh-CN" altLang="en-US" sz="600">
                  <a:ea typeface="+mn-lt"/>
                  <a:cs typeface="+mn-lt"/>
                </a:rPr>
                <a:t>+</a:t>
              </a:r>
            </a:p>
            <a:p>
              <a:r>
                <a:rPr lang="zh-CN" altLang="en-US" sz="600">
                  <a:ea typeface="+mn-lt"/>
                  <a:cs typeface="+mn-lt"/>
                </a:rPr>
                <a:t>ReLU</a:t>
              </a:r>
            </a:p>
          </p:txBody>
        </p:sp>
        <p:sp>
          <p:nvSpPr>
            <p:cNvPr id="242" name="矩形 241">
              <a:extLst>
                <a:ext uri="{FF2B5EF4-FFF2-40B4-BE49-F238E27FC236}">
                  <a16:creationId xmlns:a16="http://schemas.microsoft.com/office/drawing/2014/main" id="{3BD08894-4140-4342-8EBE-27C869027D18}"/>
                </a:ext>
              </a:extLst>
            </p:cNvPr>
            <p:cNvSpPr/>
            <p:nvPr/>
          </p:nvSpPr>
          <p:spPr>
            <a:xfrm>
              <a:off x="8010144" y="3672840"/>
              <a:ext cx="1115568" cy="743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242">
              <a:extLst>
                <a:ext uri="{FF2B5EF4-FFF2-40B4-BE49-F238E27FC236}">
                  <a16:creationId xmlns:a16="http://schemas.microsoft.com/office/drawing/2014/main" id="{ACE98EC7-FDFE-434F-A8B9-2EF25125923B}"/>
                </a:ext>
              </a:extLst>
            </p:cNvPr>
            <p:cNvSpPr/>
            <p:nvPr/>
          </p:nvSpPr>
          <p:spPr>
            <a:xfrm rot="16200000">
              <a:off x="1837944" y="4005072"/>
              <a:ext cx="1292352" cy="7924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矩形 243">
              <a:extLst>
                <a:ext uri="{FF2B5EF4-FFF2-40B4-BE49-F238E27FC236}">
                  <a16:creationId xmlns:a16="http://schemas.microsoft.com/office/drawing/2014/main" id="{48C781C9-CE09-4083-9168-01C996226AF3}"/>
                </a:ext>
              </a:extLst>
            </p:cNvPr>
            <p:cNvSpPr/>
            <p:nvPr/>
          </p:nvSpPr>
          <p:spPr>
            <a:xfrm rot="16200000">
              <a:off x="8805672" y="3992880"/>
              <a:ext cx="737616" cy="10972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文本框 244">
              <a:extLst>
                <a:ext uri="{FF2B5EF4-FFF2-40B4-BE49-F238E27FC236}">
                  <a16:creationId xmlns:a16="http://schemas.microsoft.com/office/drawing/2014/main" id="{B4B0B685-3583-45A5-8E73-5820A7E12F5A}"/>
                </a:ext>
              </a:extLst>
            </p:cNvPr>
            <p:cNvSpPr txBox="1"/>
            <p:nvPr/>
          </p:nvSpPr>
          <p:spPr>
            <a:xfrm>
              <a:off x="9718789" y="4076493"/>
              <a:ext cx="1298849"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600">
                  <a:ea typeface="+mn-lt"/>
                  <a:cs typeface="+mn-lt"/>
                </a:rPr>
                <a:t>Linear</a:t>
              </a:r>
              <a:r>
                <a:rPr lang="en-US" altLang="zh-CN" sz="600">
                  <a:ea typeface="+mn-lt"/>
                  <a:cs typeface="+mn-lt"/>
                </a:rPr>
                <a:t>/FC:</a:t>
              </a:r>
              <a:r>
                <a:rPr lang="zh-CN" altLang="en-US" sz="600" dirty="0">
                  <a:ea typeface="+mn-lt"/>
                  <a:cs typeface="+mn-lt"/>
                </a:rPr>
                <a:t> </a:t>
              </a:r>
              <a:r>
                <a:rPr lang="zh-CN" sz="600">
                  <a:ea typeface="+mn-lt"/>
                  <a:cs typeface="+mn-lt"/>
                </a:rPr>
                <a:t>[1</a:t>
              </a:r>
              <a:r>
                <a:rPr lang="en-US" altLang="zh-CN" sz="600">
                  <a:ea typeface="+mn-lt"/>
                  <a:cs typeface="+mn-lt"/>
                </a:rPr>
                <a:t>,</a:t>
              </a:r>
              <a:r>
                <a:rPr lang="zh-CN" altLang="en-US" sz="600" dirty="0">
                  <a:ea typeface="+mn-lt"/>
                  <a:cs typeface="+mn-lt"/>
                </a:rPr>
                <a:t> </a:t>
              </a:r>
              <a:r>
                <a:rPr lang="en-US" altLang="en-US" sz="600" dirty="0">
                  <a:ea typeface="+mn-lt"/>
                  <a:cs typeface="+mn-lt"/>
                </a:rPr>
                <a:t>256</a:t>
              </a:r>
              <a:r>
                <a:rPr lang="zh-CN" sz="600" dirty="0">
                  <a:ea typeface="+mn-lt"/>
                  <a:cs typeface="+mn-lt"/>
                </a:rPr>
                <a:t>]</a:t>
              </a:r>
            </a:p>
            <a:p>
              <a:r>
                <a:rPr lang="zh-CN" altLang="en-US" sz="600">
                  <a:ea typeface="+mn-lt"/>
                  <a:cs typeface="+mn-lt"/>
                </a:rPr>
                <a:t>+</a:t>
              </a:r>
            </a:p>
            <a:p>
              <a:r>
                <a:rPr lang="zh-CN" altLang="en-US" sz="600">
                  <a:ea typeface="+mn-lt"/>
                  <a:cs typeface="+mn-lt"/>
                </a:rPr>
                <a:t>Sigmoid</a:t>
              </a:r>
            </a:p>
          </p:txBody>
        </p:sp>
        <p:sp>
          <p:nvSpPr>
            <p:cNvPr id="246" name="矩形 245">
              <a:extLst>
                <a:ext uri="{FF2B5EF4-FFF2-40B4-BE49-F238E27FC236}">
                  <a16:creationId xmlns:a16="http://schemas.microsoft.com/office/drawing/2014/main" id="{A5444CB5-4356-4F55-9AAB-B60D867B5975}"/>
                </a:ext>
              </a:extLst>
            </p:cNvPr>
            <p:cNvSpPr/>
            <p:nvPr/>
          </p:nvSpPr>
          <p:spPr>
            <a:xfrm rot="5400000">
              <a:off x="10192512" y="3715511"/>
              <a:ext cx="54864" cy="74371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矩形 246">
              <a:extLst>
                <a:ext uri="{FF2B5EF4-FFF2-40B4-BE49-F238E27FC236}">
                  <a16:creationId xmlns:a16="http://schemas.microsoft.com/office/drawing/2014/main" id="{83AD2B0C-B976-4B79-9F52-F866F3B5CC54}"/>
                </a:ext>
              </a:extLst>
            </p:cNvPr>
            <p:cNvSpPr/>
            <p:nvPr/>
          </p:nvSpPr>
          <p:spPr>
            <a:xfrm rot="16200000">
              <a:off x="10588752" y="4050792"/>
              <a:ext cx="60960" cy="4876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文本框 247">
              <a:extLst>
                <a:ext uri="{FF2B5EF4-FFF2-40B4-BE49-F238E27FC236}">
                  <a16:creationId xmlns:a16="http://schemas.microsoft.com/office/drawing/2014/main" id="{7BBE3C22-538C-434D-BF27-0A24F1AC7229}"/>
                </a:ext>
              </a:extLst>
            </p:cNvPr>
            <p:cNvSpPr txBox="1"/>
            <p:nvPr/>
          </p:nvSpPr>
          <p:spPr>
            <a:xfrm>
              <a:off x="2487101" y="3971492"/>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1: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sp>
          <p:nvSpPr>
            <p:cNvPr id="249" name="文本框 248">
              <a:extLst>
                <a:ext uri="{FF2B5EF4-FFF2-40B4-BE49-F238E27FC236}">
                  <a16:creationId xmlns:a16="http://schemas.microsoft.com/office/drawing/2014/main" id="{EF6FE0EF-9DF1-44B5-8098-E4EE286CE9D4}"/>
                </a:ext>
              </a:extLst>
            </p:cNvPr>
            <p:cNvSpPr txBox="1"/>
            <p:nvPr/>
          </p:nvSpPr>
          <p:spPr>
            <a:xfrm>
              <a:off x="9150881" y="4010876"/>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4: </a:t>
              </a:r>
              <a:endParaRPr lang="zh-CN" sz="600">
                <a:ea typeface="宋体"/>
                <a:cs typeface="Calibri"/>
              </a:endParaRPr>
            </a:p>
            <a:p>
              <a:r>
                <a:rPr lang="zh-CN" altLang="en-US" sz="600">
                  <a:ea typeface="宋体"/>
                  <a:cs typeface="Calibri"/>
                </a:rPr>
                <a:t>[batch_size, 256]</a:t>
              </a:r>
              <a:endParaRPr lang="zh-CN" sz="600">
                <a:ea typeface="宋体"/>
                <a:cs typeface="Calibri"/>
              </a:endParaRPr>
            </a:p>
          </p:txBody>
        </p:sp>
        <p:sp>
          <p:nvSpPr>
            <p:cNvPr id="250" name="文本框 249">
              <a:extLst>
                <a:ext uri="{FF2B5EF4-FFF2-40B4-BE49-F238E27FC236}">
                  <a16:creationId xmlns:a16="http://schemas.microsoft.com/office/drawing/2014/main" id="{C34F1EBC-49E2-4F33-848C-A0FED865B579}"/>
                </a:ext>
              </a:extLst>
            </p:cNvPr>
            <p:cNvSpPr txBox="1"/>
            <p:nvPr/>
          </p:nvSpPr>
          <p:spPr>
            <a:xfrm>
              <a:off x="10577283" y="3994072"/>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5: </a:t>
              </a:r>
              <a:endParaRPr lang="zh-CN" sz="600">
                <a:ea typeface="宋体"/>
                <a:cs typeface="Calibri"/>
              </a:endParaRPr>
            </a:p>
            <a:p>
              <a:r>
                <a:rPr lang="zh-CN" altLang="en-US" sz="600">
                  <a:ea typeface="宋体"/>
                  <a:cs typeface="Calibri"/>
                </a:rPr>
                <a:t>[batch_size, 1]</a:t>
              </a:r>
              <a:endParaRPr lang="zh-CN" sz="600">
                <a:ea typeface="宋体"/>
                <a:cs typeface="Calibri"/>
              </a:endParaRPr>
            </a:p>
          </p:txBody>
        </p:sp>
        <p:cxnSp>
          <p:nvCxnSpPr>
            <p:cNvPr id="251" name="直接箭头连接符 250">
              <a:extLst>
                <a:ext uri="{FF2B5EF4-FFF2-40B4-BE49-F238E27FC236}">
                  <a16:creationId xmlns:a16="http://schemas.microsoft.com/office/drawing/2014/main" id="{8AF39529-C701-4970-826B-55B5D6908A92}"/>
                </a:ext>
              </a:extLst>
            </p:cNvPr>
            <p:cNvCxnSpPr/>
            <p:nvPr/>
          </p:nvCxnSpPr>
          <p:spPr>
            <a:xfrm flipV="1">
              <a:off x="860900" y="4032596"/>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2" name="直接箭头连接符 251">
              <a:extLst>
                <a:ext uri="{FF2B5EF4-FFF2-40B4-BE49-F238E27FC236}">
                  <a16:creationId xmlns:a16="http://schemas.microsoft.com/office/drawing/2014/main" id="{90453B5A-53A2-4051-A27A-EDB3FEA83A55}"/>
                </a:ext>
              </a:extLst>
            </p:cNvPr>
            <p:cNvCxnSpPr>
              <a:cxnSpLocks/>
            </p:cNvCxnSpPr>
            <p:nvPr/>
          </p:nvCxnSpPr>
          <p:spPr>
            <a:xfrm>
              <a:off x="2525107" y="4018555"/>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3" name="直接箭头连接符 252">
              <a:extLst>
                <a:ext uri="{FF2B5EF4-FFF2-40B4-BE49-F238E27FC236}">
                  <a16:creationId xmlns:a16="http://schemas.microsoft.com/office/drawing/2014/main" id="{B1222925-EA26-49BC-AEC9-BEF5C0B257FB}"/>
                </a:ext>
              </a:extLst>
            </p:cNvPr>
            <p:cNvCxnSpPr>
              <a:cxnSpLocks/>
            </p:cNvCxnSpPr>
            <p:nvPr/>
          </p:nvCxnSpPr>
          <p:spPr>
            <a:xfrm flipV="1">
              <a:off x="9230707" y="4081363"/>
              <a:ext cx="597989" cy="4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4" name="直接箭头连接符 253">
              <a:extLst>
                <a:ext uri="{FF2B5EF4-FFF2-40B4-BE49-F238E27FC236}">
                  <a16:creationId xmlns:a16="http://schemas.microsoft.com/office/drawing/2014/main" id="{DE8972D7-B1F2-4155-BB62-75C9BE8C57C0}"/>
                </a:ext>
              </a:extLst>
            </p:cNvPr>
            <p:cNvCxnSpPr>
              <a:cxnSpLocks/>
            </p:cNvCxnSpPr>
            <p:nvPr/>
          </p:nvCxnSpPr>
          <p:spPr>
            <a:xfrm>
              <a:off x="10698075" y="4073419"/>
              <a:ext cx="555317"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5" name="矩形 254">
              <a:extLst>
                <a:ext uri="{FF2B5EF4-FFF2-40B4-BE49-F238E27FC236}">
                  <a16:creationId xmlns:a16="http://schemas.microsoft.com/office/drawing/2014/main" id="{E804C72A-4BEA-4C50-A551-D979E0920F06}"/>
                </a:ext>
              </a:extLst>
            </p:cNvPr>
            <p:cNvSpPr/>
            <p:nvPr/>
          </p:nvSpPr>
          <p:spPr>
            <a:xfrm>
              <a:off x="3396736" y="3328876"/>
              <a:ext cx="1527107" cy="14111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文本框 255">
              <a:extLst>
                <a:ext uri="{FF2B5EF4-FFF2-40B4-BE49-F238E27FC236}">
                  <a16:creationId xmlns:a16="http://schemas.microsoft.com/office/drawing/2014/main" id="{4A54A327-1828-4D4A-8A62-4DE9C2A71AE1}"/>
                </a:ext>
              </a:extLst>
            </p:cNvPr>
            <p:cNvSpPr txBox="1"/>
            <p:nvPr/>
          </p:nvSpPr>
          <p:spPr>
            <a:xfrm>
              <a:off x="3584381" y="4734177"/>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[1024, 1024]</a:t>
              </a:r>
            </a:p>
            <a:p>
              <a:r>
                <a:rPr lang="zh-CN" altLang="en-US" sz="600">
                  <a:ea typeface="宋体"/>
                  <a:cs typeface="Calibri"/>
                </a:rPr>
                <a:t>+</a:t>
              </a:r>
            </a:p>
            <a:p>
              <a:r>
                <a:rPr lang="zh-CN" altLang="en-US" sz="600">
                  <a:ea typeface="宋体"/>
                  <a:cs typeface="Calibri"/>
                </a:rPr>
                <a:t>ReLU</a:t>
              </a:r>
            </a:p>
          </p:txBody>
        </p:sp>
        <p:sp>
          <p:nvSpPr>
            <p:cNvPr id="257" name="矩形 256">
              <a:extLst>
                <a:ext uri="{FF2B5EF4-FFF2-40B4-BE49-F238E27FC236}">
                  <a16:creationId xmlns:a16="http://schemas.microsoft.com/office/drawing/2014/main" id="{4F5EFB07-5B00-4E93-AEDA-57AC277DE85D}"/>
                </a:ext>
              </a:extLst>
            </p:cNvPr>
            <p:cNvSpPr/>
            <p:nvPr/>
          </p:nvSpPr>
          <p:spPr>
            <a:xfrm rot="16200000">
              <a:off x="4273296" y="3983736"/>
              <a:ext cx="1414272" cy="12192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文本框 257">
              <a:extLst>
                <a:ext uri="{FF2B5EF4-FFF2-40B4-BE49-F238E27FC236}">
                  <a16:creationId xmlns:a16="http://schemas.microsoft.com/office/drawing/2014/main" id="{9F2479D5-B76E-4E90-A6D0-D59693B96328}"/>
                </a:ext>
              </a:extLst>
            </p:cNvPr>
            <p:cNvSpPr txBox="1"/>
            <p:nvPr/>
          </p:nvSpPr>
          <p:spPr>
            <a:xfrm>
              <a:off x="5041326" y="3937884"/>
              <a:ext cx="811170"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2: </a:t>
              </a:r>
              <a:endParaRPr lang="zh-CN" sz="600">
                <a:ea typeface="宋体"/>
                <a:cs typeface="Calibri"/>
              </a:endParaRPr>
            </a:p>
            <a:p>
              <a:r>
                <a:rPr lang="zh-CN" altLang="en-US" sz="600">
                  <a:ea typeface="宋体"/>
                  <a:cs typeface="Calibri"/>
                </a:rPr>
                <a:t>[batch_size, 1024]</a:t>
              </a:r>
              <a:endParaRPr lang="zh-CN" sz="600">
                <a:ea typeface="宋体"/>
                <a:cs typeface="Calibri"/>
              </a:endParaRPr>
            </a:p>
          </p:txBody>
        </p:sp>
        <p:cxnSp>
          <p:nvCxnSpPr>
            <p:cNvPr id="259" name="直接箭头连接符 258">
              <a:extLst>
                <a:ext uri="{FF2B5EF4-FFF2-40B4-BE49-F238E27FC236}">
                  <a16:creationId xmlns:a16="http://schemas.microsoft.com/office/drawing/2014/main" id="{9EACEC33-F6A1-4D76-8273-988C31B9CCD8}"/>
                </a:ext>
              </a:extLst>
            </p:cNvPr>
            <p:cNvCxnSpPr>
              <a:cxnSpLocks/>
            </p:cNvCxnSpPr>
            <p:nvPr/>
          </p:nvCxnSpPr>
          <p:spPr>
            <a:xfrm>
              <a:off x="5030563" y="4012459"/>
              <a:ext cx="854021" cy="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0" name="矩形 259">
              <a:extLst>
                <a:ext uri="{FF2B5EF4-FFF2-40B4-BE49-F238E27FC236}">
                  <a16:creationId xmlns:a16="http://schemas.microsoft.com/office/drawing/2014/main" id="{EE3E1A9A-FF16-452E-9DF5-B3BC4F565199}"/>
                </a:ext>
              </a:extLst>
            </p:cNvPr>
            <p:cNvSpPr/>
            <p:nvPr/>
          </p:nvSpPr>
          <p:spPr>
            <a:xfrm rot="16200000">
              <a:off x="6108191" y="3380232"/>
              <a:ext cx="853440" cy="129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1" name="文本框 260">
              <a:extLst>
                <a:ext uri="{FF2B5EF4-FFF2-40B4-BE49-F238E27FC236}">
                  <a16:creationId xmlns:a16="http://schemas.microsoft.com/office/drawing/2014/main" id="{8746B08C-73FE-43D7-B695-0B9053934FB5}"/>
                </a:ext>
              </a:extLst>
            </p:cNvPr>
            <p:cNvSpPr txBox="1"/>
            <p:nvPr/>
          </p:nvSpPr>
          <p:spPr>
            <a:xfrm>
              <a:off x="5906957" y="4441569"/>
              <a:ext cx="1402482" cy="6487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 [512, 1024]</a:t>
              </a:r>
            </a:p>
            <a:p>
              <a:r>
                <a:rPr lang="zh-CN" altLang="en-US" sz="600">
                  <a:ea typeface="宋体"/>
                  <a:cs typeface="Calibri"/>
                </a:rPr>
                <a:t>+</a:t>
              </a:r>
            </a:p>
            <a:p>
              <a:r>
                <a:rPr lang="zh-CN" altLang="en-US" sz="600">
                  <a:ea typeface="宋体"/>
                  <a:cs typeface="Calibri"/>
                </a:rPr>
                <a:t>ReLU</a:t>
              </a:r>
            </a:p>
          </p:txBody>
        </p:sp>
        <p:sp>
          <p:nvSpPr>
            <p:cNvPr id="262" name="矩形 261">
              <a:extLst>
                <a:ext uri="{FF2B5EF4-FFF2-40B4-BE49-F238E27FC236}">
                  <a16:creationId xmlns:a16="http://schemas.microsoft.com/office/drawing/2014/main" id="{CF3046E2-EED5-478B-BBDF-6829B844145A}"/>
                </a:ext>
              </a:extLst>
            </p:cNvPr>
            <p:cNvSpPr/>
            <p:nvPr/>
          </p:nvSpPr>
          <p:spPr>
            <a:xfrm rot="16200000">
              <a:off x="6809232" y="3977640"/>
              <a:ext cx="841248" cy="975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文本框 262">
              <a:extLst>
                <a:ext uri="{FF2B5EF4-FFF2-40B4-BE49-F238E27FC236}">
                  <a16:creationId xmlns:a16="http://schemas.microsoft.com/office/drawing/2014/main" id="{3A07D290-942C-4272-94BE-6B6C56924604}"/>
                </a:ext>
              </a:extLst>
            </p:cNvPr>
            <p:cNvSpPr txBox="1"/>
            <p:nvPr/>
          </p:nvSpPr>
          <p:spPr>
            <a:xfrm>
              <a:off x="7223693" y="3971333"/>
              <a:ext cx="914801" cy="276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Output 3: </a:t>
              </a:r>
              <a:endParaRPr lang="zh-CN" sz="600">
                <a:ea typeface="宋体"/>
                <a:cs typeface="Calibri"/>
              </a:endParaRPr>
            </a:p>
            <a:p>
              <a:r>
                <a:rPr lang="zh-CN" altLang="en-US" sz="600">
                  <a:ea typeface="宋体"/>
                  <a:cs typeface="Calibri"/>
                </a:rPr>
                <a:t>[batch_size, 512]</a:t>
              </a:r>
              <a:endParaRPr lang="zh-CN" sz="600">
                <a:ea typeface="宋体"/>
                <a:cs typeface="Calibri"/>
              </a:endParaRPr>
            </a:p>
          </p:txBody>
        </p:sp>
        <p:cxnSp>
          <p:nvCxnSpPr>
            <p:cNvPr id="264" name="直接箭头连接符 263">
              <a:extLst>
                <a:ext uri="{FF2B5EF4-FFF2-40B4-BE49-F238E27FC236}">
                  <a16:creationId xmlns:a16="http://schemas.microsoft.com/office/drawing/2014/main" id="{B711FD95-4301-446B-8575-F2DFB5499145}"/>
                </a:ext>
              </a:extLst>
            </p:cNvPr>
            <p:cNvCxnSpPr>
              <a:cxnSpLocks/>
            </p:cNvCxnSpPr>
            <p:nvPr/>
          </p:nvCxnSpPr>
          <p:spPr>
            <a:xfrm flipV="1">
              <a:off x="7279987" y="4038691"/>
              <a:ext cx="719909" cy="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8510802C-C253-4E35-8D35-7B967D2D822E}"/>
              </a:ext>
            </a:extLst>
          </p:cNvPr>
          <p:cNvGrpSpPr/>
          <p:nvPr/>
        </p:nvGrpSpPr>
        <p:grpSpPr>
          <a:xfrm>
            <a:off x="365760" y="5285231"/>
            <a:ext cx="1591055" cy="903994"/>
            <a:chOff x="310896" y="4462271"/>
            <a:chExt cx="1591055" cy="903994"/>
          </a:xfrm>
        </p:grpSpPr>
        <p:sp>
          <p:nvSpPr>
            <p:cNvPr id="267" name="矩形 266">
              <a:extLst>
                <a:ext uri="{FF2B5EF4-FFF2-40B4-BE49-F238E27FC236}">
                  <a16:creationId xmlns:a16="http://schemas.microsoft.com/office/drawing/2014/main" id="{D60DEE68-5067-4A5E-9D1D-E9C496A8E947}"/>
                </a:ext>
              </a:extLst>
            </p:cNvPr>
            <p:cNvSpPr/>
            <p:nvPr/>
          </p:nvSpPr>
          <p:spPr>
            <a:xfrm>
              <a:off x="310896" y="4648200"/>
              <a:ext cx="609600" cy="67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FC5427C5-01EE-4C12-B4C5-DEDBF92D5EB3}"/>
                </a:ext>
              </a:extLst>
            </p:cNvPr>
            <p:cNvSpPr/>
            <p:nvPr/>
          </p:nvSpPr>
          <p:spPr>
            <a:xfrm>
              <a:off x="310896" y="4788408"/>
              <a:ext cx="609600" cy="6705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矩形 268">
              <a:extLst>
                <a:ext uri="{FF2B5EF4-FFF2-40B4-BE49-F238E27FC236}">
                  <a16:creationId xmlns:a16="http://schemas.microsoft.com/office/drawing/2014/main" id="{ABEB9246-2A7E-4521-A9BD-7FBF6F5FCE3E}"/>
                </a:ext>
              </a:extLst>
            </p:cNvPr>
            <p:cNvSpPr/>
            <p:nvPr/>
          </p:nvSpPr>
          <p:spPr>
            <a:xfrm>
              <a:off x="310896" y="4928616"/>
              <a:ext cx="609600" cy="670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a:extLst>
                <a:ext uri="{FF2B5EF4-FFF2-40B4-BE49-F238E27FC236}">
                  <a16:creationId xmlns:a16="http://schemas.microsoft.com/office/drawing/2014/main" id="{357D7F91-E493-4BD1-862A-86B5514E752D}"/>
                </a:ext>
              </a:extLst>
            </p:cNvPr>
            <p:cNvSpPr/>
            <p:nvPr/>
          </p:nvSpPr>
          <p:spPr>
            <a:xfrm>
              <a:off x="310896" y="5093208"/>
              <a:ext cx="609600" cy="67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a:extLst>
                <a:ext uri="{FF2B5EF4-FFF2-40B4-BE49-F238E27FC236}">
                  <a16:creationId xmlns:a16="http://schemas.microsoft.com/office/drawing/2014/main" id="{70810475-0388-4AE1-BD4C-44C7F2571D4E}"/>
                </a:ext>
              </a:extLst>
            </p:cNvPr>
            <p:cNvSpPr/>
            <p:nvPr/>
          </p:nvSpPr>
          <p:spPr>
            <a:xfrm>
              <a:off x="310896" y="5233416"/>
              <a:ext cx="609600" cy="6705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6DA71E61-A4FF-4D0E-9C6B-0DC719E06269}"/>
                </a:ext>
              </a:extLst>
            </p:cNvPr>
            <p:cNvSpPr/>
            <p:nvPr/>
          </p:nvSpPr>
          <p:spPr>
            <a:xfrm>
              <a:off x="310896" y="4520184"/>
              <a:ext cx="609600" cy="6705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3" name="文本框 272">
              <a:extLst>
                <a:ext uri="{FF2B5EF4-FFF2-40B4-BE49-F238E27FC236}">
                  <a16:creationId xmlns:a16="http://schemas.microsoft.com/office/drawing/2014/main" id="{9B7098FE-C81D-4C27-B1B0-6AC4B42BDE1B}"/>
                </a:ext>
              </a:extLst>
            </p:cNvPr>
            <p:cNvSpPr txBox="1"/>
            <p:nvPr/>
          </p:nvSpPr>
          <p:spPr>
            <a:xfrm>
              <a:off x="920496" y="5035296"/>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nn.EmbeddingBag</a:t>
              </a:r>
            </a:p>
          </p:txBody>
        </p:sp>
        <p:sp>
          <p:nvSpPr>
            <p:cNvPr id="274" name="文本框 273">
              <a:extLst>
                <a:ext uri="{FF2B5EF4-FFF2-40B4-BE49-F238E27FC236}">
                  <a16:creationId xmlns:a16="http://schemas.microsoft.com/office/drawing/2014/main" id="{EC2A55F3-EA30-4734-9FF1-9D66751D8B52}"/>
                </a:ext>
              </a:extLst>
            </p:cNvPr>
            <p:cNvSpPr txBox="1"/>
            <p:nvPr/>
          </p:nvSpPr>
          <p:spPr>
            <a:xfrm>
              <a:off x="920495" y="5181599"/>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600">
                  <a:ea typeface="宋体"/>
                  <a:cs typeface="Calibri"/>
                </a:rPr>
                <a:t>Sigmoid</a:t>
              </a:r>
            </a:p>
          </p:txBody>
        </p:sp>
        <p:sp>
          <p:nvSpPr>
            <p:cNvPr id="275" name="文本框 274">
              <a:extLst>
                <a:ext uri="{FF2B5EF4-FFF2-40B4-BE49-F238E27FC236}">
                  <a16:creationId xmlns:a16="http://schemas.microsoft.com/office/drawing/2014/main" id="{2FA736B6-38FF-4422-BBA5-D42BD3EAA15F}"/>
                </a:ext>
              </a:extLst>
            </p:cNvPr>
            <p:cNvSpPr txBox="1"/>
            <p:nvPr/>
          </p:nvSpPr>
          <p:spPr>
            <a:xfrm>
              <a:off x="920495" y="4876799"/>
              <a:ext cx="981456"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Data/Simple Operations</a:t>
              </a:r>
            </a:p>
          </p:txBody>
        </p:sp>
        <p:sp>
          <p:nvSpPr>
            <p:cNvPr id="276" name="文本框 275">
              <a:extLst>
                <a:ext uri="{FF2B5EF4-FFF2-40B4-BE49-F238E27FC236}">
                  <a16:creationId xmlns:a16="http://schemas.microsoft.com/office/drawing/2014/main" id="{15E92C64-ECDB-46D6-B2F0-EEFC8D7E40FE}"/>
                </a:ext>
              </a:extLst>
            </p:cNvPr>
            <p:cNvSpPr txBox="1"/>
            <p:nvPr/>
          </p:nvSpPr>
          <p:spPr>
            <a:xfrm>
              <a:off x="920495" y="4730495"/>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ReLU</a:t>
              </a:r>
            </a:p>
          </p:txBody>
        </p:sp>
        <p:sp>
          <p:nvSpPr>
            <p:cNvPr id="277" name="文本框 276">
              <a:extLst>
                <a:ext uri="{FF2B5EF4-FFF2-40B4-BE49-F238E27FC236}">
                  <a16:creationId xmlns:a16="http://schemas.microsoft.com/office/drawing/2014/main" id="{0C344DDA-1C60-43B2-85B5-F3B790E9984C}"/>
                </a:ext>
              </a:extLst>
            </p:cNvPr>
            <p:cNvSpPr txBox="1"/>
            <p:nvPr/>
          </p:nvSpPr>
          <p:spPr>
            <a:xfrm>
              <a:off x="920495" y="4596383"/>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Linear/FC</a:t>
              </a:r>
              <a:endParaRPr lang="zh-CN" altLang="en-US" sz="600" dirty="0">
                <a:ea typeface="宋体"/>
                <a:cs typeface="Calibri"/>
              </a:endParaRPr>
            </a:p>
          </p:txBody>
        </p:sp>
        <p:sp>
          <p:nvSpPr>
            <p:cNvPr id="280" name="文本框 279">
              <a:extLst>
                <a:ext uri="{FF2B5EF4-FFF2-40B4-BE49-F238E27FC236}">
                  <a16:creationId xmlns:a16="http://schemas.microsoft.com/office/drawing/2014/main" id="{706CBBA4-4605-439C-A92B-CF5B51FFF71E}"/>
                </a:ext>
              </a:extLst>
            </p:cNvPr>
            <p:cNvSpPr txBox="1"/>
            <p:nvPr/>
          </p:nvSpPr>
          <p:spPr>
            <a:xfrm>
              <a:off x="920495" y="4462271"/>
              <a:ext cx="871728"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600">
                  <a:ea typeface="宋体"/>
                  <a:cs typeface="Calibri"/>
                </a:rPr>
                <a:t>Offsets</a:t>
              </a:r>
            </a:p>
          </p:txBody>
        </p:sp>
      </p:grpSp>
    </p:spTree>
    <p:extLst>
      <p:ext uri="{BB962C8B-B14F-4D97-AF65-F5344CB8AC3E}">
        <p14:creationId xmlns:p14="http://schemas.microsoft.com/office/powerpoint/2010/main" val="1951227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FD645-0E8E-4F94-89CB-A6202873B68D}"/>
              </a:ext>
            </a:extLst>
          </p:cNvPr>
          <p:cNvSpPr>
            <a:spLocks noGrp="1"/>
          </p:cNvSpPr>
          <p:nvPr>
            <p:ph type="title"/>
          </p:nvPr>
        </p:nvSpPr>
        <p:spPr>
          <a:xfrm>
            <a:off x="838200" y="365125"/>
            <a:ext cx="11288643" cy="1347649"/>
          </a:xfrm>
        </p:spPr>
        <p:txBody>
          <a:bodyPr/>
          <a:lstStyle/>
          <a:p>
            <a:r>
              <a:rPr lang="zh-CN" altLang="en-US">
                <a:ea typeface="宋体"/>
                <a:cs typeface="Calibri Light"/>
              </a:rPr>
              <a:t>Complete DLRM Parallel Structure View</a:t>
            </a:r>
          </a:p>
        </p:txBody>
      </p:sp>
      <p:sp>
        <p:nvSpPr>
          <p:cNvPr id="7" name="矩形 6">
            <a:extLst>
              <a:ext uri="{FF2B5EF4-FFF2-40B4-BE49-F238E27FC236}">
                <a16:creationId xmlns:a16="http://schemas.microsoft.com/office/drawing/2014/main" id="{B56F5D13-06EA-4BC7-826F-23330579AE9B}"/>
              </a:ext>
            </a:extLst>
          </p:cNvPr>
          <p:cNvSpPr/>
          <p:nvPr/>
        </p:nvSpPr>
        <p:spPr>
          <a:xfrm>
            <a:off x="934368" y="2489255"/>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15" name="直接箭头连接符 14">
            <a:extLst>
              <a:ext uri="{FF2B5EF4-FFF2-40B4-BE49-F238E27FC236}">
                <a16:creationId xmlns:a16="http://schemas.microsoft.com/office/drawing/2014/main" id="{4E8EDF30-1FBD-4F43-B13E-376B5BE4FB69}"/>
              </a:ext>
            </a:extLst>
          </p:cNvPr>
          <p:cNvCxnSpPr/>
          <p:nvPr/>
        </p:nvCxnSpPr>
        <p:spPr>
          <a:xfrm flipH="1">
            <a:off x="1426246" y="2195681"/>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50E2E87-FA2A-46CA-8124-876C62DC855E}"/>
              </a:ext>
            </a:extLst>
          </p:cNvPr>
          <p:cNvCxnSpPr>
            <a:cxnSpLocks/>
          </p:cNvCxnSpPr>
          <p:nvPr/>
        </p:nvCxnSpPr>
        <p:spPr>
          <a:xfrm flipH="1">
            <a:off x="5896861" y="21918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菱形 20">
            <a:extLst>
              <a:ext uri="{FF2B5EF4-FFF2-40B4-BE49-F238E27FC236}">
                <a16:creationId xmlns:a16="http://schemas.microsoft.com/office/drawing/2014/main" id="{D83992F0-2230-4685-9813-FE0A030FCC10}"/>
              </a:ext>
            </a:extLst>
          </p:cNvPr>
          <p:cNvSpPr/>
          <p:nvPr/>
        </p:nvSpPr>
        <p:spPr>
          <a:xfrm>
            <a:off x="2123020" y="3355561"/>
            <a:ext cx="6405216" cy="364434"/>
          </a:xfrm>
          <a:prstGeom prst="diamo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Interactive features</a:t>
            </a:r>
          </a:p>
        </p:txBody>
      </p:sp>
      <p:sp>
        <p:nvSpPr>
          <p:cNvPr id="31" name="矩形 30">
            <a:extLst>
              <a:ext uri="{FF2B5EF4-FFF2-40B4-BE49-F238E27FC236}">
                <a16:creationId xmlns:a16="http://schemas.microsoft.com/office/drawing/2014/main" id="{07400F68-CFDE-403E-B275-CD6CDC1F8083}"/>
              </a:ext>
            </a:extLst>
          </p:cNvPr>
          <p:cNvSpPr/>
          <p:nvPr/>
        </p:nvSpPr>
        <p:spPr>
          <a:xfrm>
            <a:off x="908868" y="2038791"/>
            <a:ext cx="4425530" cy="14839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categorical inputs</a:t>
            </a:r>
          </a:p>
        </p:txBody>
      </p:sp>
      <p:sp>
        <p:nvSpPr>
          <p:cNvPr id="41" name="文本框 40">
            <a:extLst>
              <a:ext uri="{FF2B5EF4-FFF2-40B4-BE49-F238E27FC236}">
                <a16:creationId xmlns:a16="http://schemas.microsoft.com/office/drawing/2014/main" id="{1EFF738D-1D56-4D05-910A-C70353E85BAB}"/>
              </a:ext>
            </a:extLst>
          </p:cNvPr>
          <p:cNvSpPr txBox="1"/>
          <p:nvPr/>
        </p:nvSpPr>
        <p:spPr>
          <a:xfrm>
            <a:off x="9858928" y="2316230"/>
            <a:ext cx="75537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42" name="直接箭头连接符 41">
            <a:extLst>
              <a:ext uri="{FF2B5EF4-FFF2-40B4-BE49-F238E27FC236}">
                <a16:creationId xmlns:a16="http://schemas.microsoft.com/office/drawing/2014/main" id="{C3A6078A-E9BA-4E37-B7C1-AAAA6F8EA411}"/>
              </a:ext>
            </a:extLst>
          </p:cNvPr>
          <p:cNvCxnSpPr>
            <a:cxnSpLocks/>
          </p:cNvCxnSpPr>
          <p:nvPr/>
        </p:nvCxnSpPr>
        <p:spPr>
          <a:xfrm flipH="1">
            <a:off x="7417278" y="2180846"/>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03723AD-0915-40F0-A139-B311689AFEB8}"/>
              </a:ext>
            </a:extLst>
          </p:cNvPr>
          <p:cNvCxnSpPr>
            <a:cxnSpLocks/>
          </p:cNvCxnSpPr>
          <p:nvPr/>
        </p:nvCxnSpPr>
        <p:spPr>
          <a:xfrm flipH="1">
            <a:off x="8982765" y="218771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AF99FEB8-D53D-4ACE-932A-16AC3106022D}"/>
              </a:ext>
            </a:extLst>
          </p:cNvPr>
          <p:cNvCxnSpPr>
            <a:cxnSpLocks/>
          </p:cNvCxnSpPr>
          <p:nvPr/>
        </p:nvCxnSpPr>
        <p:spPr>
          <a:xfrm flipH="1">
            <a:off x="5898054" y="2527374"/>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9E37E67-58B2-4ECF-A55F-8F0B3F8D3186}"/>
              </a:ext>
            </a:extLst>
          </p:cNvPr>
          <p:cNvCxnSpPr>
            <a:cxnSpLocks/>
          </p:cNvCxnSpPr>
          <p:nvPr/>
        </p:nvCxnSpPr>
        <p:spPr>
          <a:xfrm flipH="1">
            <a:off x="7439365" y="253423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94BB9A4-CD6D-44B3-9E39-EF7654EE1A42}"/>
              </a:ext>
            </a:extLst>
          </p:cNvPr>
          <p:cNvCxnSpPr/>
          <p:nvPr/>
        </p:nvCxnSpPr>
        <p:spPr>
          <a:xfrm>
            <a:off x="5910111" y="2886138"/>
            <a:ext cx="1408966" cy="553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887789A8-65B1-42C4-A627-9D41C2A2346F}"/>
              </a:ext>
            </a:extLst>
          </p:cNvPr>
          <p:cNvCxnSpPr/>
          <p:nvPr/>
        </p:nvCxnSpPr>
        <p:spPr>
          <a:xfrm flipH="1">
            <a:off x="7208552" y="2889627"/>
            <a:ext cx="1841991" cy="549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F77F4EC7-4A41-47F4-8BE6-029191BCADD9}"/>
              </a:ext>
            </a:extLst>
          </p:cNvPr>
          <p:cNvCxnSpPr/>
          <p:nvPr/>
        </p:nvCxnSpPr>
        <p:spPr>
          <a:xfrm flipH="1">
            <a:off x="7260096" y="2895800"/>
            <a:ext cx="137415" cy="54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51F0139-B4D3-4E5A-8140-168027431F62}"/>
              </a:ext>
            </a:extLst>
          </p:cNvPr>
          <p:cNvCxnSpPr/>
          <p:nvPr/>
        </p:nvCxnSpPr>
        <p:spPr>
          <a:xfrm>
            <a:off x="1372980" y="2681841"/>
            <a:ext cx="2438769" cy="715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151CAD64-9AA8-4630-A4F8-CD5DFFEE5696}"/>
              </a:ext>
            </a:extLst>
          </p:cNvPr>
          <p:cNvCxnSpPr>
            <a:cxnSpLocks/>
          </p:cNvCxnSpPr>
          <p:nvPr/>
        </p:nvCxnSpPr>
        <p:spPr>
          <a:xfrm>
            <a:off x="3174907" y="3579192"/>
            <a:ext cx="19882"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1B2C5C4-2836-4857-954A-42DBBB8D8387}"/>
              </a:ext>
            </a:extLst>
          </p:cNvPr>
          <p:cNvCxnSpPr>
            <a:cxnSpLocks/>
          </p:cNvCxnSpPr>
          <p:nvPr/>
        </p:nvCxnSpPr>
        <p:spPr>
          <a:xfrm flipH="1">
            <a:off x="5359310" y="3700668"/>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65DD66-4665-4F2D-9FFB-91769564BBEC}"/>
              </a:ext>
            </a:extLst>
          </p:cNvPr>
          <p:cNvCxnSpPr>
            <a:cxnSpLocks/>
          </p:cNvCxnSpPr>
          <p:nvPr/>
        </p:nvCxnSpPr>
        <p:spPr>
          <a:xfrm>
            <a:off x="7691689" y="3557104"/>
            <a:ext cx="19881" cy="351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13C8DEB-BAFF-4466-BA31-1DC6123E91CD}"/>
              </a:ext>
            </a:extLst>
          </p:cNvPr>
          <p:cNvCxnSpPr>
            <a:cxnSpLocks/>
          </p:cNvCxnSpPr>
          <p:nvPr/>
        </p:nvCxnSpPr>
        <p:spPr>
          <a:xfrm flipH="1">
            <a:off x="3194788" y="405406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315EBB8-8514-4F63-BFF3-9AA992D04500}"/>
              </a:ext>
            </a:extLst>
          </p:cNvPr>
          <p:cNvCxnSpPr>
            <a:cxnSpLocks/>
          </p:cNvCxnSpPr>
          <p:nvPr/>
        </p:nvCxnSpPr>
        <p:spPr>
          <a:xfrm flipH="1">
            <a:off x="538139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B96800A3-B4E9-4626-B4B5-6BC5B32AE5E2}"/>
              </a:ext>
            </a:extLst>
          </p:cNvPr>
          <p:cNvCxnSpPr>
            <a:cxnSpLocks/>
          </p:cNvCxnSpPr>
          <p:nvPr/>
        </p:nvCxnSpPr>
        <p:spPr>
          <a:xfrm flipH="1">
            <a:off x="7700527" y="4054060"/>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5B459F5-88DE-4664-9F06-C8E66A202EA5}"/>
              </a:ext>
            </a:extLst>
          </p:cNvPr>
          <p:cNvCxnSpPr>
            <a:cxnSpLocks/>
          </p:cNvCxnSpPr>
          <p:nvPr/>
        </p:nvCxnSpPr>
        <p:spPr>
          <a:xfrm>
            <a:off x="3241172" y="4451626"/>
            <a:ext cx="212918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EB9432-F63A-4610-A517-7E04DE01660A}"/>
              </a:ext>
            </a:extLst>
          </p:cNvPr>
          <p:cNvCxnSpPr>
            <a:cxnSpLocks/>
          </p:cNvCxnSpPr>
          <p:nvPr/>
        </p:nvCxnSpPr>
        <p:spPr>
          <a:xfrm flipH="1">
            <a:off x="5358618" y="4395719"/>
            <a:ext cx="2354471" cy="37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6A5C8F2-A8A8-4816-A1A0-D021027D201D}"/>
              </a:ext>
            </a:extLst>
          </p:cNvPr>
          <p:cNvCxnSpPr>
            <a:cxnSpLocks/>
          </p:cNvCxnSpPr>
          <p:nvPr/>
        </p:nvCxnSpPr>
        <p:spPr>
          <a:xfrm>
            <a:off x="5360138" y="4406072"/>
            <a:ext cx="8835" cy="351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0D49EF38-59BF-47C9-8111-7BB8CA370E07}"/>
              </a:ext>
            </a:extLst>
          </p:cNvPr>
          <p:cNvSpPr txBox="1"/>
          <p:nvPr/>
        </p:nvSpPr>
        <p:spPr>
          <a:xfrm>
            <a:off x="9858928" y="2636491"/>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69" name="文本框 68">
            <a:extLst>
              <a:ext uri="{FF2B5EF4-FFF2-40B4-BE49-F238E27FC236}">
                <a16:creationId xmlns:a16="http://schemas.microsoft.com/office/drawing/2014/main" id="{F6EAEFF8-FE2C-4EA7-A128-DFD2D66888FD}"/>
              </a:ext>
            </a:extLst>
          </p:cNvPr>
          <p:cNvSpPr txBox="1"/>
          <p:nvPr/>
        </p:nvSpPr>
        <p:spPr>
          <a:xfrm>
            <a:off x="8609822" y="3906490"/>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0" name="文本框 69">
            <a:extLst>
              <a:ext uri="{FF2B5EF4-FFF2-40B4-BE49-F238E27FC236}">
                <a16:creationId xmlns:a16="http://schemas.microsoft.com/office/drawing/2014/main" id="{D08E06C0-5145-4C79-AC8F-B75228F517AB}"/>
              </a:ext>
            </a:extLst>
          </p:cNvPr>
          <p:cNvSpPr txBox="1"/>
          <p:nvPr/>
        </p:nvSpPr>
        <p:spPr>
          <a:xfrm>
            <a:off x="8609821" y="4160491"/>
            <a:ext cx="8437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sp>
        <p:nvSpPr>
          <p:cNvPr id="72" name="矩形 71">
            <a:extLst>
              <a:ext uri="{FF2B5EF4-FFF2-40B4-BE49-F238E27FC236}">
                <a16:creationId xmlns:a16="http://schemas.microsoft.com/office/drawing/2014/main" id="{A09FA2F8-90E9-48F0-99B1-F19AC24785F0}"/>
              </a:ext>
            </a:extLst>
          </p:cNvPr>
          <p:cNvSpPr/>
          <p:nvPr/>
        </p:nvSpPr>
        <p:spPr>
          <a:xfrm>
            <a:off x="5004675" y="4823652"/>
            <a:ext cx="739914" cy="23191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Output</a:t>
            </a:r>
          </a:p>
        </p:txBody>
      </p:sp>
      <p:cxnSp>
        <p:nvCxnSpPr>
          <p:cNvPr id="77" name="直接箭头连接符 76">
            <a:extLst>
              <a:ext uri="{FF2B5EF4-FFF2-40B4-BE49-F238E27FC236}">
                <a16:creationId xmlns:a16="http://schemas.microsoft.com/office/drawing/2014/main" id="{361D9342-B5ED-4BC8-BDF8-66871AB6C28B}"/>
              </a:ext>
            </a:extLst>
          </p:cNvPr>
          <p:cNvCxnSpPr/>
          <p:nvPr/>
        </p:nvCxnSpPr>
        <p:spPr>
          <a:xfrm flipH="1">
            <a:off x="7231030" y="2947027"/>
            <a:ext cx="2939774"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B7BCEFE-57AF-4AAF-B35A-9AF4FE3AC14A}"/>
              </a:ext>
            </a:extLst>
          </p:cNvPr>
          <p:cNvCxnSpPr/>
          <p:nvPr/>
        </p:nvCxnSpPr>
        <p:spPr>
          <a:xfrm flipH="1">
            <a:off x="5413836" y="4384675"/>
            <a:ext cx="3370471" cy="38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CD4CB4D-4CC7-48C6-9F40-F559CB40F253}"/>
              </a:ext>
            </a:extLst>
          </p:cNvPr>
          <p:cNvCxnSpPr>
            <a:cxnSpLocks/>
          </p:cNvCxnSpPr>
          <p:nvPr/>
        </p:nvCxnSpPr>
        <p:spPr>
          <a:xfrm flipH="1">
            <a:off x="8948440" y="4087191"/>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8BD28764-5A36-4637-A842-EF1D9F23AEBD}"/>
              </a:ext>
            </a:extLst>
          </p:cNvPr>
          <p:cNvCxnSpPr/>
          <p:nvPr/>
        </p:nvCxnSpPr>
        <p:spPr>
          <a:xfrm>
            <a:off x="8021618" y="3588855"/>
            <a:ext cx="848137" cy="373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FCE7E8B-F305-4651-B635-A13BC50417FB}"/>
              </a:ext>
            </a:extLst>
          </p:cNvPr>
          <p:cNvCxnSpPr>
            <a:cxnSpLocks/>
          </p:cNvCxnSpPr>
          <p:nvPr/>
        </p:nvCxnSpPr>
        <p:spPr>
          <a:xfrm flipH="1">
            <a:off x="10175460" y="217666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0DD14542-62B3-4C17-ADC9-79A032F8F088}"/>
              </a:ext>
            </a:extLst>
          </p:cNvPr>
          <p:cNvCxnSpPr>
            <a:cxnSpLocks/>
          </p:cNvCxnSpPr>
          <p:nvPr/>
        </p:nvCxnSpPr>
        <p:spPr>
          <a:xfrm flipH="1">
            <a:off x="10175460" y="2541103"/>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0780DD52-2DE0-4DD3-9D1F-7DFE3120400E}"/>
              </a:ext>
            </a:extLst>
          </p:cNvPr>
          <p:cNvSpPr txBox="1"/>
          <p:nvPr/>
        </p:nvSpPr>
        <p:spPr>
          <a:xfrm>
            <a:off x="737705" y="5232400"/>
            <a:ext cx="504024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a:t>
            </a:r>
            <a:r>
              <a:rPr lang="zh-CN" altLang="en-US" sz="1200">
                <a:solidFill>
                  <a:srgbClr val="0070C0"/>
                </a:solidFill>
                <a:ea typeface="宋体"/>
              </a:rPr>
              <a:t>Blue parts are done on the corresponding specific divices.</a:t>
            </a:r>
            <a:endParaRPr lang="zh-CN" altLang="en-US" sz="1200">
              <a:solidFill>
                <a:srgbClr val="0070C0"/>
              </a:solidFill>
              <a:ea typeface="宋体" panose="02010600030101010101" pitchFamily="2" charset="-122"/>
              <a:cs typeface="Calibri" panose="020F0502020204030204"/>
            </a:endParaRPr>
          </a:p>
          <a:p>
            <a:r>
              <a:rPr lang="zh-CN" altLang="en-US" sz="1200">
                <a:solidFill>
                  <a:srgbClr val="FF0000"/>
                </a:solidFill>
                <a:ea typeface="宋体"/>
                <a:cs typeface="Calibri"/>
              </a:rPr>
              <a:t>  Red parts are done on the main device.</a:t>
            </a:r>
          </a:p>
        </p:txBody>
      </p:sp>
      <p:sp>
        <p:nvSpPr>
          <p:cNvPr id="88" name="矩形 87">
            <a:extLst>
              <a:ext uri="{FF2B5EF4-FFF2-40B4-BE49-F238E27FC236}">
                <a16:creationId xmlns:a16="http://schemas.microsoft.com/office/drawing/2014/main" id="{95DB69E7-B7E3-491D-92DA-AE0C1E782738}"/>
              </a:ext>
            </a:extLst>
          </p:cNvPr>
          <p:cNvSpPr/>
          <p:nvPr/>
        </p:nvSpPr>
        <p:spPr>
          <a:xfrm>
            <a:off x="4684418" y="5232261"/>
            <a:ext cx="1435649" cy="23191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Clamped_Output</a:t>
            </a:r>
          </a:p>
        </p:txBody>
      </p:sp>
      <p:cxnSp>
        <p:nvCxnSpPr>
          <p:cNvPr id="90" name="直接箭头连接符 89">
            <a:extLst>
              <a:ext uri="{FF2B5EF4-FFF2-40B4-BE49-F238E27FC236}">
                <a16:creationId xmlns:a16="http://schemas.microsoft.com/office/drawing/2014/main" id="{416A5E14-F071-4A69-AF29-21A0B3D50FC9}"/>
              </a:ext>
            </a:extLst>
          </p:cNvPr>
          <p:cNvCxnSpPr/>
          <p:nvPr/>
        </p:nvCxnSpPr>
        <p:spPr>
          <a:xfrm>
            <a:off x="5360828" y="5047281"/>
            <a:ext cx="8835" cy="17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47CF2EC2-087B-4DAD-8751-1E26F9DB6645}"/>
              </a:ext>
            </a:extLst>
          </p:cNvPr>
          <p:cNvSpPr txBox="1"/>
          <p:nvPr/>
        </p:nvSpPr>
        <p:spPr>
          <a:xfrm>
            <a:off x="5483826" y="4999106"/>
            <a:ext cx="16498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sz="1200">
                <a:ea typeface="宋体"/>
              </a:rPr>
              <a:t>Clamp if necessary</a:t>
            </a:r>
            <a:endParaRPr lang="zh-CN" altLang="en-US" sz="1200">
              <a:ea typeface="宋体"/>
              <a:cs typeface="Calibri"/>
            </a:endParaRPr>
          </a:p>
        </p:txBody>
      </p:sp>
      <p:sp>
        <p:nvSpPr>
          <p:cNvPr id="3" name="矩形 2">
            <a:extLst>
              <a:ext uri="{FF2B5EF4-FFF2-40B4-BE49-F238E27FC236}">
                <a16:creationId xmlns:a16="http://schemas.microsoft.com/office/drawing/2014/main" id="{8F70429E-1B2E-4580-A711-39CC876D78BC}"/>
              </a:ext>
            </a:extLst>
          </p:cNvPr>
          <p:cNvSpPr/>
          <p:nvPr/>
        </p:nvSpPr>
        <p:spPr>
          <a:xfrm>
            <a:off x="5341522" y="2034554"/>
            <a:ext cx="5211624" cy="15460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A batch of continuous inputs</a:t>
            </a:r>
          </a:p>
        </p:txBody>
      </p:sp>
      <p:sp>
        <p:nvSpPr>
          <p:cNvPr id="71" name="矩形 70">
            <a:extLst>
              <a:ext uri="{FF2B5EF4-FFF2-40B4-BE49-F238E27FC236}">
                <a16:creationId xmlns:a16="http://schemas.microsoft.com/office/drawing/2014/main" id="{156074B7-9A96-4BB0-BCC7-0ADE39072197}"/>
              </a:ext>
            </a:extLst>
          </p:cNvPr>
          <p:cNvSpPr/>
          <p:nvPr/>
        </p:nvSpPr>
        <p:spPr>
          <a:xfrm>
            <a:off x="2108260"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3" name="直接箭头连接符 72">
            <a:extLst>
              <a:ext uri="{FF2B5EF4-FFF2-40B4-BE49-F238E27FC236}">
                <a16:creationId xmlns:a16="http://schemas.microsoft.com/office/drawing/2014/main" id="{BDA563B2-5964-408B-B897-D4E28260BD5A}"/>
              </a:ext>
            </a:extLst>
          </p:cNvPr>
          <p:cNvCxnSpPr>
            <a:cxnSpLocks/>
          </p:cNvCxnSpPr>
          <p:nvPr/>
        </p:nvCxnSpPr>
        <p:spPr>
          <a:xfrm flipH="1">
            <a:off x="2593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2F7E2AC9-6F94-4B75-AC48-7E921860D725}"/>
              </a:ext>
            </a:extLst>
          </p:cNvPr>
          <p:cNvSpPr/>
          <p:nvPr/>
        </p:nvSpPr>
        <p:spPr>
          <a:xfrm>
            <a:off x="3213503" y="2496120"/>
            <a:ext cx="952376" cy="1998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Embed_D_1</a:t>
            </a:r>
          </a:p>
        </p:txBody>
      </p:sp>
      <p:cxnSp>
        <p:nvCxnSpPr>
          <p:cNvPr id="75" name="直接箭头连接符 74">
            <a:extLst>
              <a:ext uri="{FF2B5EF4-FFF2-40B4-BE49-F238E27FC236}">
                <a16:creationId xmlns:a16="http://schemas.microsoft.com/office/drawing/2014/main" id="{9F5C55EB-A245-44EE-B850-B05DD9283917}"/>
              </a:ext>
            </a:extLst>
          </p:cNvPr>
          <p:cNvCxnSpPr>
            <a:cxnSpLocks/>
          </p:cNvCxnSpPr>
          <p:nvPr/>
        </p:nvCxnSpPr>
        <p:spPr>
          <a:xfrm flipH="1">
            <a:off x="3671057"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B299B7F-6A8B-4DDE-8F67-E814A7E01A2E}"/>
              </a:ext>
            </a:extLst>
          </p:cNvPr>
          <p:cNvSpPr txBox="1"/>
          <p:nvPr/>
        </p:nvSpPr>
        <p:spPr>
          <a:xfrm>
            <a:off x="4339576" y="2437410"/>
            <a:ext cx="8105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1200">
                <a:ea typeface="宋体"/>
                <a:cs typeface="Calibri"/>
              </a:rPr>
              <a:t>.........</a:t>
            </a:r>
          </a:p>
        </p:txBody>
      </p:sp>
      <p:cxnSp>
        <p:nvCxnSpPr>
          <p:cNvPr id="81" name="直接箭头连接符 80">
            <a:extLst>
              <a:ext uri="{FF2B5EF4-FFF2-40B4-BE49-F238E27FC236}">
                <a16:creationId xmlns:a16="http://schemas.microsoft.com/office/drawing/2014/main" id="{FE7D81A5-DAF6-4425-843D-9B048545D1AB}"/>
              </a:ext>
            </a:extLst>
          </p:cNvPr>
          <p:cNvCxnSpPr>
            <a:cxnSpLocks/>
          </p:cNvCxnSpPr>
          <p:nvPr/>
        </p:nvCxnSpPr>
        <p:spPr>
          <a:xfrm flipH="1">
            <a:off x="4625273" y="2202546"/>
            <a:ext cx="720" cy="265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F28A1DF2-D1A5-4EA7-B7DB-07D675372D65}"/>
              </a:ext>
            </a:extLst>
          </p:cNvPr>
          <p:cNvCxnSpPr>
            <a:cxnSpLocks/>
          </p:cNvCxnSpPr>
          <p:nvPr/>
        </p:nvCxnSpPr>
        <p:spPr>
          <a:xfrm>
            <a:off x="2614696" y="2711552"/>
            <a:ext cx="1190188" cy="692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201F070A-CDED-40DA-9AD2-7ED5843C4BBE}"/>
              </a:ext>
            </a:extLst>
          </p:cNvPr>
          <p:cNvCxnSpPr>
            <a:cxnSpLocks/>
          </p:cNvCxnSpPr>
          <p:nvPr/>
        </p:nvCxnSpPr>
        <p:spPr>
          <a:xfrm>
            <a:off x="3671884" y="2684094"/>
            <a:ext cx="84947" cy="74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5DBF0863-645A-4381-8E87-1DEFD2E54E8E}"/>
              </a:ext>
            </a:extLst>
          </p:cNvPr>
          <p:cNvCxnSpPr>
            <a:cxnSpLocks/>
          </p:cNvCxnSpPr>
          <p:nvPr/>
        </p:nvCxnSpPr>
        <p:spPr>
          <a:xfrm flipH="1">
            <a:off x="3770559" y="2663498"/>
            <a:ext cx="800624" cy="754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箭头: 下 3">
            <a:extLst>
              <a:ext uri="{FF2B5EF4-FFF2-40B4-BE49-F238E27FC236}">
                <a16:creationId xmlns:a16="http://schemas.microsoft.com/office/drawing/2014/main" id="{D75571E6-8FF5-4A72-94B5-11C476549540}"/>
              </a:ext>
            </a:extLst>
          </p:cNvPr>
          <p:cNvSpPr/>
          <p:nvPr/>
        </p:nvSpPr>
        <p:spPr>
          <a:xfrm>
            <a:off x="11282503" y="1977427"/>
            <a:ext cx="178487" cy="3487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81DF4F6-2673-4061-91A0-360FD5FCCE41}"/>
              </a:ext>
            </a:extLst>
          </p:cNvPr>
          <p:cNvSpPr/>
          <p:nvPr/>
        </p:nvSpPr>
        <p:spPr>
          <a:xfrm>
            <a:off x="5265897" y="2396014"/>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MLP_Bot_1</a:t>
            </a:r>
            <a:endParaRPr lang="zh-CN" altLang="en-US" sz="1200">
              <a:latin typeface="SimSun"/>
              <a:ea typeface="SimSun"/>
            </a:endParaRPr>
          </a:p>
        </p:txBody>
      </p:sp>
      <p:sp>
        <p:nvSpPr>
          <p:cNvPr id="6" name="矩形 5">
            <a:extLst>
              <a:ext uri="{FF2B5EF4-FFF2-40B4-BE49-F238E27FC236}">
                <a16:creationId xmlns:a16="http://schemas.microsoft.com/office/drawing/2014/main" id="{10CAA2AB-5D14-4D28-8691-0805288F4F7C}"/>
              </a:ext>
            </a:extLst>
          </p:cNvPr>
          <p:cNvSpPr/>
          <p:nvPr/>
        </p:nvSpPr>
        <p:spPr>
          <a:xfrm>
            <a:off x="5509268" y="2737291"/>
            <a:ext cx="794177" cy="159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8" name="矩形 7">
            <a:extLst>
              <a:ext uri="{FF2B5EF4-FFF2-40B4-BE49-F238E27FC236}">
                <a16:creationId xmlns:a16="http://schemas.microsoft.com/office/drawing/2014/main" id="{EC199C1A-612D-4B5A-BC3B-B10567B986B9}"/>
              </a:ext>
            </a:extLst>
          </p:cNvPr>
          <p:cNvSpPr/>
          <p:nvPr/>
        </p:nvSpPr>
        <p:spPr>
          <a:xfrm>
            <a:off x="8612943" y="2747610"/>
            <a:ext cx="757166"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10" name="矩形 9">
            <a:extLst>
              <a:ext uri="{FF2B5EF4-FFF2-40B4-BE49-F238E27FC236}">
                <a16:creationId xmlns:a16="http://schemas.microsoft.com/office/drawing/2014/main" id="{EF6194D2-384D-4D88-BD5A-F771BE1B0424}"/>
              </a:ext>
            </a:extLst>
          </p:cNvPr>
          <p:cNvSpPr/>
          <p:nvPr/>
        </p:nvSpPr>
        <p:spPr>
          <a:xfrm>
            <a:off x="7043952" y="2746842"/>
            <a:ext cx="818950" cy="156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11" name="椭圆 10">
            <a:extLst>
              <a:ext uri="{FF2B5EF4-FFF2-40B4-BE49-F238E27FC236}">
                <a16:creationId xmlns:a16="http://schemas.microsoft.com/office/drawing/2014/main" id="{D56ACB96-E75F-4A4F-84E0-9A110D3203F8}"/>
              </a:ext>
            </a:extLst>
          </p:cNvPr>
          <p:cNvSpPr/>
          <p:nvPr/>
        </p:nvSpPr>
        <p:spPr>
          <a:xfrm>
            <a:off x="6774077" y="239183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MLP_Bot_2</a:t>
            </a:r>
            <a:endParaRPr lang="zh-CN" altLang="en-US" sz="1200">
              <a:latin typeface="SimSun"/>
              <a:ea typeface="SimSun"/>
            </a:endParaRPr>
          </a:p>
        </p:txBody>
      </p:sp>
      <p:sp>
        <p:nvSpPr>
          <p:cNvPr id="12" name="椭圆 11">
            <a:extLst>
              <a:ext uri="{FF2B5EF4-FFF2-40B4-BE49-F238E27FC236}">
                <a16:creationId xmlns:a16="http://schemas.microsoft.com/office/drawing/2014/main" id="{5A7F8E08-457B-49CA-9AD3-312F6C065862}"/>
              </a:ext>
            </a:extLst>
          </p:cNvPr>
          <p:cNvSpPr/>
          <p:nvPr/>
        </p:nvSpPr>
        <p:spPr>
          <a:xfrm>
            <a:off x="8317477" y="2398700"/>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MLP_Bot_3</a:t>
            </a:r>
          </a:p>
        </p:txBody>
      </p:sp>
      <p:cxnSp>
        <p:nvCxnSpPr>
          <p:cNvPr id="13" name="直接箭头连接符 12">
            <a:extLst>
              <a:ext uri="{FF2B5EF4-FFF2-40B4-BE49-F238E27FC236}">
                <a16:creationId xmlns:a16="http://schemas.microsoft.com/office/drawing/2014/main" id="{5A4DC566-7156-4935-BF9D-986173C2DCA8}"/>
              </a:ext>
            </a:extLst>
          </p:cNvPr>
          <p:cNvCxnSpPr>
            <a:cxnSpLocks/>
          </p:cNvCxnSpPr>
          <p:nvPr/>
        </p:nvCxnSpPr>
        <p:spPr>
          <a:xfrm flipH="1">
            <a:off x="8982765" y="2552147"/>
            <a:ext cx="2205" cy="196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4B5F00A0-7C85-49C1-80DF-CE6125F19F01}"/>
              </a:ext>
            </a:extLst>
          </p:cNvPr>
          <p:cNvSpPr/>
          <p:nvPr/>
        </p:nvSpPr>
        <p:spPr>
          <a:xfrm>
            <a:off x="259976" y="2036908"/>
            <a:ext cx="646740" cy="15368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Offsets</a:t>
            </a:r>
          </a:p>
        </p:txBody>
      </p:sp>
      <p:cxnSp>
        <p:nvCxnSpPr>
          <p:cNvPr id="14" name="直接箭头连接符 13">
            <a:extLst>
              <a:ext uri="{FF2B5EF4-FFF2-40B4-BE49-F238E27FC236}">
                <a16:creationId xmlns:a16="http://schemas.microsoft.com/office/drawing/2014/main" id="{00EFF2EB-8588-4D05-A543-C2B57C29DCF5}"/>
              </a:ext>
            </a:extLst>
          </p:cNvPr>
          <p:cNvCxnSpPr/>
          <p:nvPr/>
        </p:nvCxnSpPr>
        <p:spPr>
          <a:xfrm>
            <a:off x="530919" y="2179784"/>
            <a:ext cx="4090467" cy="254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302246A9-F53D-4753-B75A-E393374B275C}"/>
              </a:ext>
            </a:extLst>
          </p:cNvPr>
          <p:cNvCxnSpPr>
            <a:cxnSpLocks/>
          </p:cNvCxnSpPr>
          <p:nvPr/>
        </p:nvCxnSpPr>
        <p:spPr>
          <a:xfrm>
            <a:off x="537322" y="2205397"/>
            <a:ext cx="3142769"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DFDEB84-708B-4FAC-BEF0-CB1822801D82}"/>
              </a:ext>
            </a:extLst>
          </p:cNvPr>
          <p:cNvCxnSpPr>
            <a:cxnSpLocks/>
          </p:cNvCxnSpPr>
          <p:nvPr/>
        </p:nvCxnSpPr>
        <p:spPr>
          <a:xfrm>
            <a:off x="530918" y="2205397"/>
            <a:ext cx="2041391" cy="261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5F4902DB-4626-4024-B3DD-42E284C29C86}"/>
              </a:ext>
            </a:extLst>
          </p:cNvPr>
          <p:cNvCxnSpPr>
            <a:cxnSpLocks/>
          </p:cNvCxnSpPr>
          <p:nvPr/>
        </p:nvCxnSpPr>
        <p:spPr>
          <a:xfrm>
            <a:off x="537321" y="2205397"/>
            <a:ext cx="863172" cy="22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D23191FF-2595-478D-B802-42A47C3EB610}"/>
              </a:ext>
            </a:extLst>
          </p:cNvPr>
          <p:cNvSpPr/>
          <p:nvPr/>
        </p:nvSpPr>
        <p:spPr>
          <a:xfrm>
            <a:off x="2596900" y="39298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MLP_Top_1</a:t>
            </a:r>
            <a:endParaRPr lang="zh-CN" altLang="en-US" sz="1200">
              <a:latin typeface="SimSun"/>
              <a:ea typeface="SimSun"/>
            </a:endParaRPr>
          </a:p>
        </p:txBody>
      </p:sp>
      <p:sp>
        <p:nvSpPr>
          <p:cNvPr id="22" name="矩形 21">
            <a:extLst>
              <a:ext uri="{FF2B5EF4-FFF2-40B4-BE49-F238E27FC236}">
                <a16:creationId xmlns:a16="http://schemas.microsoft.com/office/drawing/2014/main" id="{F97B6FFE-B44F-4D58-B6E0-15BB9214F0DE}"/>
              </a:ext>
            </a:extLst>
          </p:cNvPr>
          <p:cNvSpPr/>
          <p:nvPr/>
        </p:nvSpPr>
        <p:spPr>
          <a:xfrm>
            <a:off x="2352921" y="4265565"/>
            <a:ext cx="1768988" cy="152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D_1</a:t>
            </a:r>
          </a:p>
        </p:txBody>
      </p:sp>
      <p:sp>
        <p:nvSpPr>
          <p:cNvPr id="23" name="矩形 22">
            <a:extLst>
              <a:ext uri="{FF2B5EF4-FFF2-40B4-BE49-F238E27FC236}">
                <a16:creationId xmlns:a16="http://schemas.microsoft.com/office/drawing/2014/main" id="{E169278D-E25F-44C9-AD19-5F107048D3E6}"/>
              </a:ext>
            </a:extLst>
          </p:cNvPr>
          <p:cNvSpPr/>
          <p:nvPr/>
        </p:nvSpPr>
        <p:spPr>
          <a:xfrm>
            <a:off x="6747961" y="4247277"/>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D_3</a:t>
            </a:r>
            <a:endParaRPr lang="zh-CN" altLang="en-US" sz="1200"/>
          </a:p>
        </p:txBody>
      </p:sp>
      <p:sp>
        <p:nvSpPr>
          <p:cNvPr id="24" name="矩形 23">
            <a:extLst>
              <a:ext uri="{FF2B5EF4-FFF2-40B4-BE49-F238E27FC236}">
                <a16:creationId xmlns:a16="http://schemas.microsoft.com/office/drawing/2014/main" id="{36CC91DB-E719-4F12-B282-A728871A9731}"/>
              </a:ext>
            </a:extLst>
          </p:cNvPr>
          <p:cNvSpPr/>
          <p:nvPr/>
        </p:nvSpPr>
        <p:spPr>
          <a:xfrm>
            <a:off x="4471944" y="4235085"/>
            <a:ext cx="1780031" cy="163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ea typeface="宋体"/>
                <a:cs typeface="Calibri"/>
              </a:rPr>
              <a:t>D_2</a:t>
            </a:r>
          </a:p>
        </p:txBody>
      </p:sp>
      <p:sp>
        <p:nvSpPr>
          <p:cNvPr id="25" name="椭圆 24">
            <a:extLst>
              <a:ext uri="{FF2B5EF4-FFF2-40B4-BE49-F238E27FC236}">
                <a16:creationId xmlns:a16="http://schemas.microsoft.com/office/drawing/2014/main" id="{D5B3923F-BA1C-4C69-AE48-2E8FB7A51341}"/>
              </a:ext>
            </a:extLst>
          </p:cNvPr>
          <p:cNvSpPr/>
          <p:nvPr/>
        </p:nvSpPr>
        <p:spPr>
          <a:xfrm>
            <a:off x="469551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MLP_Top_2</a:t>
            </a:r>
            <a:endParaRPr lang="zh-CN" altLang="en-US" sz="1200">
              <a:latin typeface="SimSun"/>
              <a:ea typeface="SimSun"/>
            </a:endParaRPr>
          </a:p>
        </p:txBody>
      </p:sp>
      <p:sp>
        <p:nvSpPr>
          <p:cNvPr id="26" name="椭圆 25">
            <a:extLst>
              <a:ext uri="{FF2B5EF4-FFF2-40B4-BE49-F238E27FC236}">
                <a16:creationId xmlns:a16="http://schemas.microsoft.com/office/drawing/2014/main" id="{3790C20C-3217-41C4-AD30-4266C16E80A5}"/>
              </a:ext>
            </a:extLst>
          </p:cNvPr>
          <p:cNvSpPr/>
          <p:nvPr/>
        </p:nvSpPr>
        <p:spPr>
          <a:xfrm>
            <a:off x="7014644" y="3926095"/>
            <a:ext cx="1372659" cy="1609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latin typeface="SimSun"/>
                <a:ea typeface="SimSun"/>
                <a:cs typeface="Calibri"/>
              </a:rPr>
              <a:t>MLP_Top_3</a:t>
            </a:r>
          </a:p>
        </p:txBody>
      </p:sp>
    </p:spTree>
    <p:extLst>
      <p:ext uri="{BB962C8B-B14F-4D97-AF65-F5344CB8AC3E}">
        <p14:creationId xmlns:p14="http://schemas.microsoft.com/office/powerpoint/2010/main" val="2107365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D37304-0B0E-4B11-9696-B1E7C9DEFB51}"/>
              </a:ext>
            </a:extLst>
          </p:cNvPr>
          <p:cNvSpPr>
            <a:spLocks noGrp="1"/>
          </p:cNvSpPr>
          <p:nvPr>
            <p:ph type="title"/>
          </p:nvPr>
        </p:nvSpPr>
        <p:spPr/>
        <p:txBody>
          <a:bodyPr/>
          <a:lstStyle/>
          <a:p>
            <a:r>
              <a:rPr lang="zh-CN" altLang="en-US">
                <a:ea typeface="宋体"/>
                <a:cs typeface="Calibri Light"/>
              </a:rPr>
              <a:t>References</a:t>
            </a:r>
            <a:endParaRPr lang="zh-CN" altLang="en-US"/>
          </a:p>
        </p:txBody>
      </p:sp>
      <p:sp>
        <p:nvSpPr>
          <p:cNvPr id="3" name="内容占位符 2">
            <a:extLst>
              <a:ext uri="{FF2B5EF4-FFF2-40B4-BE49-F238E27FC236}">
                <a16:creationId xmlns:a16="http://schemas.microsoft.com/office/drawing/2014/main" id="{B9725B04-2F05-47F1-8011-9DAD015707D1}"/>
              </a:ext>
            </a:extLst>
          </p:cNvPr>
          <p:cNvSpPr>
            <a:spLocks noGrp="1"/>
          </p:cNvSpPr>
          <p:nvPr>
            <p:ph idx="1"/>
          </p:nvPr>
        </p:nvSpPr>
        <p:spPr/>
        <p:txBody>
          <a:bodyPr vert="horz" lIns="91440" tIns="45720" rIns="91440" bIns="45720" rtlCol="0" anchor="t">
            <a:normAutofit/>
          </a:bodyPr>
          <a:lstStyle/>
          <a:p>
            <a:r>
              <a:rPr lang="en-US" altLang="zh-CN">
                <a:ea typeface="+mn-lt"/>
                <a:cs typeface="+mn-lt"/>
              </a:rPr>
              <a:t>DLRM</a:t>
            </a:r>
            <a:r>
              <a:rPr lang="zh-CN">
                <a:ea typeface="+mn-lt"/>
                <a:cs typeface="+mn-lt"/>
              </a:rPr>
              <a:t> Intro</a:t>
            </a:r>
            <a:r>
              <a:rPr lang="en-US" altLang="zh-CN">
                <a:ea typeface="+mn-lt"/>
                <a:cs typeface="+mn-lt"/>
              </a:rPr>
              <a:t>duction paper</a:t>
            </a:r>
            <a:r>
              <a:rPr lang="zh-CN">
                <a:ea typeface="+mn-lt"/>
                <a:cs typeface="+mn-lt"/>
              </a:rPr>
              <a:t>: </a:t>
            </a:r>
            <a:r>
              <a:rPr lang="zh-CN">
                <a:ea typeface="+mn-lt"/>
                <a:cs typeface="+mn-lt"/>
                <a:hlinkClick r:id="rId2"/>
              </a:rPr>
              <a:t>https://arxiv.org/pdf/1906.00091.pdf</a:t>
            </a:r>
          </a:p>
          <a:p>
            <a:r>
              <a:rPr lang="zh-CN">
                <a:ea typeface="+mn-lt"/>
                <a:cs typeface="+mn-lt"/>
              </a:rPr>
              <a:t>Source Code: </a:t>
            </a:r>
            <a:r>
              <a:rPr lang="zh-CN">
                <a:ea typeface="+mn-lt"/>
                <a:cs typeface="+mn-lt"/>
                <a:hlinkClick r:id="rId3"/>
              </a:rPr>
              <a:t>https://github.com/facebookresearch/dlrm</a:t>
            </a:r>
            <a:endParaRPr lang="zh-CN"/>
          </a:p>
          <a:p>
            <a:r>
              <a:rPr lang="zh-CN" altLang="en-US">
                <a:ea typeface="宋体"/>
                <a:cs typeface="Calibri" panose="020F0502020204030204"/>
              </a:rPr>
              <a:t>DLRM Introduction in Source Code:</a:t>
            </a:r>
            <a:r>
              <a:rPr lang="zh-CN" altLang="en-US">
                <a:ea typeface="宋体"/>
                <a:cs typeface="+mn-lt"/>
              </a:rPr>
              <a:t> </a:t>
            </a:r>
            <a:endParaRPr lang="zh-CN">
              <a:ea typeface="宋体"/>
              <a:cs typeface="+mn-lt"/>
            </a:endParaRPr>
          </a:p>
          <a:p>
            <a:pPr marL="0" indent="0">
              <a:buNone/>
            </a:pPr>
            <a:r>
              <a:rPr lang="zh-CN">
                <a:ea typeface="+mn-lt"/>
                <a:cs typeface="+mn-lt"/>
                <a:hlinkClick r:id="rId4"/>
              </a:rPr>
              <a:t>https://github.com/facebookresearch/dlrm/blob/master/README.md</a:t>
            </a:r>
            <a:endParaRPr lang="zh-CN">
              <a:ea typeface="宋体"/>
              <a:cs typeface="Calibri" panose="020F0502020204030204"/>
            </a:endParaRPr>
          </a:p>
          <a:p>
            <a:endParaRPr lang="zh-CN" altLang="en-US">
              <a:ea typeface="宋体"/>
              <a:cs typeface="Calibri" panose="020F0502020204030204"/>
            </a:endParaRPr>
          </a:p>
        </p:txBody>
      </p:sp>
    </p:spTree>
    <p:extLst>
      <p:ext uri="{BB962C8B-B14F-4D97-AF65-F5344CB8AC3E}">
        <p14:creationId xmlns:p14="http://schemas.microsoft.com/office/powerpoint/2010/main" val="766662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B242D-2AA5-48D2-9992-B1811098D2BB}"/>
              </a:ext>
            </a:extLst>
          </p:cNvPr>
          <p:cNvSpPr>
            <a:spLocks noGrp="1"/>
          </p:cNvSpPr>
          <p:nvPr>
            <p:ph type="title"/>
          </p:nvPr>
        </p:nvSpPr>
        <p:spPr/>
        <p:txBody>
          <a:bodyPr/>
          <a:lstStyle/>
          <a:p>
            <a:endParaRPr lang="zh-CN" altLang="en-US">
              <a:ea typeface="宋体"/>
              <a:cs typeface="Calibri Light"/>
            </a:endParaRPr>
          </a:p>
        </p:txBody>
      </p:sp>
      <p:sp>
        <p:nvSpPr>
          <p:cNvPr id="3" name="内容占位符 2">
            <a:extLst>
              <a:ext uri="{FF2B5EF4-FFF2-40B4-BE49-F238E27FC236}">
                <a16:creationId xmlns:a16="http://schemas.microsoft.com/office/drawing/2014/main" id="{D7CE1C17-DB26-443A-82AB-D7714030973C}"/>
              </a:ext>
            </a:extLst>
          </p:cNvPr>
          <p:cNvSpPr>
            <a:spLocks noGrp="1"/>
          </p:cNvSpPr>
          <p:nvPr>
            <p:ph idx="1"/>
          </p:nvPr>
        </p:nvSpPr>
        <p:spPr/>
        <p:txBody>
          <a:bodyPr vert="horz" lIns="91440" tIns="45720" rIns="91440" bIns="45720" rtlCol="0" anchor="t">
            <a:normAutofit/>
          </a:bodyPr>
          <a:lstStyle/>
          <a:p>
            <a:r>
              <a:rPr lang="zh-CN">
                <a:ea typeface="+mn-lt"/>
                <a:cs typeface="+mn-lt"/>
              </a:rPr>
              <a:t>End</a:t>
            </a:r>
            <a:endParaRPr lang="zh-CN" altLang="en-US"/>
          </a:p>
        </p:txBody>
      </p:sp>
    </p:spTree>
    <p:extLst>
      <p:ext uri="{BB962C8B-B14F-4D97-AF65-F5344CB8AC3E}">
        <p14:creationId xmlns:p14="http://schemas.microsoft.com/office/powerpoint/2010/main" val="33637914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宽屏</PresentationFormat>
  <Slides>45</Slides>
  <Notes>23</Notes>
  <HiddenSlides>0</HiddenSlides>
  <ScaleCrop>false</ScaleCrop>
  <HeadingPairs>
    <vt:vector size="4" baseType="variant">
      <vt:variant>
        <vt:lpstr>主题</vt:lpstr>
      </vt:variant>
      <vt:variant>
        <vt:i4>1</vt:i4>
      </vt:variant>
      <vt:variant>
        <vt:lpstr>幻灯片标题</vt:lpstr>
      </vt:variant>
      <vt:variant>
        <vt:i4>45</vt:i4>
      </vt:variant>
    </vt:vector>
  </HeadingPairs>
  <TitlesOfParts>
    <vt:vector size="46" baseType="lpstr">
      <vt:lpstr>Office 主题</vt:lpstr>
      <vt:lpstr>DLRM: Forward</vt:lpstr>
      <vt:lpstr>What is DLRM?</vt:lpstr>
      <vt:lpstr>Summary of DLRM model in words</vt:lpstr>
      <vt:lpstr>DLRM forward types</vt:lpstr>
      <vt:lpstr>PowerPoint 演示文稿</vt:lpstr>
      <vt:lpstr>Complete DLRM Parallel Structure View</vt:lpstr>
      <vt:lpstr>Operations of X_i on device D_i</vt:lpstr>
      <vt:lpstr>Complete DLRM Parallel Structure View</vt:lpstr>
      <vt:lpstr>Operations of X_i on device D_i</vt:lpstr>
      <vt:lpstr>MLPs in DLRM</vt:lpstr>
      <vt:lpstr>Bot_l under the 'run_and_time.sh' setting</vt:lpstr>
      <vt:lpstr>Bot_l under the 'run_and_time.sh' setting</vt:lpstr>
      <vt:lpstr>PowerPoint 演示文稿</vt:lpstr>
      <vt:lpstr>Replicating all MLP layers for data parallelism</vt:lpstr>
      <vt:lpstr>Scattering data for data parallelism</vt:lpstr>
      <vt:lpstr>Zip data with devices and MLPs</vt:lpstr>
      <vt:lpstr>Complete DLRM Parallel Structure View</vt:lpstr>
      <vt:lpstr>Operations of X_i on device D_i</vt:lpstr>
      <vt:lpstr>Embeddings in DLRM</vt:lpstr>
      <vt:lpstr>EmbeddingBag 1D embedding with example</vt:lpstr>
      <vt:lpstr>Offsets in DLRM</vt:lpstr>
      <vt:lpstr>nn.EmbeddingBag</vt:lpstr>
      <vt:lpstr>nn.EmbeddingBag dimensions</vt:lpstr>
      <vt:lpstr>PrEmbeddingBag</vt:lpstr>
      <vt:lpstr>PrEmbeddingBag</vt:lpstr>
      <vt:lpstr>PrEmbeddingBag dimensions</vt:lpstr>
      <vt:lpstr>QREmbeddingBag  (when num_categories&gt;qr-threshold)</vt:lpstr>
      <vt:lpstr>QREmbeddingBag (when num_categories&gt;qr-threshold)</vt:lpstr>
      <vt:lpstr>Simplified QREmbeddingBag pseudocode  (when num_categories&gt;qr-threshold) </vt:lpstr>
      <vt:lpstr>QREmbeddingBag (18) &amp;  nn.EmbeddingBag (8) dimensions  when qr-threshold=200 (Add/Multiply)</vt:lpstr>
      <vt:lpstr>Embedding Bag preparation for model parallelism</vt:lpstr>
      <vt:lpstr>Complete DLRM Parallel Structure View</vt:lpstr>
      <vt:lpstr>Operations of X_i on device D_i</vt:lpstr>
      <vt:lpstr>Interact_features</vt:lpstr>
      <vt:lpstr>Code for if AIO='dot' with pytorch</vt:lpstr>
      <vt:lpstr>Complete DLRM Parallel Structure View</vt:lpstr>
      <vt:lpstr>Operations of data output</vt:lpstr>
      <vt:lpstr>Gathering outputs</vt:lpstr>
      <vt:lpstr>Overview of data operations</vt:lpstr>
      <vt:lpstr>PowerPoint 演示文稿</vt:lpstr>
      <vt:lpstr>PowerPoint 演示文稿</vt:lpstr>
      <vt:lpstr>PowerPoint 演示文稿</vt:lpstr>
      <vt:lpstr>Complete DLRM Parallel Structure View</vt:lpstr>
      <vt:lpstr>References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revision>439</cp:revision>
  <dcterms:created xsi:type="dcterms:W3CDTF">2020-07-15T12:46:34Z</dcterms:created>
  <dcterms:modified xsi:type="dcterms:W3CDTF">2020-07-24T06:57:39Z</dcterms:modified>
</cp:coreProperties>
</file>