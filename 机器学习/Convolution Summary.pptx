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9" r:id="rId6"/>
    <p:sldId id="308" r:id="rId7"/>
    <p:sldId id="309" r:id="rId8"/>
    <p:sldId id="310" r:id="rId9"/>
    <p:sldId id="311" r:id="rId10"/>
    <p:sldId id="3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47B5E2-1C48-4547-9214-DCC9C6437A11}">
          <p14:sldIdLst>
            <p14:sldId id="256"/>
            <p14:sldId id="279"/>
            <p14:sldId id="308"/>
            <p14:sldId id="309"/>
            <p14:sldId id="310"/>
            <p14:sldId id="311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3400" autoAdjust="0"/>
  </p:normalViewPr>
  <p:slideViewPr>
    <p:cSldViewPr snapToGrid="0">
      <p:cViewPr>
        <p:scale>
          <a:sx n="66" d="100"/>
          <a:sy n="66" d="100"/>
        </p:scale>
        <p:origin x="656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2935CA-802F-468B-AAFD-EF57EB01FE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3F882-E4B4-4CE0-9FB3-3E142EED73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E8BB0-00E9-453F-A1F8-998A77E3B983}" type="datetimeFigureOut">
              <a:rPr lang="en-US" smtClean="0"/>
              <a:t>1/15/2021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7C1B2-D13F-4C09-8E9F-A5DB6CE18F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7F8CF-C1E4-4441-A42D-F8FA0EBF05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0B073-6D1E-46C1-8B5C-701921F72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96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E60A2-4DB2-4A2B-A488-EC8AC4BEB7C7}" type="datetimeFigureOut">
              <a:rPr lang="en-US" smtClean="0"/>
              <a:t>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451F6-071F-4B65-BB5C-CB93C4F05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3CFB840-3B77-45CA-87E1-7583AB8E47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7" y="542925"/>
            <a:ext cx="4195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7FA052-0106-4230-BBB8-3989AE51915C}"/>
              </a:ext>
            </a:extLst>
          </p:cNvPr>
          <p:cNvSpPr/>
          <p:nvPr userDrawn="1"/>
        </p:nvSpPr>
        <p:spPr>
          <a:xfrm>
            <a:off x="0" y="5128952"/>
            <a:ext cx="12192000" cy="1721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CAB42-C76A-4FB6-BF23-F1E132F98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" y="1332727"/>
            <a:ext cx="8296275" cy="223303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17CBF-5ABE-4EA8-9C03-858D0D52F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" y="3914499"/>
            <a:ext cx="8296275" cy="69770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0E4E-B7E7-4A27-A5ED-3619B7C6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2F956-D594-43F6-A24D-F77A3099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997CA-AB75-415D-BE1A-F39896C1DB80}"/>
              </a:ext>
            </a:extLst>
          </p:cNvPr>
          <p:cNvSpPr txBox="1"/>
          <p:nvPr userDrawn="1"/>
        </p:nvSpPr>
        <p:spPr>
          <a:xfrm>
            <a:off x="601026" y="173593"/>
            <a:ext cx="4230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Rockwell Nova Extra Bold" panose="020B0604020202020204" pitchFamily="18" charset="0"/>
              </a:rPr>
              <a:t>BIREN TECHNOLOGY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3030B-8FA2-4D13-9C0C-BA47D4C34655}"/>
              </a:ext>
            </a:extLst>
          </p:cNvPr>
          <p:cNvSpPr txBox="1"/>
          <p:nvPr userDrawn="1"/>
        </p:nvSpPr>
        <p:spPr>
          <a:xfrm>
            <a:off x="626745" y="52232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0" u="none" strike="noStrike" kern="1200" dirty="0">
                <a:solidFill>
                  <a:srgbClr val="0070C0"/>
                </a:solidFill>
                <a:effectLst/>
                <a:latin typeface="Rockwell Nova Extra Bold" panose="02060903020205020403" pitchFamily="18" charset="0"/>
                <a:ea typeface="+mn-ea"/>
                <a:cs typeface="+mn-cs"/>
              </a:rPr>
              <a:t>上海壁仞科技智能有限公司</a:t>
            </a:r>
            <a:r>
              <a:rPr lang="zh-CN" altLang="en-US" sz="2400" b="1" i="0" kern="1200" dirty="0">
                <a:solidFill>
                  <a:srgbClr val="0070C0"/>
                </a:solidFill>
                <a:effectLst/>
                <a:latin typeface="Rockwell Nova Extra Bold" panose="02060903020205020403" pitchFamily="18" charset="0"/>
                <a:ea typeface="+mn-ea"/>
                <a:cs typeface="+mn-cs"/>
              </a:rPr>
              <a:t>​</a:t>
            </a:r>
            <a:endParaRPr lang="en-US" sz="2400" b="1" dirty="0">
              <a:solidFill>
                <a:srgbClr val="0070C0"/>
              </a:solidFill>
              <a:latin typeface="Rockwell Nova Extra Bold" panose="02060903020205020403" pitchFamily="18" charset="0"/>
            </a:endParaRP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3D23CFB-19EB-4746-AF7E-2DB189D9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6C7F52-5ADB-4558-A4BC-B45418E4515C}" type="datetime1">
              <a:rPr lang="en-US" smtClean="0"/>
              <a:t>1/15/2021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2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6324"/>
            <a:ext cx="10515600" cy="10595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646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9E0C4A-E6C5-4DE2-9669-2EEFF2E55F09}" type="datetime1">
              <a:rPr lang="en-US" smtClean="0"/>
              <a:t>1/15/2021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16607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66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D7AF-B278-4F36-8517-ED6ACE84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2936B-8AD4-4F67-B3AC-48156C86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C461B-7C28-4CEB-BFC7-F58CC55229BE}"/>
              </a:ext>
            </a:extLst>
          </p:cNvPr>
          <p:cNvSpPr/>
          <p:nvPr userDrawn="1"/>
        </p:nvSpPr>
        <p:spPr>
          <a:xfrm>
            <a:off x="0" y="6201526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187A0DD-56D5-42F0-9C4D-E8CCCC1F76C2}"/>
              </a:ext>
            </a:extLst>
          </p:cNvPr>
          <p:cNvSpPr txBox="1">
            <a:spLocks/>
          </p:cNvSpPr>
          <p:nvPr userDrawn="1"/>
        </p:nvSpPr>
        <p:spPr>
          <a:xfrm>
            <a:off x="838199" y="63441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A336A6-8546-4D69-BA02-C993D8079969}" type="datetime1">
              <a:rPr lang="en-US" smtClean="0"/>
              <a:pPr/>
              <a:t>1/15/2021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16CA42E-E0B3-4102-BEBE-C1125A7B2F83}"/>
              </a:ext>
            </a:extLst>
          </p:cNvPr>
          <p:cNvSpPr txBox="1">
            <a:spLocks/>
          </p:cNvSpPr>
          <p:nvPr userDrawn="1"/>
        </p:nvSpPr>
        <p:spPr>
          <a:xfrm>
            <a:off x="4038599" y="63441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9AF09D1-FDD1-406D-A29C-41BDC37A2682}"/>
              </a:ext>
            </a:extLst>
          </p:cNvPr>
          <p:cNvSpPr txBox="1">
            <a:spLocks/>
          </p:cNvSpPr>
          <p:nvPr userDrawn="1"/>
        </p:nvSpPr>
        <p:spPr>
          <a:xfrm>
            <a:off x="8610599" y="63441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F2419A9-511D-4C2E-920F-DDD3120208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星形: 四角 9">
            <a:extLst>
              <a:ext uri="{FF2B5EF4-FFF2-40B4-BE49-F238E27FC236}">
                <a16:creationId xmlns:a16="http://schemas.microsoft.com/office/drawing/2014/main" id="{F01A5004-FFE0-476C-BB85-5C957C7C107D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B01B05CC-A472-466A-947F-94A47717583C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1992D6BE-7519-4CB5-9059-16D1AC3B47FE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F2F8998B-70C4-4A40-B6A0-10ABF6081A99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19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813BCE-40C0-458C-BD70-350FA2C15197}"/>
              </a:ext>
            </a:extLst>
          </p:cNvPr>
          <p:cNvSpPr/>
          <p:nvPr userDrawn="1"/>
        </p:nvSpPr>
        <p:spPr>
          <a:xfrm>
            <a:off x="0" y="6216417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D3A08-40AC-482B-83D7-4A4C323F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4390-3CFD-48E1-8649-8893486A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7C5F2-A7B2-4927-A8C1-FEAE7E040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BE254-A371-4AAA-824D-F2329ABA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069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69F0C6-5D83-4C5C-A132-63070A4CCFB3}" type="datetime1">
              <a:rPr lang="en-US" smtClean="0"/>
              <a:t>1/15/2021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F1D13-BB62-431E-8A6F-2CD653B4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0692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F5C63-51D9-4F50-8FEB-084B0318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069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直接连接符 4">
            <a:extLst>
              <a:ext uri="{FF2B5EF4-FFF2-40B4-BE49-F238E27FC236}">
                <a16:creationId xmlns:a16="http://schemas.microsoft.com/office/drawing/2014/main" id="{338AD4C8-8A2E-4982-9630-D85C508ED7B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>
            <a:extLst>
              <a:ext uri="{FF2B5EF4-FFF2-40B4-BE49-F238E27FC236}">
                <a16:creationId xmlns:a16="http://schemas.microsoft.com/office/drawing/2014/main" id="{B9789E5C-170B-4D06-A469-320F5E30C1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星形: 四角 9">
            <a:extLst>
              <a:ext uri="{FF2B5EF4-FFF2-40B4-BE49-F238E27FC236}">
                <a16:creationId xmlns:a16="http://schemas.microsoft.com/office/drawing/2014/main" id="{5F154010-801A-46DB-926F-EFE710562C72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星形: 四角 15">
            <a:extLst>
              <a:ext uri="{FF2B5EF4-FFF2-40B4-BE49-F238E27FC236}">
                <a16:creationId xmlns:a16="http://schemas.microsoft.com/office/drawing/2014/main" id="{2CA4454B-4EEE-4523-B749-D8238C379247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6">
            <a:extLst>
              <a:ext uri="{FF2B5EF4-FFF2-40B4-BE49-F238E27FC236}">
                <a16:creationId xmlns:a16="http://schemas.microsoft.com/office/drawing/2014/main" id="{BD6CB86A-F825-430E-B717-4424A157FCD6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1">
            <a:extLst>
              <a:ext uri="{FF2B5EF4-FFF2-40B4-BE49-F238E27FC236}">
                <a16:creationId xmlns:a16="http://schemas.microsoft.com/office/drawing/2014/main" id="{8B241B9F-BFEE-403E-912A-15A434E0FEFD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339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EBCBD-2C43-4DDA-88C4-70B22E279991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EA378-DD87-4FD7-BF30-59FF6DB3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0595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48EC1-7350-4911-9D30-76C637D10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04D17-74B1-45A2-830D-C1122ED12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2B636-A915-4E2F-818D-FC867802A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30312-B6FE-489C-AAF0-E2DF06128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84F07-D550-4F47-8BE6-DB48911C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A1BAE5-AF23-484E-9FC1-E1BD18484213}" type="datetime1">
              <a:rPr lang="en-US" smtClean="0"/>
              <a:t>1/15/2021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CF0DE-4DD2-43C4-A93C-B507E774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严格保密</a:t>
            </a:r>
            <a:endParaRPr 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95857-12D0-472E-A87F-44359797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985B891-23FB-46E7-8F89-E829CD7396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4">
            <a:extLst>
              <a:ext uri="{FF2B5EF4-FFF2-40B4-BE49-F238E27FC236}">
                <a16:creationId xmlns:a16="http://schemas.microsoft.com/office/drawing/2014/main" id="{7B25DCB0-5DAC-4711-A702-9CC1D7E769C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星形: 四角 9">
            <a:extLst>
              <a:ext uri="{FF2B5EF4-FFF2-40B4-BE49-F238E27FC236}">
                <a16:creationId xmlns:a16="http://schemas.microsoft.com/office/drawing/2014/main" id="{426D74F1-D00C-4D08-9571-C25F27423850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5">
            <a:extLst>
              <a:ext uri="{FF2B5EF4-FFF2-40B4-BE49-F238E27FC236}">
                <a16:creationId xmlns:a16="http://schemas.microsoft.com/office/drawing/2014/main" id="{DAFBB42B-27E2-498C-9162-865C419B0D40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星形: 四角 16">
            <a:extLst>
              <a:ext uri="{FF2B5EF4-FFF2-40B4-BE49-F238E27FC236}">
                <a16:creationId xmlns:a16="http://schemas.microsoft.com/office/drawing/2014/main" id="{8027CEA7-9C20-4252-9170-6B21102A9124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1">
            <a:extLst>
              <a:ext uri="{FF2B5EF4-FFF2-40B4-BE49-F238E27FC236}">
                <a16:creationId xmlns:a16="http://schemas.microsoft.com/office/drawing/2014/main" id="{3FD3B042-EC57-4B8D-BC14-B01B8423CE62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126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19CDE8-8889-42BA-8AEF-4E6B4F0551AE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55BD9-33C1-4E22-88DF-3E3EE327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05C18-8A91-4A4C-AE70-F66EEAFA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215DB0-B88A-4F82-BF81-8F3C0368A6D6}" type="datetime1">
              <a:rPr lang="en-US" smtClean="0"/>
              <a:t>1/15/2021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CC23F-2BA9-4852-9A43-884A908B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严格保密</a:t>
            </a:r>
            <a:endParaRPr 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E40C0-4C09-41BA-A707-7A22E958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接连接符 4">
            <a:extLst>
              <a:ext uri="{FF2B5EF4-FFF2-40B4-BE49-F238E27FC236}">
                <a16:creationId xmlns:a16="http://schemas.microsoft.com/office/drawing/2014/main" id="{FED680DB-B3A8-41AE-BDE0-EBE52CD319A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DA43A-18A8-41CB-BF18-A0FA22FC0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C32E8-08A8-4B28-8494-CC690BCEE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5635C-0059-4C46-97F0-8FC3A84C9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8BB08-1DC6-45B9-BBED-5F3AA86DCE22}" type="datetime1">
              <a:rPr lang="en-US" smtClean="0"/>
              <a:t>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35A49-2A54-406A-B205-33A910522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严格保密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88B3-99E2-44F9-98BB-6B93AF10E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3FECB-28F3-472F-A191-1EA54BC26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1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A2C7983-B23C-44AB-9CF2-2B5A2F5C9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64" y="3854864"/>
            <a:ext cx="2826027" cy="697706"/>
          </a:xfrm>
        </p:spPr>
        <p:txBody>
          <a:bodyPr/>
          <a:lstStyle/>
          <a:p>
            <a:pPr algn="l"/>
            <a:r>
              <a:rPr lang="zh-CN" altLang="en-US" dirty="0" smtClean="0"/>
              <a:t>马铁宁 </a:t>
            </a:r>
            <a:r>
              <a:rPr lang="en-US" altLang="zh-CN" dirty="0" smtClean="0"/>
              <a:t>2021.1.15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0" y="1222513"/>
            <a:ext cx="6858000" cy="2037522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solidFill>
                  <a:schemeClr val="bg1"/>
                </a:solidFill>
              </a:rPr>
              <a:t>Convolution Summary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5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Deconvolution | Transpose Convolution 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107" y="3878995"/>
            <a:ext cx="5468586" cy="1828959"/>
          </a:xfrm>
          <a:prstGeom prst="rect">
            <a:avLst/>
          </a:prstGeom>
        </p:spPr>
      </p:pic>
      <p:pic>
        <p:nvPicPr>
          <p:cNvPr id="10" name="内容占位符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8" y="1908248"/>
            <a:ext cx="3368123" cy="3828575"/>
          </a:xfrm>
          <a:ln w="19050">
            <a:solidFill>
              <a:schemeClr val="tx1"/>
            </a:solidFill>
          </a:ln>
        </p:spPr>
      </p:pic>
      <p:sp>
        <p:nvSpPr>
          <p:cNvPr id="11" name="矩形 10"/>
          <p:cNvSpPr/>
          <p:nvPr/>
        </p:nvSpPr>
        <p:spPr>
          <a:xfrm>
            <a:off x="5329188" y="1908248"/>
            <a:ext cx="5441482" cy="92333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反卷积是一种特殊的正向卷积，先按照一定的比例通过补 </a:t>
            </a:r>
            <a:r>
              <a:rPr lang="en-US" altLang="zh-CN" dirty="0" smtClean="0"/>
              <a:t>[</a:t>
            </a:r>
            <a:r>
              <a:rPr lang="en-US" altLang="zh-CN" dirty="0"/>
              <a:t>0</a:t>
            </a:r>
            <a:r>
              <a:rPr lang="en-US" altLang="zh-CN" dirty="0" smtClean="0"/>
              <a:t>] </a:t>
            </a:r>
            <a:r>
              <a:rPr lang="zh-CN" altLang="en-US" dirty="0"/>
              <a:t>来扩大输入图像的尺寸，接着旋转卷积核，再进行正向卷积。</a:t>
            </a:r>
          </a:p>
        </p:txBody>
      </p:sp>
    </p:spTree>
    <p:extLst>
      <p:ext uri="{BB962C8B-B14F-4D97-AF65-F5344CB8AC3E}">
        <p14:creationId xmlns:p14="http://schemas.microsoft.com/office/powerpoint/2010/main" val="145494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41" y="1771993"/>
            <a:ext cx="4138005" cy="3991342"/>
          </a:xfrm>
          <a:ln w="19050">
            <a:solidFill>
              <a:schemeClr val="tx1"/>
            </a:solidFill>
          </a:ln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Dilated/</a:t>
            </a:r>
            <a:r>
              <a:rPr lang="en-US" altLang="zh-CN" dirty="0" err="1" smtClean="0"/>
              <a:t>Atrous</a:t>
            </a:r>
            <a:r>
              <a:rPr lang="en-US" altLang="zh-CN" dirty="0" smtClean="0"/>
              <a:t> convolution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257800" y="169092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pingfang SC"/>
              </a:rPr>
              <a:t>原理：</a:t>
            </a:r>
            <a:r>
              <a:rPr lang="zh-CN" altLang="en-US" dirty="0"/>
              <a:t>空洞卷积引入了一个称为 “</a:t>
            </a:r>
            <a:r>
              <a:rPr lang="zh-CN" altLang="en-US" b="1" dirty="0"/>
              <a:t>扩张率</a:t>
            </a:r>
            <a:r>
              <a:rPr lang="en-US" altLang="zh-CN" b="1" dirty="0"/>
              <a:t>(dilation rate)</a:t>
            </a:r>
            <a:r>
              <a:rPr lang="zh-CN" altLang="en-US" dirty="0"/>
              <a:t>”的</a:t>
            </a:r>
            <a:r>
              <a:rPr lang="zh-CN" altLang="en-US" dirty="0" smtClean="0"/>
              <a:t>超参数</a:t>
            </a:r>
            <a:r>
              <a:rPr lang="en-US" altLang="zh-CN" dirty="0"/>
              <a:t>(hyper-parameter)</a:t>
            </a:r>
            <a:r>
              <a:rPr lang="zh-CN" altLang="en-US" dirty="0"/>
              <a:t>，该参数定义了卷积核处理数据时各值的</a:t>
            </a:r>
            <a:r>
              <a:rPr lang="zh-CN" altLang="en-US" dirty="0" smtClean="0"/>
              <a:t>间距。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目的：空洞卷积可以增大感受野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但是可以不改变图像输出特征图的尺寸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056" y="3535561"/>
            <a:ext cx="5615488" cy="19161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5876925" y="5451747"/>
            <a:ext cx="10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rate=1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877375" y="5441517"/>
            <a:ext cx="10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rate=2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987989" y="5451747"/>
            <a:ext cx="10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rate=3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271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Deformable convolution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851452" y="1346845"/>
            <a:ext cx="10091532" cy="92333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普通卷积网络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kernel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大小固定，限制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了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网络几何变换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建模的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能力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;</a:t>
            </a:r>
          </a:p>
          <a:p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可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变形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卷积在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kernel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中加入偏移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量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offset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能够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减轻这种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限制，偏移通过输入特征卷积得到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;</a:t>
            </a:r>
          </a:p>
          <a:p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Eg: X.Shape </a:t>
            </a:r>
            <a:r>
              <a:rPr lang="en-US" altLang="zh-CN" dirty="0" smtClean="0">
                <a:solidFill>
                  <a:srgbClr val="4D4D4D"/>
                </a:solidFill>
                <a:latin typeface="-apple-system"/>
              </a:rPr>
              <a:t>: torch.size([32,64,28,28])   offset.shape : torch.size([32,18,28,28])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2B60FD-4886-47ED-B875-274877A5C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24" y="2618833"/>
            <a:ext cx="4270859" cy="33514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483AB35-33F0-4BD6-AEF3-028502475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37" y="2628772"/>
            <a:ext cx="5240947" cy="33655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362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Sub-pixel convolution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049" y="1291677"/>
            <a:ext cx="5812542" cy="17576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r="3787"/>
          <a:stretch/>
        </p:blipFill>
        <p:spPr>
          <a:xfrm>
            <a:off x="709509" y="3433005"/>
            <a:ext cx="10260082" cy="264966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矩形 9"/>
          <p:cNvSpPr/>
          <p:nvPr/>
        </p:nvSpPr>
        <p:spPr>
          <a:xfrm>
            <a:off x="709509" y="1291677"/>
            <a:ext cx="4300849" cy="175432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原理与目的</a:t>
            </a:r>
            <a:r>
              <a:rPr lang="en-US" altLang="zh-CN" dirty="0" smtClean="0"/>
              <a:t>:</a:t>
            </a:r>
            <a:r>
              <a:rPr lang="zh-CN" altLang="en-US" dirty="0" smtClean="0"/>
              <a:t>将</a:t>
            </a:r>
            <a:r>
              <a:rPr lang="zh-CN" altLang="en-US" dirty="0"/>
              <a:t> </a:t>
            </a:r>
            <a:r>
              <a:rPr lang="en-US" altLang="zh-CN" b="1" dirty="0"/>
              <a:t>r*r</a:t>
            </a:r>
            <a:r>
              <a:rPr lang="zh-CN" altLang="en-US" dirty="0"/>
              <a:t> 个通道的特征图</a:t>
            </a:r>
            <a:r>
              <a:rPr lang="zh-CN" altLang="en-US" dirty="0" smtClean="0"/>
              <a:t>组合</a:t>
            </a:r>
            <a:r>
              <a:rPr lang="zh-CN" altLang="en-US" dirty="0"/>
              <a:t>为新的 </a:t>
            </a:r>
            <a:r>
              <a:rPr lang="en-US" altLang="zh-CN" b="1" dirty="0" smtClean="0"/>
              <a:t>w ∗ r, h ∗ r</a:t>
            </a:r>
            <a:r>
              <a:rPr lang="zh-CN" altLang="en-US" dirty="0"/>
              <a:t> </a:t>
            </a:r>
            <a:r>
              <a:rPr lang="zh-CN" altLang="en-US" dirty="0" smtClean="0"/>
              <a:t>大小的</a:t>
            </a:r>
            <a:r>
              <a:rPr lang="zh-CN" altLang="en-US" dirty="0"/>
              <a:t>上采样</a:t>
            </a:r>
            <a:r>
              <a:rPr lang="zh-CN" altLang="en-US" dirty="0" smtClean="0"/>
              <a:t>结果</a:t>
            </a:r>
            <a:r>
              <a:rPr lang="en-US" altLang="zh-CN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/>
              <a:t>Feature map size change</a:t>
            </a:r>
            <a:r>
              <a:rPr lang="en-US" altLang="zh-CN" dirty="0"/>
              <a:t>: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N*(C*r*r)*W*H 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 N*C*(H*r)*(W*r).</a:t>
            </a:r>
            <a:endParaRPr lang="zh-CN" altLang="en-US" dirty="0"/>
          </a:p>
        </p:txBody>
      </p:sp>
      <p:sp>
        <p:nvSpPr>
          <p:cNvPr id="11" name="右弧形箭头 10"/>
          <p:cNvSpPr/>
          <p:nvPr/>
        </p:nvSpPr>
        <p:spPr>
          <a:xfrm>
            <a:off x="10969591" y="2014636"/>
            <a:ext cx="802171" cy="2743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8123" y="3469640"/>
            <a:ext cx="4088958" cy="2533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08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3D Convolution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70" y="1961266"/>
            <a:ext cx="4144618" cy="412067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737937" y="1233507"/>
            <a:ext cx="9705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输入</a:t>
            </a:r>
            <a:r>
              <a:rPr lang="en-US" altLang="zh-CN" dirty="0" smtClean="0"/>
              <a:t>: a1×a2×a3xc</a:t>
            </a:r>
            <a:r>
              <a:rPr lang="zh-CN" altLang="en-US" dirty="0" smtClean="0"/>
              <a:t>，过滤器 </a:t>
            </a:r>
            <a:r>
              <a:rPr lang="en-US" altLang="zh-CN" dirty="0" smtClean="0"/>
              <a:t>: f×f×f×c</a:t>
            </a:r>
            <a:r>
              <a:rPr lang="zh-CN" altLang="en-US" dirty="0" smtClean="0"/>
              <a:t> </a:t>
            </a:r>
            <a:r>
              <a:rPr lang="zh-CN" altLang="en-US" dirty="0"/>
              <a:t>数量</a:t>
            </a:r>
            <a:r>
              <a:rPr lang="en-US" altLang="zh-CN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zh-CN" altLang="en-US" dirty="0" smtClean="0">
                <a:sym typeface="Wingdings" panose="05000000000000000000" pitchFamily="2" charset="2"/>
              </a:rPr>
              <a:t>输出</a:t>
            </a:r>
            <a:r>
              <a:rPr lang="en-US" altLang="zh-CN" dirty="0" smtClean="0">
                <a:sym typeface="Wingdings" panose="05000000000000000000" pitchFamily="2" charset="2"/>
              </a:rPr>
              <a:t>(a1-f+1)x(a2-f+1)x(a3-f+1)</a:t>
            </a:r>
            <a:r>
              <a:rPr lang="en-US" altLang="zh-CN" dirty="0" err="1" smtClean="0">
                <a:sym typeface="Wingdings" panose="05000000000000000000" pitchFamily="2" charset="2"/>
              </a:rPr>
              <a:t>xn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665173" y="632738"/>
            <a:ext cx="3640595" cy="62976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矩形 9"/>
          <p:cNvSpPr/>
          <p:nvPr/>
        </p:nvSpPr>
        <p:spPr>
          <a:xfrm>
            <a:off x="5876925" y="5683288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对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图像序列（视频）采用</a:t>
            </a:r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3D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卷积核进行卷积</a:t>
            </a:r>
            <a:r>
              <a:rPr lang="zh-CN" altLang="en-US" dirty="0" smtClean="0">
                <a:solidFill>
                  <a:srgbClr val="4D4D4D"/>
                </a:solidFill>
                <a:latin typeface="-apple-system"/>
              </a:rPr>
              <a:t>操作的流程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35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740" y="2998441"/>
            <a:ext cx="2918791" cy="113623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zh-CN" sz="9600" dirty="0" smtClean="0"/>
              <a:t>End</a:t>
            </a:r>
            <a:endParaRPr lang="zh-CN" altLang="en-US" sz="9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3FECB-28F3-472F-A191-1EA54BC2664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4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A6335D82F4D54CB947930AE8E8B8E5" ma:contentTypeVersion="8" ma:contentTypeDescription="Create a new document." ma:contentTypeScope="" ma:versionID="3c32e38bc929394fd21e1fa57e62b5ee">
  <xsd:schema xmlns:xsd="http://www.w3.org/2001/XMLSchema" xmlns:xs="http://www.w3.org/2001/XMLSchema" xmlns:p="http://schemas.microsoft.com/office/2006/metadata/properties" xmlns:ns2="17ee9bfc-2194-47c3-8e31-ce3d79cf7fe7" targetNamespace="http://schemas.microsoft.com/office/2006/metadata/properties" ma:root="true" ma:fieldsID="24e8b667c6389da62c73b107d91bf2bb" ns2:_="">
    <xsd:import namespace="17ee9bfc-2194-47c3-8e31-ce3d79cf7f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e9bfc-2194-47c3-8e31-ce3d79cf7f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BE1E03-4031-4F1A-BB31-5A19CFF37BA6}">
  <ds:schemaRefs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17ee9bfc-2194-47c3-8e31-ce3d79cf7fe7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954C057-F1D2-4CF5-88CD-B1C088D89E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CA8C3B-F5D2-40DB-82DF-CBA6BA23BB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ee9bfc-2194-47c3-8e31-ce3d79cf7f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14629</TotalTime>
  <Words>262</Words>
  <Application>Microsoft Office PowerPoint</Application>
  <PresentationFormat>宽屏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-apple-system</vt:lpstr>
      <vt:lpstr>pingfang SC</vt:lpstr>
      <vt:lpstr>Rockwell Nova Extra Bold</vt:lpstr>
      <vt:lpstr>等线</vt:lpstr>
      <vt:lpstr>等线 Light</vt:lpstr>
      <vt:lpstr>微软雅黑</vt:lpstr>
      <vt:lpstr>Arial</vt:lpstr>
      <vt:lpstr>Calibri</vt:lpstr>
      <vt:lpstr>Calibri Light</vt:lpstr>
      <vt:lpstr>Wingdings</vt:lpstr>
      <vt:lpstr>Office Theme</vt:lpstr>
      <vt:lpstr>PowerPoint 演示文稿</vt:lpstr>
      <vt:lpstr>Deconvolution | Transpose Convolution </vt:lpstr>
      <vt:lpstr>Dilated/Atrous convolution</vt:lpstr>
      <vt:lpstr>Deformable convolution</vt:lpstr>
      <vt:lpstr>Sub-pixel convolution</vt:lpstr>
      <vt:lpstr>3D Convolution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Model, Language and Beyond</dc:title>
  <dc:creator>hbyin@birentech.com</dc:creator>
  <cp:lastModifiedBy>Tiening Ma(马铁宁)</cp:lastModifiedBy>
  <cp:revision>755</cp:revision>
  <dcterms:created xsi:type="dcterms:W3CDTF">2020-01-22T22:11:23Z</dcterms:created>
  <dcterms:modified xsi:type="dcterms:W3CDTF">2021-01-15T09:28:12Z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0x01010082A6335D82F4D54CB947930AE8E8B8E5</vt:lpwstr>
  </property>
</Properties>
</file>