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7"/>
  </p:notesMasterIdLst>
  <p:sldIdLst>
    <p:sldId id="256" r:id="rId3"/>
    <p:sldId id="258" r:id="rId4"/>
    <p:sldId id="275" r:id="rId5"/>
    <p:sldId id="276" r:id="rId6"/>
    <p:sldId id="277" r:id="rId7"/>
    <p:sldId id="278" r:id="rId8"/>
    <p:sldId id="279" r:id="rId9"/>
    <p:sldId id="281" r:id="rId10"/>
    <p:sldId id="280" r:id="rId11"/>
    <p:sldId id="282" r:id="rId12"/>
    <p:sldId id="283" r:id="rId13"/>
    <p:sldId id="284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85" r:id="rId22"/>
    <p:sldId id="286" r:id="rId23"/>
    <p:sldId id="287" r:id="rId24"/>
    <p:sldId id="288" r:id="rId25"/>
    <p:sldId id="289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3628D3-1FF9-49B5-888E-DEE94CF1FB3B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65D42-9E6F-4BED-A128-2B6A6861F4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424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665D42-9E6F-4BED-A128-2B6A6861F4D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479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665D42-9E6F-4BED-A128-2B6A6861F4D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764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665D42-9E6F-4BED-A128-2B6A6861F4D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860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665D42-9E6F-4BED-A128-2B6A6861F4D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062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665D42-9E6F-4BED-A128-2B6A6861F4D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273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DCC650-CECA-4B1D-9658-1759AEAD6A54}"/>
              </a:ext>
            </a:extLst>
          </p:cNvPr>
          <p:cNvSpPr/>
          <p:nvPr userDrawn="1"/>
        </p:nvSpPr>
        <p:spPr>
          <a:xfrm>
            <a:off x="1" y="6222075"/>
            <a:ext cx="12192000" cy="673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  <a:alpha val="9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941AA-249B-42C4-89A9-F5825472B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556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Microsoft YaHei Light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C0EEF-F7E2-40DC-9E08-4AA20BD2B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52393-087C-4726-B73B-679FAA1B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3972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68C335-0ADD-4413-B1A5-D2A2F33C5764}" type="datetime1">
              <a:rPr lang="en-US" smtClean="0"/>
              <a:pPr/>
              <a:t>12/12/2020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A2232-4DE1-49DD-B9F3-A8AA37D1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8037"/>
            <a:ext cx="4114800" cy="365125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BF627-59E4-483F-93CC-10B865D3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803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13FECB-28F3-472F-A191-1EA54BC2664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F5E18CA-1183-4BE8-A087-E96C0AB50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连接符 4">
            <a:extLst>
              <a:ext uri="{FF2B5EF4-FFF2-40B4-BE49-F238E27FC236}">
                <a16:creationId xmlns:a16="http://schemas.microsoft.com/office/drawing/2014/main" id="{9EAF237E-D5DE-4673-A5E6-7A5FFB05DDA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424681"/>
            <a:ext cx="10515600" cy="0"/>
          </a:xfrm>
          <a:prstGeom prst="line">
            <a:avLst/>
          </a:prstGeom>
          <a:ln w="28575">
            <a:solidFill>
              <a:srgbClr val="1F2B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星形: 四角 9">
            <a:extLst>
              <a:ext uri="{FF2B5EF4-FFF2-40B4-BE49-F238E27FC236}">
                <a16:creationId xmlns:a16="http://schemas.microsoft.com/office/drawing/2014/main" id="{C0316A6C-F286-4B47-87F7-D8CC0C5E84EB}"/>
              </a:ext>
            </a:extLst>
          </p:cNvPr>
          <p:cNvSpPr/>
          <p:nvPr userDrawn="1"/>
        </p:nvSpPr>
        <p:spPr>
          <a:xfrm rot="19324619">
            <a:off x="10278879" y="505680"/>
            <a:ext cx="313240" cy="213947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星形: 四角 15">
            <a:extLst>
              <a:ext uri="{FF2B5EF4-FFF2-40B4-BE49-F238E27FC236}">
                <a16:creationId xmlns:a16="http://schemas.microsoft.com/office/drawing/2014/main" id="{D6DC9487-8F27-40C6-B6E6-7B92F7F956AA}"/>
              </a:ext>
            </a:extLst>
          </p:cNvPr>
          <p:cNvSpPr/>
          <p:nvPr userDrawn="1"/>
        </p:nvSpPr>
        <p:spPr>
          <a:xfrm rot="20930287">
            <a:off x="10126199" y="573919"/>
            <a:ext cx="215017" cy="161545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星形: 四角 16">
            <a:extLst>
              <a:ext uri="{FF2B5EF4-FFF2-40B4-BE49-F238E27FC236}">
                <a16:creationId xmlns:a16="http://schemas.microsoft.com/office/drawing/2014/main" id="{B3876917-0D97-4CFF-8EE2-AF5C9549276F}"/>
              </a:ext>
            </a:extLst>
          </p:cNvPr>
          <p:cNvSpPr/>
          <p:nvPr userDrawn="1"/>
        </p:nvSpPr>
        <p:spPr>
          <a:xfrm rot="12567964">
            <a:off x="10168308" y="376333"/>
            <a:ext cx="226599" cy="154770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1">
            <a:extLst>
              <a:ext uri="{FF2B5EF4-FFF2-40B4-BE49-F238E27FC236}">
                <a16:creationId xmlns:a16="http://schemas.microsoft.com/office/drawing/2014/main" id="{84736B5E-79BD-4BE4-875D-E3311D22A1F3}"/>
              </a:ext>
            </a:extLst>
          </p:cNvPr>
          <p:cNvSpPr/>
          <p:nvPr userDrawn="1"/>
        </p:nvSpPr>
        <p:spPr>
          <a:xfrm>
            <a:off x="10055918" y="591092"/>
            <a:ext cx="72057" cy="54137"/>
          </a:xfrm>
          <a:prstGeom prst="ellipse">
            <a:avLst/>
          </a:prstGeom>
          <a:solidFill>
            <a:srgbClr val="1E2CB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40297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99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DFC5D7D1-8984-4689-8EAC-485FB12515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46944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179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557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602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92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302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972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906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5632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79B8-AE8A-4BFF-AFEA-84EF1BB3B2FA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82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DCC650-CECA-4B1D-9658-1759AEAD6A54}"/>
              </a:ext>
            </a:extLst>
          </p:cNvPr>
          <p:cNvSpPr/>
          <p:nvPr userDrawn="1"/>
        </p:nvSpPr>
        <p:spPr>
          <a:xfrm>
            <a:off x="1" y="6222075"/>
            <a:ext cx="12192000" cy="673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  <a:alpha val="9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941AA-249B-42C4-89A9-F5825472B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556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Microsoft YaHei Light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C0EEF-F7E2-40DC-9E08-4AA20BD2B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52393-087C-4726-B73B-679FAA1B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3972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68C335-0ADD-4413-B1A5-D2A2F33C5764}" type="datetime1">
              <a:rPr lang="en-US" smtClean="0"/>
              <a:pPr/>
              <a:t>12/12/2020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A2232-4DE1-49DD-B9F3-A8AA37D1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8037"/>
            <a:ext cx="4114800" cy="365125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BF627-59E4-483F-93CC-10B865D3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803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13FECB-28F3-472F-A191-1EA54BC2664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F5E18CA-1183-4BE8-A087-E96C0AB50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连接符 4">
            <a:extLst>
              <a:ext uri="{FF2B5EF4-FFF2-40B4-BE49-F238E27FC236}">
                <a16:creationId xmlns:a16="http://schemas.microsoft.com/office/drawing/2014/main" id="{9EAF237E-D5DE-4673-A5E6-7A5FFB05DDA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424681"/>
            <a:ext cx="10515600" cy="0"/>
          </a:xfrm>
          <a:prstGeom prst="line">
            <a:avLst/>
          </a:prstGeom>
          <a:ln w="28575">
            <a:solidFill>
              <a:srgbClr val="1F2B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星形: 四角 9">
            <a:extLst>
              <a:ext uri="{FF2B5EF4-FFF2-40B4-BE49-F238E27FC236}">
                <a16:creationId xmlns:a16="http://schemas.microsoft.com/office/drawing/2014/main" id="{C0316A6C-F286-4B47-87F7-D8CC0C5E84EB}"/>
              </a:ext>
            </a:extLst>
          </p:cNvPr>
          <p:cNvSpPr/>
          <p:nvPr userDrawn="1"/>
        </p:nvSpPr>
        <p:spPr>
          <a:xfrm rot="19324619">
            <a:off x="10278879" y="505680"/>
            <a:ext cx="313240" cy="213947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星形: 四角 15">
            <a:extLst>
              <a:ext uri="{FF2B5EF4-FFF2-40B4-BE49-F238E27FC236}">
                <a16:creationId xmlns:a16="http://schemas.microsoft.com/office/drawing/2014/main" id="{D6DC9487-8F27-40C6-B6E6-7B92F7F956AA}"/>
              </a:ext>
            </a:extLst>
          </p:cNvPr>
          <p:cNvSpPr/>
          <p:nvPr userDrawn="1"/>
        </p:nvSpPr>
        <p:spPr>
          <a:xfrm rot="20930287">
            <a:off x="10126199" y="573919"/>
            <a:ext cx="215017" cy="161545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星形: 四角 16">
            <a:extLst>
              <a:ext uri="{FF2B5EF4-FFF2-40B4-BE49-F238E27FC236}">
                <a16:creationId xmlns:a16="http://schemas.microsoft.com/office/drawing/2014/main" id="{B3876917-0D97-4CFF-8EE2-AF5C9549276F}"/>
              </a:ext>
            </a:extLst>
          </p:cNvPr>
          <p:cNvSpPr/>
          <p:nvPr userDrawn="1"/>
        </p:nvSpPr>
        <p:spPr>
          <a:xfrm rot="12567964">
            <a:off x="10168308" y="376333"/>
            <a:ext cx="226599" cy="154770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1">
            <a:extLst>
              <a:ext uri="{FF2B5EF4-FFF2-40B4-BE49-F238E27FC236}">
                <a16:creationId xmlns:a16="http://schemas.microsoft.com/office/drawing/2014/main" id="{84736B5E-79BD-4BE4-875D-E3311D22A1F3}"/>
              </a:ext>
            </a:extLst>
          </p:cNvPr>
          <p:cNvSpPr/>
          <p:nvPr userDrawn="1"/>
        </p:nvSpPr>
        <p:spPr>
          <a:xfrm>
            <a:off x="10055918" y="591092"/>
            <a:ext cx="72057" cy="54137"/>
          </a:xfrm>
          <a:prstGeom prst="ellipse">
            <a:avLst/>
          </a:prstGeom>
          <a:solidFill>
            <a:srgbClr val="1E2CB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23727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DCC650-CECA-4B1D-9658-1759AEAD6A54}"/>
              </a:ext>
            </a:extLst>
          </p:cNvPr>
          <p:cNvSpPr/>
          <p:nvPr userDrawn="1"/>
        </p:nvSpPr>
        <p:spPr>
          <a:xfrm>
            <a:off x="1" y="6222075"/>
            <a:ext cx="12192000" cy="6731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  <a:alpha val="9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941AA-249B-42C4-89A9-F5825472B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556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Microsoft YaHei Light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C0EEF-F7E2-40DC-9E08-4AA20BD2B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52393-087C-4726-B73B-679FAA1B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3972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68C335-0ADD-4413-B1A5-D2A2F33C5764}" type="datetime1">
              <a:rPr lang="en-US" smtClean="0"/>
              <a:pPr/>
              <a:t>12/12/2020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A2232-4DE1-49DD-B9F3-A8AA37D1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8037"/>
            <a:ext cx="4114800" cy="365125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n-ea"/>
              </a:rPr>
              <a:t>严格保密</a:t>
            </a:r>
            <a:endParaRPr lang="en-US" dirty="0">
              <a:latin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BF627-59E4-483F-93CC-10B865D3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803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13FECB-28F3-472F-A191-1EA54BC2664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F5E18CA-1183-4BE8-A087-E96C0AB50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100" y="342265"/>
            <a:ext cx="161925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连接符 4">
            <a:extLst>
              <a:ext uri="{FF2B5EF4-FFF2-40B4-BE49-F238E27FC236}">
                <a16:creationId xmlns:a16="http://schemas.microsoft.com/office/drawing/2014/main" id="{9EAF237E-D5DE-4673-A5E6-7A5FFB05DDA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424681"/>
            <a:ext cx="10515600" cy="0"/>
          </a:xfrm>
          <a:prstGeom prst="line">
            <a:avLst/>
          </a:prstGeom>
          <a:ln w="28575">
            <a:solidFill>
              <a:srgbClr val="1F2B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星形: 四角 9">
            <a:extLst>
              <a:ext uri="{FF2B5EF4-FFF2-40B4-BE49-F238E27FC236}">
                <a16:creationId xmlns:a16="http://schemas.microsoft.com/office/drawing/2014/main" id="{C0316A6C-F286-4B47-87F7-D8CC0C5E84EB}"/>
              </a:ext>
            </a:extLst>
          </p:cNvPr>
          <p:cNvSpPr/>
          <p:nvPr userDrawn="1"/>
        </p:nvSpPr>
        <p:spPr>
          <a:xfrm rot="19324619">
            <a:off x="10278879" y="505680"/>
            <a:ext cx="313240" cy="213947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星形: 四角 15">
            <a:extLst>
              <a:ext uri="{FF2B5EF4-FFF2-40B4-BE49-F238E27FC236}">
                <a16:creationId xmlns:a16="http://schemas.microsoft.com/office/drawing/2014/main" id="{D6DC9487-8F27-40C6-B6E6-7B92F7F956AA}"/>
              </a:ext>
            </a:extLst>
          </p:cNvPr>
          <p:cNvSpPr/>
          <p:nvPr userDrawn="1"/>
        </p:nvSpPr>
        <p:spPr>
          <a:xfrm rot="20930287">
            <a:off x="10126199" y="573919"/>
            <a:ext cx="215017" cy="161545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星形: 四角 16">
            <a:extLst>
              <a:ext uri="{FF2B5EF4-FFF2-40B4-BE49-F238E27FC236}">
                <a16:creationId xmlns:a16="http://schemas.microsoft.com/office/drawing/2014/main" id="{B3876917-0D97-4CFF-8EE2-AF5C9549276F}"/>
              </a:ext>
            </a:extLst>
          </p:cNvPr>
          <p:cNvSpPr/>
          <p:nvPr userDrawn="1"/>
        </p:nvSpPr>
        <p:spPr>
          <a:xfrm rot="12567964">
            <a:off x="10168308" y="376333"/>
            <a:ext cx="226599" cy="154770"/>
          </a:xfrm>
          <a:prstGeom prst="star4">
            <a:avLst/>
          </a:prstGeom>
          <a:solidFill>
            <a:schemeClr val="bg1"/>
          </a:solidFill>
          <a:ln>
            <a:solidFill>
              <a:srgbClr val="1F2B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1">
            <a:extLst>
              <a:ext uri="{FF2B5EF4-FFF2-40B4-BE49-F238E27FC236}">
                <a16:creationId xmlns:a16="http://schemas.microsoft.com/office/drawing/2014/main" id="{84736B5E-79BD-4BE4-875D-E3311D22A1F3}"/>
              </a:ext>
            </a:extLst>
          </p:cNvPr>
          <p:cNvSpPr/>
          <p:nvPr userDrawn="1"/>
        </p:nvSpPr>
        <p:spPr>
          <a:xfrm>
            <a:off x="10055918" y="591092"/>
            <a:ext cx="72057" cy="54137"/>
          </a:xfrm>
          <a:prstGeom prst="ellipse">
            <a:avLst/>
          </a:prstGeom>
          <a:solidFill>
            <a:srgbClr val="1E2CB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48812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457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869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8869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4307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3378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0669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4544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9259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2318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1628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BD37-4C08-428F-92B6-89865318F690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2289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B79B8-AE8A-4BFF-AFEA-84EF1BB3B2FA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DE0B9-6AF0-4112-A27B-EA1A374DE6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194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73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6BD37-4C08-428F-92B6-89865318F690}" type="datetimeFigureOut">
              <a:rPr lang="zh-CN" altLang="en-US" smtClean="0"/>
              <a:t>2020/12/12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68DE9-4F45-4AFD-AFC0-092CC93BA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405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DBAA-CF2F-45C9-8CB3-EE11AA78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内核基础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EB9F1-67F9-4651-9D51-A3F45E8E8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关系型数据结构</a:t>
            </a:r>
            <a:endParaRPr lang="en-US" altLang="zh-CN" b="1" dirty="0" smtClean="0"/>
          </a:p>
          <a:p>
            <a:r>
              <a:rPr lang="zh-CN" altLang="en-US" dirty="0"/>
              <a:t>常见设计模式</a:t>
            </a:r>
            <a:endParaRPr lang="en-US" altLang="zh-CN" dirty="0"/>
          </a:p>
          <a:p>
            <a:r>
              <a:rPr lang="zh-CN" altLang="en-US" dirty="0" smtClean="0"/>
              <a:t>中断处理</a:t>
            </a:r>
            <a:endParaRPr lang="en-US" altLang="zh-CN" dirty="0" smtClean="0"/>
          </a:p>
          <a:p>
            <a:r>
              <a:rPr lang="zh-CN" altLang="en-US" dirty="0"/>
              <a:t>时间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233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A4700-4BDD-4AA9-A03F-646BEA72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一对一关系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179272"/>
              </p:ext>
            </p:extLst>
          </p:nvPr>
        </p:nvGraphicFramePr>
        <p:xfrm>
          <a:off x="1841390" y="1690689"/>
          <a:ext cx="8356600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6600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1887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entity_a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entity_b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*b;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entity_b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entity_a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*a;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};//</a:t>
                      </a:r>
                      <a:r>
                        <a:rPr kumimoji="0" lang="zh-CN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指针</a:t>
                      </a:r>
                      <a:endParaRPr kumimoji="0" lang="en-US" altLang="zh-CN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2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35875"/>
              </p:ext>
            </p:extLst>
          </p:nvPr>
        </p:nvGraphicFramePr>
        <p:xfrm>
          <a:off x="1841390" y="4313584"/>
          <a:ext cx="8356600" cy="1192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6600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11926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entity_a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struct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entity_b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b;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};//</a:t>
                      </a:r>
                      <a:r>
                        <a:rPr kumimoji="0" lang="zh-CN" alt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内嵌</a:t>
                      </a:r>
                      <a:endParaRPr kumimoji="0" lang="en-US" altLang="zh-CN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265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由</a:t>
            </a:r>
            <a:r>
              <a:rPr lang="en-US" altLang="zh-CN" dirty="0" smtClean="0"/>
              <a:t>b</a:t>
            </a:r>
            <a:r>
              <a:rPr lang="zh-CN" altLang="en-US" dirty="0" smtClean="0"/>
              <a:t>得</a:t>
            </a:r>
            <a:r>
              <a:rPr lang="en-US" altLang="zh-CN" dirty="0" smtClean="0"/>
              <a:t>a</a:t>
            </a:r>
            <a:endParaRPr lang="zh-CN" alt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127382"/>
              </p:ext>
            </p:extLst>
          </p:nvPr>
        </p:nvGraphicFramePr>
        <p:xfrm>
          <a:off x="1722120" y="1928194"/>
          <a:ext cx="8654332" cy="626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4332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6261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pa = </a:t>
                      </a:r>
                      <a:r>
                        <a:rPr kumimoji="0" lang="en-US" altLang="zh-CN" sz="2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container_of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pb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struct </a:t>
                      </a:r>
                      <a:r>
                        <a:rPr kumimoji="0" lang="en-US" altLang="zh-CN" sz="2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entity_a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);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617184"/>
              </p:ext>
            </p:extLst>
          </p:nvPr>
        </p:nvGraphicFramePr>
        <p:xfrm>
          <a:off x="1722120" y="3499238"/>
          <a:ext cx="8654332" cy="1729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4332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1729407">
                <a:tc>
                  <a:txBody>
                    <a:bodyPr/>
                    <a:lstStyle/>
                    <a:p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#define </a:t>
                      </a:r>
                      <a:r>
                        <a:rPr lang="en-US" altLang="zh-CN" sz="2000" b="0" dirty="0" err="1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container_of</a:t>
                      </a:r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2000" b="0" dirty="0" err="1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ptr</a:t>
                      </a:r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, type, member) ({              \</a:t>
                      </a:r>
                    </a:p>
                    <a:p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    void *__</a:t>
                      </a:r>
                      <a:r>
                        <a:rPr lang="en-US" altLang="zh-CN" sz="2000" b="0" dirty="0" err="1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mptr</a:t>
                      </a:r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 = (void *)(</a:t>
                      </a:r>
                      <a:r>
                        <a:rPr lang="en-US" altLang="zh-CN" sz="2000" b="0" dirty="0" err="1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ptr</a:t>
                      </a:r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);                   \</a:t>
                      </a:r>
                    </a:p>
                    <a:p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    ((type *)(__</a:t>
                      </a:r>
                      <a:r>
                        <a:rPr lang="en-US" altLang="zh-CN" sz="2000" b="0" dirty="0" err="1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mptr</a:t>
                      </a:r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 - </a:t>
                      </a:r>
                      <a:r>
                        <a:rPr lang="en-US" altLang="zh-CN" sz="2000" b="0" dirty="0" err="1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offsetof</a:t>
                      </a:r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(type, member))); })</a:t>
                      </a:r>
                    </a:p>
                    <a:p>
                      <a:endParaRPr lang="en-US" altLang="zh-CN" sz="2000" b="0" dirty="0" smtClean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zh-CN" sz="2000" b="0" dirty="0" err="1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offsetof</a:t>
                      </a:r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(TYPE, MEMBER) ((</a:t>
                      </a:r>
                      <a:r>
                        <a:rPr lang="en-US" altLang="zh-CN" sz="2000" b="0" dirty="0" err="1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size_t</a:t>
                      </a:r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)&amp;((TYPE *)0)-&gt;MEMBER)</a:t>
                      </a:r>
                      <a:endParaRPr lang="en-US" altLang="zh-CN" sz="20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501227"/>
              </p:ext>
            </p:extLst>
          </p:nvPr>
        </p:nvGraphicFramePr>
        <p:xfrm>
          <a:off x="1722120" y="2554358"/>
          <a:ext cx="8654332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4332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6261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 </a:t>
                      </a:r>
                      <a:r>
                        <a:rPr kumimoji="0" lang="en-US" altLang="zh-CN" sz="2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entity_a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*</a:t>
                      </a:r>
                      <a:r>
                        <a:rPr kumimoji="0" lang="en-US" altLang="zh-CN" sz="2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tmp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= (struct </a:t>
                      </a:r>
                      <a:r>
                        <a:rPr kumimoji="0" lang="en-US" altLang="zh-CN" sz="2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entity_a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*)0;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pa = (struct </a:t>
                      </a:r>
                      <a:r>
                        <a:rPr kumimoji="0" lang="en-US" altLang="zh-CN" sz="2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entity_a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*) ((void *)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pb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en-US" altLang="zh-CN" sz="2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tmp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-&gt;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altLang="zh-CN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);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739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A4700-4BDD-4AA9-A03F-646BEA72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一对</a:t>
            </a:r>
            <a:r>
              <a:rPr lang="zh-CN" altLang="en-US" dirty="0"/>
              <a:t>多</a:t>
            </a:r>
            <a:r>
              <a:rPr lang="zh-CN" altLang="en-US" dirty="0" smtClean="0"/>
              <a:t>关系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907494"/>
              </p:ext>
            </p:extLst>
          </p:nvPr>
        </p:nvGraphicFramePr>
        <p:xfrm>
          <a:off x="1841390" y="1690688"/>
          <a:ext cx="4678680" cy="2028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680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20285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 branch{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	struct leaf *head;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 leaf{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	struct leaf *next;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};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841389" y="4621695"/>
            <a:ext cx="152122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75187"/>
              </p:ext>
            </p:extLst>
          </p:nvPr>
        </p:nvGraphicFramePr>
        <p:xfrm>
          <a:off x="1841389" y="3719245"/>
          <a:ext cx="8012101" cy="2804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" name="Visio" r:id="rId4" imgW="3116615" imgH="1089786" progId="Visio.Drawing.15">
                  <p:embed/>
                </p:oleObj>
              </mc:Choice>
              <mc:Fallback>
                <p:oleObj name="Visio" r:id="rId4" imgW="3116615" imgH="1089786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389" y="3719245"/>
                        <a:ext cx="8012101" cy="28048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2912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A4700-4BDD-4AA9-A03F-646BEA72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一对</a:t>
            </a:r>
            <a:r>
              <a:rPr lang="zh-CN" altLang="en-US" dirty="0"/>
              <a:t>多</a:t>
            </a:r>
            <a:r>
              <a:rPr lang="zh-CN" altLang="en-US" dirty="0" smtClean="0"/>
              <a:t>关系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017644"/>
              </p:ext>
            </p:extLst>
          </p:nvPr>
        </p:nvGraphicFramePr>
        <p:xfrm>
          <a:off x="998909" y="1624495"/>
          <a:ext cx="4678680" cy="2028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680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20285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 branch{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	struct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list_head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head;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 leaf{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	struct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list_head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node;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};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841389" y="4621695"/>
            <a:ext cx="152122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523758"/>
              </p:ext>
            </p:extLst>
          </p:nvPr>
        </p:nvGraphicFramePr>
        <p:xfrm>
          <a:off x="998909" y="3630275"/>
          <a:ext cx="4678680" cy="1037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680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10371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list_head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	struct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list_head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*next, *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prev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};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838298" y="177742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9313828"/>
              </p:ext>
            </p:extLst>
          </p:nvPr>
        </p:nvGraphicFramePr>
        <p:xfrm>
          <a:off x="5667315" y="1624495"/>
          <a:ext cx="6514411" cy="3518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8" name="Visio" r:id="rId4" imgW="2857606" imgH="1539444" progId="Visio.Drawing.15">
                  <p:embed/>
                </p:oleObj>
              </mc:Choice>
              <mc:Fallback>
                <p:oleObj name="Visio" r:id="rId4" imgW="2857606" imgH="1539444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15" y="1624495"/>
                        <a:ext cx="6514411" cy="35186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1502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A4700-4BDD-4AA9-A03F-646BEA72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</a:t>
            </a:r>
            <a:r>
              <a:rPr lang="zh-CN" altLang="en-US" dirty="0" smtClean="0"/>
              <a:t>对</a:t>
            </a:r>
            <a:r>
              <a:rPr lang="zh-CN" altLang="en-US" dirty="0"/>
              <a:t>多</a:t>
            </a:r>
            <a:r>
              <a:rPr lang="zh-CN" altLang="en-US" dirty="0" smtClean="0"/>
              <a:t>关系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872966"/>
              </p:ext>
            </p:extLst>
          </p:nvPr>
        </p:nvGraphicFramePr>
        <p:xfrm>
          <a:off x="998909" y="1963543"/>
          <a:ext cx="4097073" cy="1325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7073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13255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s_connection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	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list_head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node;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	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student *student;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};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841389" y="4621695"/>
            <a:ext cx="152122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838298" y="177742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095982" y="2018461"/>
            <a:ext cx="2027338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94898"/>
              </p:ext>
            </p:extLst>
          </p:nvPr>
        </p:nvGraphicFramePr>
        <p:xfrm>
          <a:off x="5095982" y="2018462"/>
          <a:ext cx="6590168" cy="4248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Visio" r:id="rId4" imgW="2826985" imgH="1821117" progId="Visio.Drawing.15">
                  <p:embed/>
                </p:oleObj>
              </mc:Choice>
              <mc:Fallback>
                <p:oleObj name="Visio" r:id="rId4" imgW="2826985" imgH="1821117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982" y="2018462"/>
                        <a:ext cx="6590168" cy="42487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671485"/>
              </p:ext>
            </p:extLst>
          </p:nvPr>
        </p:nvGraphicFramePr>
        <p:xfrm>
          <a:off x="998908" y="3278831"/>
          <a:ext cx="4097073" cy="1325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7073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13255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t_connection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	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list_head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node;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	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teacher *teacher;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};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17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A4700-4BDD-4AA9-A03F-646BEA72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</a:t>
            </a:r>
            <a:r>
              <a:rPr lang="zh-CN" altLang="en-US" dirty="0" smtClean="0"/>
              <a:t>对</a:t>
            </a:r>
            <a:r>
              <a:rPr lang="zh-CN" altLang="en-US" dirty="0"/>
              <a:t>多</a:t>
            </a:r>
            <a:r>
              <a:rPr lang="zh-CN" altLang="en-US" dirty="0" smtClean="0"/>
              <a:t>关系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96492"/>
              </p:ext>
            </p:extLst>
          </p:nvPr>
        </p:nvGraphicFramePr>
        <p:xfrm>
          <a:off x="998909" y="1850529"/>
          <a:ext cx="4097073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7073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13255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connection 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	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list_head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s_node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	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list_head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t_node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	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teacher *teacher;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	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student *student;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};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841389" y="4621695"/>
            <a:ext cx="152122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838298" y="177742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095982" y="2018461"/>
            <a:ext cx="2027338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417007"/>
              </p:ext>
            </p:extLst>
          </p:nvPr>
        </p:nvGraphicFramePr>
        <p:xfrm>
          <a:off x="998909" y="3720451"/>
          <a:ext cx="409707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7073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16632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teacher 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list_head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head_of_students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student 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list_head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head_of_teachers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};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5095982" y="196866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42303"/>
              </p:ext>
            </p:extLst>
          </p:nvPr>
        </p:nvGraphicFramePr>
        <p:xfrm>
          <a:off x="5095981" y="1855649"/>
          <a:ext cx="6593393" cy="4483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name="Visio" r:id="rId4" imgW="3070683" imgH="2087943" progId="Visio.Drawing.15">
                  <p:embed/>
                </p:oleObj>
              </mc:Choice>
              <mc:Fallback>
                <p:oleObj name="Visio" r:id="rId4" imgW="3070683" imgH="2087943" progId="Visio.Drawing.15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981" y="1855649"/>
                        <a:ext cx="6593393" cy="44835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1345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DBAA-CF2F-45C9-8CB3-EE11AA78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内核基础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EB9F1-67F9-4651-9D51-A3F45E8E8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关系型数据结构</a:t>
            </a:r>
            <a:endParaRPr lang="en-US" altLang="zh-CN" dirty="0" smtClean="0"/>
          </a:p>
          <a:p>
            <a:r>
              <a:rPr lang="zh-CN" altLang="en-US" b="1" dirty="0"/>
              <a:t>常见设计模式</a:t>
            </a:r>
            <a:endParaRPr lang="en-US" altLang="zh-CN" b="1" dirty="0"/>
          </a:p>
          <a:p>
            <a:r>
              <a:rPr lang="zh-CN" altLang="en-US" dirty="0" smtClean="0"/>
              <a:t>中断处理</a:t>
            </a:r>
            <a:endParaRPr lang="en-US" altLang="zh-CN" dirty="0" smtClean="0"/>
          </a:p>
          <a:p>
            <a:r>
              <a:rPr lang="zh-CN" altLang="en-US" dirty="0"/>
              <a:t>时间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13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观察者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3373"/>
            <a:ext cx="11062385" cy="422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564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观察者实例</a:t>
            </a:r>
            <a:endParaRPr lang="zh-CN" alt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666283"/>
              </p:ext>
            </p:extLst>
          </p:nvPr>
        </p:nvGraphicFramePr>
        <p:xfrm>
          <a:off x="998909" y="1963543"/>
          <a:ext cx="6187082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7082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829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input_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register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_handler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(){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list_add_tail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(&amp;handler-&gt;node, &amp;</a:t>
                      </a:r>
                      <a:r>
                        <a:rPr kumimoji="0" lang="en-US" altLang="zh-CN" sz="20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input_handler_list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input_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unregister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_handler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615017"/>
              </p:ext>
            </p:extLst>
          </p:nvPr>
        </p:nvGraphicFramePr>
        <p:xfrm>
          <a:off x="998909" y="3264244"/>
          <a:ext cx="6187082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7082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829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input_register_device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input_dev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*dev){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list_for_each_entry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(handler, &amp;</a:t>
                      </a:r>
                      <a:r>
                        <a:rPr kumimoji="0" lang="en-US" altLang="zh-CN" sz="20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input_handler_list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node)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       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input_attach_handler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(dev, handler);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328229"/>
              </p:ext>
            </p:extLst>
          </p:nvPr>
        </p:nvGraphicFramePr>
        <p:xfrm>
          <a:off x="998908" y="4564945"/>
          <a:ext cx="6187083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7083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829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input_handler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(*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connect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)(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input_handler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*handler,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input_dev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*dev,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const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input_device_id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*id);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};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  <p:sp>
        <p:nvSpPr>
          <p:cNvPr id="7" name="云形 6"/>
          <p:cNvSpPr/>
          <p:nvPr/>
        </p:nvSpPr>
        <p:spPr>
          <a:xfrm>
            <a:off x="7726017" y="1789044"/>
            <a:ext cx="3627783" cy="231581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Input</a:t>
            </a:r>
            <a:r>
              <a:rPr lang="zh-CN" altLang="en-US" dirty="0" smtClean="0"/>
              <a:t>子系统，辅助实现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输入设备的驱动，将数据</a:t>
            </a:r>
            <a:r>
              <a:rPr lang="en-US" altLang="zh-CN" dirty="0" smtClean="0"/>
              <a:t>report</a:t>
            </a:r>
            <a:r>
              <a:rPr lang="zh-CN" altLang="en-US" dirty="0" smtClean="0"/>
              <a:t>到</a:t>
            </a:r>
            <a:r>
              <a:rPr lang="en-US" altLang="zh-CN" dirty="0" smtClean="0"/>
              <a:t>user space</a:t>
            </a:r>
            <a:endParaRPr lang="zh-CN" altLang="en-US" dirty="0"/>
          </a:p>
        </p:txBody>
      </p:sp>
      <p:cxnSp>
        <p:nvCxnSpPr>
          <p:cNvPr id="9" name="直接箭头连接符 8"/>
          <p:cNvCxnSpPr>
            <a:stCxn id="7" idx="2"/>
            <a:endCxn id="5" idx="3"/>
          </p:cNvCxnSpPr>
          <p:nvPr/>
        </p:nvCxnSpPr>
        <p:spPr>
          <a:xfrm flipH="1">
            <a:off x="7185991" y="2946953"/>
            <a:ext cx="551279" cy="972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016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策略模式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43" y="1690688"/>
            <a:ext cx="8218743" cy="499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244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策略模式实例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VFS</a:t>
            </a:r>
            <a:endParaRPr lang="zh-CN" alt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768792"/>
              </p:ext>
            </p:extLst>
          </p:nvPr>
        </p:nvGraphicFramePr>
        <p:xfrm>
          <a:off x="838200" y="2510195"/>
          <a:ext cx="6187082" cy="344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7082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829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file_system_type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(*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init_fs_context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)(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fs_context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*);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fs_context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const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fs_context_operations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*ops;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fs_context_operations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(*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parse_param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)(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fs_context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*fc,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fs_parameter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*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param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(*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get_tree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)(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fs_context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*fc);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};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  <p:sp>
        <p:nvSpPr>
          <p:cNvPr id="5" name="云形 4"/>
          <p:cNvSpPr/>
          <p:nvPr/>
        </p:nvSpPr>
        <p:spPr>
          <a:xfrm>
            <a:off x="8020878" y="1918253"/>
            <a:ext cx="3727174" cy="2484782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VFS(virtual </a:t>
            </a:r>
            <a:r>
              <a:rPr lang="en-US" altLang="zh-CN" dirty="0"/>
              <a:t>File System</a:t>
            </a:r>
            <a:r>
              <a:rPr lang="zh-CN" altLang="en-US" dirty="0" smtClean="0"/>
              <a:t>）为</a:t>
            </a:r>
            <a:r>
              <a:rPr lang="zh-CN" altLang="en-US" dirty="0"/>
              <a:t>各类文件系统提供了一个统一的操作界面和应用编程</a:t>
            </a:r>
            <a:r>
              <a:rPr lang="zh-CN" altLang="en-US" dirty="0" smtClean="0"/>
              <a:t>接口</a:t>
            </a:r>
            <a:r>
              <a:rPr lang="en-US" altLang="zh-CN" dirty="0" smtClean="0"/>
              <a:t>.</a:t>
            </a:r>
            <a:endParaRPr lang="zh-CN" altLang="en-US" dirty="0"/>
          </a:p>
        </p:txBody>
      </p:sp>
      <p:cxnSp>
        <p:nvCxnSpPr>
          <p:cNvPr id="7" name="直接箭头连接符 6"/>
          <p:cNvCxnSpPr>
            <a:stCxn id="5" idx="2"/>
            <a:endCxn id="4" idx="3"/>
          </p:cNvCxnSpPr>
          <p:nvPr/>
        </p:nvCxnSpPr>
        <p:spPr>
          <a:xfrm flipH="1">
            <a:off x="7025282" y="3160644"/>
            <a:ext cx="1007157" cy="1071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00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DBAA-CF2F-45C9-8CB3-EE11AA78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内核基础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EB9F1-67F9-4651-9D51-A3F45E8E8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关系型数据结构</a:t>
            </a:r>
            <a:endParaRPr lang="en-US" altLang="zh-CN" dirty="0" smtClean="0"/>
          </a:p>
          <a:p>
            <a:r>
              <a:rPr lang="zh-CN" altLang="en-US" dirty="0"/>
              <a:t>常见设计模式</a:t>
            </a:r>
            <a:endParaRPr lang="en-US" altLang="zh-CN" dirty="0"/>
          </a:p>
          <a:p>
            <a:r>
              <a:rPr lang="zh-CN" altLang="en-US" b="1" dirty="0" smtClean="0"/>
              <a:t>中断处理</a:t>
            </a:r>
            <a:endParaRPr lang="en-US" altLang="zh-CN" b="1" dirty="0" smtClean="0"/>
          </a:p>
          <a:p>
            <a:r>
              <a:rPr lang="zh-CN" altLang="en-US" dirty="0"/>
              <a:t>时间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24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中断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260" y="1750060"/>
            <a:ext cx="3345180" cy="16687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270" y="1690688"/>
            <a:ext cx="3337560" cy="21869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020" y="4052570"/>
            <a:ext cx="3337560" cy="215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944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中断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748" y="1773238"/>
            <a:ext cx="5289804" cy="365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600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中断实例</a:t>
            </a:r>
            <a:r>
              <a:rPr lang="en-US" altLang="zh-CN" dirty="0" smtClean="0"/>
              <a:t>(</a:t>
            </a:r>
            <a:r>
              <a:rPr lang="zh-CN" altLang="en-US" dirty="0" smtClean="0"/>
              <a:t>触摸屏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157548"/>
              </p:ext>
            </p:extLst>
          </p:nvPr>
        </p:nvGraphicFramePr>
        <p:xfrm>
          <a:off x="2470150" y="1760895"/>
          <a:ext cx="6187082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7082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829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request_threaded_irq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(unsigned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irq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irq_handler_t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handler,  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irq_handler_t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thread_fn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unsigned long flags,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const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char *name, void *dev);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request_irq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(unsigned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irq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irq_handler_t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handler,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unsigned long flags,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const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char *name, void *dev)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150" y="3647439"/>
            <a:ext cx="5848350" cy="2454863"/>
          </a:xfrm>
          <a:prstGeom prst="rect">
            <a:avLst/>
          </a:prstGeom>
        </p:spPr>
      </p:pic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508997"/>
              </p:ext>
            </p:extLst>
          </p:nvPr>
        </p:nvGraphicFramePr>
        <p:xfrm>
          <a:off x="2470150" y="5096462"/>
          <a:ext cx="33020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10045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request_irq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irq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handle_ts_irq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, flags, “touchscreen", </a:t>
                      </a:r>
                      <a:r>
                        <a:rPr kumimoji="0" lang="en-US" altLang="zh-CN" sz="20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my_ts_data</a:t>
                      </a:r>
                      <a:r>
                        <a:rPr kumimoji="0" lang="en-US" altLang="zh-CN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);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6434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2D7A9-2238-42DB-81EB-EE47791D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异常实例</a:t>
            </a:r>
            <a:r>
              <a:rPr lang="en-US" altLang="zh-CN" dirty="0" smtClean="0"/>
              <a:t>(</a:t>
            </a:r>
            <a:r>
              <a:rPr lang="zh-CN" altLang="en-US" dirty="0" smtClean="0"/>
              <a:t>系统调用</a:t>
            </a:r>
            <a:r>
              <a:rPr lang="en-US" altLang="zh-CN" dirty="0" smtClean="0"/>
              <a:t>)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CF259F-4DC9-4484-9603-0E33758FB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特权级</a:t>
            </a:r>
            <a:endParaRPr lang="en-US" dirty="0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1EDED013-A915-48D8-8D5F-E1880D359F0A}"/>
              </a:ext>
            </a:extLst>
          </p:cNvPr>
          <p:cNvSpPr/>
          <p:nvPr/>
        </p:nvSpPr>
        <p:spPr>
          <a:xfrm>
            <a:off x="2689411" y="2061883"/>
            <a:ext cx="2832847" cy="287767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58C5F9B6-94B8-4EB7-9A62-4354A401E911}"/>
              </a:ext>
            </a:extLst>
          </p:cNvPr>
          <p:cNvSpPr/>
          <p:nvPr/>
        </p:nvSpPr>
        <p:spPr>
          <a:xfrm>
            <a:off x="3360569" y="2810436"/>
            <a:ext cx="1656080" cy="1609164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ring0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BAFB5C-50C7-4624-BFED-8FBC6CE95579}"/>
              </a:ext>
            </a:extLst>
          </p:cNvPr>
          <p:cNvSpPr txBox="1"/>
          <p:nvPr/>
        </p:nvSpPr>
        <p:spPr>
          <a:xfrm>
            <a:off x="3467249" y="2410617"/>
            <a:ext cx="72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ring3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5029AD83-2882-439E-A5F0-4E544F09EBE4}"/>
              </a:ext>
            </a:extLst>
          </p:cNvPr>
          <p:cNvSpPr/>
          <p:nvPr/>
        </p:nvSpPr>
        <p:spPr>
          <a:xfrm>
            <a:off x="5042647" y="2551356"/>
            <a:ext cx="777838" cy="2101924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6625BB-9DE4-4FEB-B396-B8F236F0F88B}"/>
              </a:ext>
            </a:extLst>
          </p:cNvPr>
          <p:cNvSpPr txBox="1"/>
          <p:nvPr/>
        </p:nvSpPr>
        <p:spPr>
          <a:xfrm>
            <a:off x="5820485" y="2366690"/>
            <a:ext cx="72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指令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BBCDCB-82D0-4D8E-9117-D04B72B9A884}"/>
              </a:ext>
            </a:extLst>
          </p:cNvPr>
          <p:cNvSpPr txBox="1"/>
          <p:nvPr/>
        </p:nvSpPr>
        <p:spPr>
          <a:xfrm>
            <a:off x="5820485" y="3500718"/>
            <a:ext cx="72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IO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D3A73A-0D5C-40AF-BB01-DAFDA7E5221B}"/>
              </a:ext>
            </a:extLst>
          </p:cNvPr>
          <p:cNvSpPr txBox="1"/>
          <p:nvPr/>
        </p:nvSpPr>
        <p:spPr>
          <a:xfrm>
            <a:off x="5810324" y="4490720"/>
            <a:ext cx="109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内核空间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A9A0C3-08C5-479A-9D7B-4AAEF58E824D}"/>
              </a:ext>
            </a:extLst>
          </p:cNvPr>
          <p:cNvSpPr/>
          <p:nvPr/>
        </p:nvSpPr>
        <p:spPr>
          <a:xfrm>
            <a:off x="7135009" y="5066410"/>
            <a:ext cx="1846730" cy="12474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  <a:r>
              <a:rPr lang="en-US" altLang="zh-CN" dirty="0"/>
              <a:t>-3G</a:t>
            </a:r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EB5CA21-D52C-451E-BAFA-53B3319728D1}"/>
              </a:ext>
            </a:extLst>
          </p:cNvPr>
          <p:cNvSpPr/>
          <p:nvPr/>
        </p:nvSpPr>
        <p:spPr>
          <a:xfrm>
            <a:off x="7135009" y="4419600"/>
            <a:ext cx="1846730" cy="64681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3-4G</a:t>
            </a: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2DD82611-563A-4C4E-A515-A80745C019A1}"/>
              </a:ext>
            </a:extLst>
          </p:cNvPr>
          <p:cNvSpPr/>
          <p:nvPr/>
        </p:nvSpPr>
        <p:spPr>
          <a:xfrm>
            <a:off x="6898639" y="4419600"/>
            <a:ext cx="226210" cy="63966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03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B5F83-2153-4860-ACDC-11F2822CF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41EAC-5D8C-4A3D-A1C3-A0A23258F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80</a:t>
            </a:r>
          </a:p>
          <a:p>
            <a:r>
              <a:rPr lang="en-US" dirty="0" err="1"/>
              <a:t>sysenter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DBC1D3-6D66-4D84-9DA6-83FEB3B0F782}"/>
              </a:ext>
            </a:extLst>
          </p:cNvPr>
          <p:cNvSpPr/>
          <p:nvPr/>
        </p:nvSpPr>
        <p:spPr>
          <a:xfrm>
            <a:off x="1285240" y="3203257"/>
            <a:ext cx="4338918" cy="149545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//clone</a:t>
            </a:r>
          </a:p>
          <a:p>
            <a:r>
              <a:rPr lang="en-US" altLang="zh-CN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movl</a:t>
            </a:r>
            <a:r>
              <a:rPr lang="en-US" altLang="zh-CN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$</a:t>
            </a:r>
            <a:r>
              <a:rPr lang="en-US" altLang="zh-CN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SYS_ify</a:t>
            </a:r>
            <a:r>
              <a:rPr lang="en-US" altLang="zh-CN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dirty="0" smtClean="0">
                <a:solidFill>
                  <a:schemeClr val="tx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clone</a:t>
            </a:r>
            <a:r>
              <a:rPr lang="en-US" altLang="zh-CN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),%</a:t>
            </a:r>
            <a:r>
              <a:rPr lang="en-US" altLang="zh-CN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eax</a:t>
            </a:r>
            <a:endParaRPr lang="en-US" altLang="zh-CN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r>
              <a:rPr lang="en-US" altLang="zh-CN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altLang="zh-CN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$0x80</a:t>
            </a:r>
          </a:p>
          <a:p>
            <a:r>
              <a:rPr lang="en-US" altLang="zh-CN" dirty="0" smtClean="0">
                <a:solidFill>
                  <a:schemeClr val="tx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en-US" altLang="zh-CN" dirty="0">
              <a:solidFill>
                <a:schemeClr val="tx1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1A2008-9AE1-4F3F-9A82-A4389CE11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856566"/>
            <a:ext cx="3832050" cy="241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419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DB509-5244-429D-8C31-280965C2D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EFE203-DFBE-48BE-9E64-4C6AF0425498}"/>
              </a:ext>
            </a:extLst>
          </p:cNvPr>
          <p:cNvSpPr/>
          <p:nvPr/>
        </p:nvSpPr>
        <p:spPr>
          <a:xfrm>
            <a:off x="1476672" y="2051084"/>
            <a:ext cx="8075291" cy="234589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117     i386    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ipc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sys_ipc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__ia32_compat_sys_ipc</a:t>
            </a:r>
          </a:p>
          <a:p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118     i386    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fsync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sys_fsync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__ia32_sys_fsync</a:t>
            </a:r>
          </a:p>
          <a:p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119     i386    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sigreturn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sys_sigreturn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__ia32_compat_sys_sigreturn</a:t>
            </a:r>
          </a:p>
          <a:p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120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i386    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clone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</a:t>
            </a:r>
            <a:r>
              <a:rPr lang="en-US" altLang="zh-CN" dirty="0" err="1">
                <a:solidFill>
                  <a:schemeClr val="tx1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sys_clone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__ia32_compat_sys_x86_clone</a:t>
            </a:r>
          </a:p>
          <a:p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121     i386    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setdomainname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sys_setdomainname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__ia32_sys_setdomainname</a:t>
            </a:r>
          </a:p>
          <a:p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122     i386    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uname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sys_newuname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__ia32_sys_newuname</a:t>
            </a:r>
          </a:p>
        </p:txBody>
      </p:sp>
    </p:spTree>
    <p:extLst>
      <p:ext uri="{BB962C8B-B14F-4D97-AF65-F5344CB8AC3E}">
        <p14:creationId xmlns:p14="http://schemas.microsoft.com/office/powerpoint/2010/main" val="2470811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DBAA-CF2F-45C9-8CB3-EE11AA78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内核基础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EB9F1-67F9-4651-9D51-A3F45E8E8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关系型数据结构</a:t>
            </a:r>
            <a:endParaRPr lang="en-US" altLang="zh-CN" dirty="0" smtClean="0"/>
          </a:p>
          <a:p>
            <a:r>
              <a:rPr lang="zh-CN" altLang="en-US" dirty="0"/>
              <a:t>常见设计</a:t>
            </a:r>
            <a:r>
              <a:rPr lang="zh-CN" altLang="en-US" dirty="0" smtClean="0"/>
              <a:t>模式</a:t>
            </a:r>
            <a:endParaRPr lang="en-US" altLang="zh-CN" b="1" dirty="0" smtClean="0"/>
          </a:p>
          <a:p>
            <a:r>
              <a:rPr lang="zh-CN" altLang="en-US" dirty="0" smtClean="0"/>
              <a:t>中断处理</a:t>
            </a:r>
            <a:endParaRPr lang="en-US" altLang="zh-CN" dirty="0" smtClean="0"/>
          </a:p>
          <a:p>
            <a:r>
              <a:rPr lang="zh-CN" altLang="en-US" b="1" dirty="0"/>
              <a:t>时间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44025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时钟源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clocksource</a:t>
            </a:r>
            <a:endParaRPr lang="zh-CN" altLang="en-US" dirty="0"/>
          </a:p>
        </p:txBody>
      </p:sp>
      <p:pic>
        <p:nvPicPr>
          <p:cNvPr id="5122" name="Picture 2" descr="https://ss0.bdstatic.com/94oJfD_bAAcT8t7mm9GUKT-xh_/timg?image&amp;quality=100&amp;size=b4000_4000&amp;sec=1607679381&amp;di=74ea22ac99140e980cfa82ac0e4e41b3&amp;src=http://pic.51yuansu.com/pic3/cover/03/52/20/5bbea5a30a2f7_6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8362" y="2078037"/>
            <a:ext cx="3501287" cy="350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189255"/>
              </p:ext>
            </p:extLst>
          </p:nvPr>
        </p:nvGraphicFramePr>
        <p:xfrm>
          <a:off x="1137920" y="2416969"/>
          <a:ext cx="5267960" cy="12001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5650">
                  <a:extLst>
                    <a:ext uri="{9D8B030D-6E8A-4147-A177-3AD203B41FA5}">
                      <a16:colId xmlns:a16="http://schemas.microsoft.com/office/drawing/2014/main" val="815861114"/>
                    </a:ext>
                  </a:extLst>
                </a:gridCol>
                <a:gridCol w="1581785">
                  <a:extLst>
                    <a:ext uri="{9D8B030D-6E8A-4147-A177-3AD203B41FA5}">
                      <a16:colId xmlns:a16="http://schemas.microsoft.com/office/drawing/2014/main" val="1111619165"/>
                    </a:ext>
                  </a:extLst>
                </a:gridCol>
                <a:gridCol w="2930525">
                  <a:extLst>
                    <a:ext uri="{9D8B030D-6E8A-4147-A177-3AD203B41FA5}">
                      <a16:colId xmlns:a16="http://schemas.microsoft.com/office/drawing/2014/main" val="4262313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050" kern="0" spc="-25">
                          <a:effectLst/>
                        </a:rPr>
                        <a:t>字段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050" kern="0" spc="-25">
                          <a:effectLst/>
                        </a:rPr>
                        <a:t>类型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050" kern="0" spc="-25">
                          <a:effectLst/>
                        </a:rPr>
                        <a:t>描述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7149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spc="-25">
                          <a:effectLst/>
                        </a:rPr>
                        <a:t>flags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spc="-25">
                          <a:effectLst/>
                        </a:rPr>
                        <a:t>unsigned long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spc="-25">
                          <a:effectLst/>
                        </a:rPr>
                        <a:t>cs</a:t>
                      </a:r>
                      <a:r>
                        <a:rPr lang="zh-CN" sz="1050" kern="0" spc="-25">
                          <a:effectLst/>
                        </a:rPr>
                        <a:t>的标志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0062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spc="-25" dirty="0" err="1">
                          <a:solidFill>
                            <a:srgbClr val="FF0000"/>
                          </a:solidFill>
                          <a:effectLst/>
                        </a:rPr>
                        <a:t>mult</a:t>
                      </a:r>
                      <a:endParaRPr lang="zh-CN" sz="105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spc="-25">
                          <a:effectLst/>
                        </a:rPr>
                        <a:t>u32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50" kern="0" spc="-25" dirty="0" smtClean="0">
                          <a:effectLst/>
                        </a:rPr>
                        <a:t>将时钟芯片的读值转换为系统时间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0005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spc="-25" dirty="0">
                          <a:solidFill>
                            <a:srgbClr val="FF0000"/>
                          </a:solidFill>
                          <a:effectLst/>
                        </a:rPr>
                        <a:t>shift</a:t>
                      </a:r>
                      <a:endParaRPr lang="zh-CN" sz="105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spc="-25" dirty="0">
                          <a:effectLst/>
                        </a:rPr>
                        <a:t>u32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84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spc="-25">
                          <a:effectLst/>
                        </a:rPr>
                        <a:t>read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050" kern="0" spc="-25">
                          <a:effectLst/>
                        </a:rPr>
                        <a:t>回调函数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050" kern="0" spc="-25">
                          <a:effectLst/>
                        </a:rPr>
                        <a:t>读取时钟源的当前时钟数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3974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spc="-25">
                          <a:effectLst/>
                        </a:rPr>
                        <a:t>rating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spc="-25">
                          <a:effectLst/>
                        </a:rPr>
                        <a:t>int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spc="-25" dirty="0" err="1">
                          <a:effectLst/>
                        </a:rPr>
                        <a:t>cs</a:t>
                      </a:r>
                      <a:r>
                        <a:rPr lang="zh-CN" sz="1050" kern="0" spc="-25" dirty="0">
                          <a:effectLst/>
                        </a:rPr>
                        <a:t>的等级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5521433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3A9BE7ED-1367-48B1-9475-6CBA828A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426354"/>
              </p:ext>
            </p:extLst>
          </p:nvPr>
        </p:nvGraphicFramePr>
        <p:xfrm>
          <a:off x="1137920" y="3671693"/>
          <a:ext cx="5267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7960">
                  <a:extLst>
                    <a:ext uri="{9D8B030D-6E8A-4147-A177-3AD203B41FA5}">
                      <a16:colId xmlns:a16="http://schemas.microsoft.com/office/drawing/2014/main" val="3125646414"/>
                    </a:ext>
                  </a:extLst>
                </a:gridCol>
              </a:tblGrid>
              <a:tr h="829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u64 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timekeeping_get_ns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const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tk_read_base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*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tkr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struct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clocksource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*clock = READ_ONCE(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tkr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-&gt;clock);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cycle_now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= clock-&gt;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read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(clock);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cycle_delta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= (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cycle_now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tkr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-&gt;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cycle_last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 &amp; 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tkr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-&gt;mask;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nsec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= 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cycle_delta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* 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tkr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-&gt;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mult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+ 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tkr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-&gt;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xtime_nsec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nsec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&gt;&gt;= 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tkr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-&gt;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shift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return 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nsec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+ </a:t>
                      </a:r>
                      <a:r>
                        <a:rPr kumimoji="0" lang="en-US" altLang="zh-CN" sz="16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get_arch_timeoffset</a:t>
                      </a: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8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475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时钟中断</a:t>
            </a:r>
            <a:r>
              <a:rPr lang="en-US" altLang="zh-CN" dirty="0" smtClean="0"/>
              <a:t>(</a:t>
            </a:r>
            <a:r>
              <a:rPr lang="zh-CN" altLang="en-US" dirty="0" smtClean="0"/>
              <a:t>事件</a:t>
            </a:r>
            <a:r>
              <a:rPr lang="en-US" altLang="zh-CN" dirty="0"/>
              <a:t>)</a:t>
            </a:r>
            <a:r>
              <a:rPr lang="zh-CN" altLang="en-US" dirty="0" smtClean="0"/>
              <a:t>设备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clock_event_device</a:t>
            </a:r>
            <a:r>
              <a:rPr lang="en-US" altLang="zh-CN" dirty="0" smtClean="0"/>
              <a:t> (</a:t>
            </a:r>
            <a:r>
              <a:rPr lang="en-US" altLang="zh-CN" dirty="0" err="1" smtClean="0"/>
              <a:t>evt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382288"/>
              </p:ext>
            </p:extLst>
          </p:nvPr>
        </p:nvGraphicFramePr>
        <p:xfrm>
          <a:off x="1137920" y="2331371"/>
          <a:ext cx="4932680" cy="14001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98309">
                  <a:extLst>
                    <a:ext uri="{9D8B030D-6E8A-4147-A177-3AD203B41FA5}">
                      <a16:colId xmlns:a16="http://schemas.microsoft.com/office/drawing/2014/main" val="214487307"/>
                    </a:ext>
                  </a:extLst>
                </a:gridCol>
                <a:gridCol w="1274791">
                  <a:extLst>
                    <a:ext uri="{9D8B030D-6E8A-4147-A177-3AD203B41FA5}">
                      <a16:colId xmlns:a16="http://schemas.microsoft.com/office/drawing/2014/main" val="3739873879"/>
                    </a:ext>
                  </a:extLst>
                </a:gridCol>
                <a:gridCol w="2659580">
                  <a:extLst>
                    <a:ext uri="{9D8B030D-6E8A-4147-A177-3AD203B41FA5}">
                      <a16:colId xmlns:a16="http://schemas.microsoft.com/office/drawing/2014/main" val="20296585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050" kern="0" spc="-25">
                          <a:effectLst/>
                        </a:rPr>
                        <a:t>字段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050" kern="0" spc="-25">
                          <a:effectLst/>
                        </a:rPr>
                        <a:t>类型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050" kern="0" spc="-25">
                          <a:effectLst/>
                        </a:rPr>
                        <a:t>描述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7143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spc="-25">
                          <a:effectLst/>
                        </a:rPr>
                        <a:t>event_handler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050" kern="0" spc="-25">
                          <a:effectLst/>
                        </a:rPr>
                        <a:t>回调函数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050" kern="0" spc="-25">
                          <a:effectLst/>
                        </a:rPr>
                        <a:t>时钟中断到来时，处理中断的回调函数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2588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spc="-25">
                          <a:effectLst/>
                        </a:rPr>
                        <a:t>set_next_event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050" kern="0" spc="-25">
                          <a:effectLst/>
                        </a:rPr>
                        <a:t>回调函数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050" kern="0" spc="-25">
                          <a:effectLst/>
                        </a:rPr>
                        <a:t>设置下一个时钟中断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5790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spc="-25">
                          <a:effectLst/>
                        </a:rPr>
                        <a:t>set_state_xxx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050" kern="0" spc="-25">
                          <a:effectLst/>
                        </a:rPr>
                        <a:t>回调函数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050" kern="0" spc="-25">
                          <a:effectLst/>
                        </a:rPr>
                        <a:t>切换当前时钟中断设备的状态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1918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spc="-25">
                          <a:effectLst/>
                        </a:rPr>
                        <a:t>rating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spc="-25">
                          <a:effectLst/>
                        </a:rPr>
                        <a:t>int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050" kern="0" spc="-25">
                          <a:effectLst/>
                        </a:rPr>
                        <a:t>设备的等级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6703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spc="-25" dirty="0" err="1">
                          <a:effectLst/>
                        </a:rPr>
                        <a:t>mult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spc="-25">
                          <a:effectLst/>
                        </a:rPr>
                        <a:t>u32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050" kern="0" spc="-25" dirty="0" smtClean="0">
                          <a:effectLst/>
                        </a:rPr>
                        <a:t>与</a:t>
                      </a:r>
                      <a:r>
                        <a:rPr lang="en-US" sz="1050" kern="0" spc="-25" dirty="0" err="1" smtClean="0">
                          <a:effectLst/>
                        </a:rPr>
                        <a:t>clocksource</a:t>
                      </a:r>
                      <a:r>
                        <a:rPr lang="zh-CN" sz="1050" kern="0" spc="-25" dirty="0" smtClean="0">
                          <a:effectLst/>
                        </a:rPr>
                        <a:t>的</a:t>
                      </a:r>
                      <a:r>
                        <a:rPr lang="zh-CN" sz="1050" kern="0" spc="-25" dirty="0">
                          <a:effectLst/>
                        </a:rPr>
                        <a:t>对应字段意义相同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0716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spc="-25">
                          <a:effectLst/>
                        </a:rPr>
                        <a:t>shift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spc="-25" dirty="0">
                          <a:effectLst/>
                        </a:rPr>
                        <a:t>u32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409524"/>
                  </a:ext>
                </a:extLst>
              </a:tr>
            </a:tbl>
          </a:graphicData>
        </a:graphic>
      </p:graphicFrame>
      <p:sp>
        <p:nvSpPr>
          <p:cNvPr id="5" name="动作按钮: 声音 4">
            <a:hlinkClick r:id="" action="ppaction://noaction" highlightClick="1">
              <a:snd r:embed="rId2" name="applause.wav"/>
            </a:hlinkClick>
          </p:cNvPr>
          <p:cNvSpPr/>
          <p:nvPr/>
        </p:nvSpPr>
        <p:spPr>
          <a:xfrm>
            <a:off x="1137920" y="4427204"/>
            <a:ext cx="1289050" cy="1256046"/>
          </a:xfrm>
          <a:prstGeom prst="actionButtonSou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肘形连接符 7"/>
          <p:cNvCxnSpPr>
            <a:stCxn id="5" idx="0"/>
          </p:cNvCxnSpPr>
          <p:nvPr/>
        </p:nvCxnSpPr>
        <p:spPr>
          <a:xfrm flipV="1">
            <a:off x="2426970" y="4749800"/>
            <a:ext cx="665480" cy="30542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连接符 9"/>
          <p:cNvCxnSpPr/>
          <p:nvPr/>
        </p:nvCxnSpPr>
        <p:spPr>
          <a:xfrm flipV="1">
            <a:off x="3089592" y="4749800"/>
            <a:ext cx="665480" cy="30542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092450" y="4749800"/>
            <a:ext cx="0" cy="3054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连接符 13"/>
          <p:cNvCxnSpPr/>
          <p:nvPr/>
        </p:nvCxnSpPr>
        <p:spPr>
          <a:xfrm flipV="1">
            <a:off x="3752214" y="4763127"/>
            <a:ext cx="665480" cy="30542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3755072" y="4756777"/>
            <a:ext cx="0" cy="3054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/>
          <p:cNvCxnSpPr/>
          <p:nvPr/>
        </p:nvCxnSpPr>
        <p:spPr>
          <a:xfrm flipV="1">
            <a:off x="4411977" y="4770731"/>
            <a:ext cx="665480" cy="30542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4414835" y="4770731"/>
            <a:ext cx="0" cy="3054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726690" y="4527379"/>
            <a:ext cx="4762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smtClean="0"/>
              <a:t>10ms</a:t>
            </a:r>
            <a:endParaRPr lang="zh-CN" altLang="en-US" sz="800" dirty="0"/>
          </a:p>
        </p:txBody>
      </p:sp>
      <p:sp>
        <p:nvSpPr>
          <p:cNvPr id="18" name="乘号 17"/>
          <p:cNvSpPr/>
          <p:nvPr/>
        </p:nvSpPr>
        <p:spPr>
          <a:xfrm>
            <a:off x="4858065" y="4506495"/>
            <a:ext cx="659763" cy="52847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197" y="3936340"/>
            <a:ext cx="3345180" cy="166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774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CS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evt</a:t>
            </a:r>
            <a:r>
              <a:rPr lang="zh-CN" altLang="en-US" dirty="0" smtClean="0"/>
              <a:t>设备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679095"/>
              </p:ext>
            </p:extLst>
          </p:nvPr>
        </p:nvGraphicFramePr>
        <p:xfrm>
          <a:off x="958850" y="1690688"/>
          <a:ext cx="8128000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405470760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7786185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9828406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68312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设备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功能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频率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rating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882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RTC</a:t>
                      </a:r>
                      <a:r>
                        <a:rPr lang="zh-CN" altLang="en-US" dirty="0" smtClean="0"/>
                        <a:t>，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Real-time Clock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实时时钟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CS &amp; </a:t>
                      </a:r>
                      <a:r>
                        <a:rPr lang="en-US" altLang="zh-CN" dirty="0" err="1" smtClean="0"/>
                        <a:t>evt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evt</a:t>
                      </a:r>
                      <a:r>
                        <a:rPr lang="en-US" altLang="zh-CN" dirty="0" smtClean="0"/>
                        <a:t>: 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2-8192Hz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659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PIT,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Programmable interval timer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可编程间隔计时器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evt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evt</a:t>
                      </a:r>
                      <a:r>
                        <a:rPr lang="en-US" altLang="zh-CN" dirty="0" smtClean="0"/>
                        <a:t>: 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1.193182 MHz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CS: 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</a:p>
                    <a:p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evt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altLang="zh-CN" sz="18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</a:t>
                      </a:r>
                      <a:endParaRPr lang="en-US" altLang="zh-C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74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TSC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 Stamp Counter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时间戳计数器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记录</a:t>
                      </a:r>
                      <a:r>
                        <a:rPr lang="zh-CN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处理器的时钟周期数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CS: </a:t>
                      </a:r>
                      <a:r>
                        <a:rPr lang="en-US" altLang="zh-CN" b="1" dirty="0" smtClean="0"/>
                        <a:t>300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（会导致系统时间误差）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762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APIC (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高级可编程中断控制器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Timer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 smtClean="0"/>
                        <a:t>evt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evt</a:t>
                      </a:r>
                      <a:r>
                        <a:rPr lang="en-US" altLang="zh-CN" dirty="0" smtClean="0"/>
                        <a:t>: </a:t>
                      </a:r>
                      <a:r>
                        <a:rPr lang="zh-CN" altLang="en-US" dirty="0" smtClean="0"/>
                        <a:t>可配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evt</a:t>
                      </a:r>
                      <a:r>
                        <a:rPr lang="en-US" altLang="zh-CN" dirty="0" smtClean="0"/>
                        <a:t>: </a:t>
                      </a:r>
                      <a:r>
                        <a:rPr lang="en-US" altLang="zh-CN" b="1" dirty="0" smtClean="0"/>
                        <a:t>100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842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134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sleep</a:t>
            </a:r>
            <a:r>
              <a:rPr lang="zh-CN" altLang="en-US" dirty="0" smtClean="0"/>
              <a:t>的实现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350" y="1573530"/>
            <a:ext cx="4819650" cy="484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909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910</Words>
  <Application>Microsoft Office PowerPoint</Application>
  <PresentationFormat>宽屏</PresentationFormat>
  <Paragraphs>218</Paragraphs>
  <Slides>24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Microsoft YaHei Light</vt:lpstr>
      <vt:lpstr>等线</vt:lpstr>
      <vt:lpstr>等线 Light</vt:lpstr>
      <vt:lpstr>宋体</vt:lpstr>
      <vt:lpstr>微软雅黑</vt:lpstr>
      <vt:lpstr>Arial</vt:lpstr>
      <vt:lpstr>Calibri</vt:lpstr>
      <vt:lpstr>Consolas</vt:lpstr>
      <vt:lpstr>Times New Roman</vt:lpstr>
      <vt:lpstr>Office 主题​​</vt:lpstr>
      <vt:lpstr>自定义设计方案</vt:lpstr>
      <vt:lpstr>Visio</vt:lpstr>
      <vt:lpstr>内核基础</vt:lpstr>
      <vt:lpstr>一对一关系</vt:lpstr>
      <vt:lpstr>由b得a</vt:lpstr>
      <vt:lpstr>一对多关系</vt:lpstr>
      <vt:lpstr>一对多关系</vt:lpstr>
      <vt:lpstr>多对多关系</vt:lpstr>
      <vt:lpstr>多对多关系</vt:lpstr>
      <vt:lpstr>内核基础</vt:lpstr>
      <vt:lpstr>观察者</vt:lpstr>
      <vt:lpstr>观察者实例</vt:lpstr>
      <vt:lpstr>策略模式</vt:lpstr>
      <vt:lpstr>策略模式实例</vt:lpstr>
      <vt:lpstr>内核基础</vt:lpstr>
      <vt:lpstr>中断</vt:lpstr>
      <vt:lpstr>中断</vt:lpstr>
      <vt:lpstr>中断实例(触摸屏)</vt:lpstr>
      <vt:lpstr>异常实例(系统调用)</vt:lpstr>
      <vt:lpstr>How</vt:lpstr>
      <vt:lpstr>How</vt:lpstr>
      <vt:lpstr>内核基础</vt:lpstr>
      <vt:lpstr>时钟源</vt:lpstr>
      <vt:lpstr>时钟中断(事件)设备</vt:lpstr>
      <vt:lpstr>CS和evt设备</vt:lpstr>
      <vt:lpstr>sleep的实现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程序的执行</dc:title>
  <dc:creator>Yahuajiang(姜亚华)</dc:creator>
  <cp:lastModifiedBy>Yahuajiang(姜亚华)</cp:lastModifiedBy>
  <cp:revision>88</cp:revision>
  <dcterms:created xsi:type="dcterms:W3CDTF">2020-12-07T02:39:13Z</dcterms:created>
  <dcterms:modified xsi:type="dcterms:W3CDTF">2020-12-12T07:21:53Z</dcterms:modified>
</cp:coreProperties>
</file>