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0"/>
  </p:notesMasterIdLst>
  <p:sldIdLst>
    <p:sldId id="256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8" r:id="rId11"/>
    <p:sldId id="339" r:id="rId12"/>
    <p:sldId id="340" r:id="rId13"/>
    <p:sldId id="336" r:id="rId14"/>
    <p:sldId id="341" r:id="rId15"/>
    <p:sldId id="342" r:id="rId16"/>
    <p:sldId id="344" r:id="rId17"/>
    <p:sldId id="343" r:id="rId18"/>
    <p:sldId id="31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628D3-1FF9-49B5-888E-DEE94CF1FB3B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65D42-9E6F-4BED-A128-2B6A6861F4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424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665D42-9E6F-4BED-A128-2B6A6861F4D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385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DCC650-CECA-4B1D-9658-1759AEAD6A54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941AA-249B-42C4-89A9-F5825472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556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Microsoft YaHei Light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0EEF-F7E2-40DC-9E08-4AA20BD2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2393-087C-4726-B73B-679FAA1B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972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68C335-0ADD-4413-B1A5-D2A2F33C5764}" type="datetime1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2232-4DE1-49DD-B9F3-A8AA37D1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8037"/>
            <a:ext cx="41148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BF627-59E4-483F-93CC-10B865D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0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E18CA-1183-4BE8-A087-E96C0AB50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4">
            <a:extLst>
              <a:ext uri="{FF2B5EF4-FFF2-40B4-BE49-F238E27FC236}">
                <a16:creationId xmlns:a16="http://schemas.microsoft.com/office/drawing/2014/main" id="{9EAF237E-D5DE-4673-A5E6-7A5FFB05DDA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星形: 四角 9">
            <a:extLst>
              <a:ext uri="{FF2B5EF4-FFF2-40B4-BE49-F238E27FC236}">
                <a16:creationId xmlns:a16="http://schemas.microsoft.com/office/drawing/2014/main" id="{C0316A6C-F286-4B47-87F7-D8CC0C5E84EB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星形: 四角 15">
            <a:extLst>
              <a:ext uri="{FF2B5EF4-FFF2-40B4-BE49-F238E27FC236}">
                <a16:creationId xmlns:a16="http://schemas.microsoft.com/office/drawing/2014/main" id="{D6DC9487-8F27-40C6-B6E6-7B92F7F956AA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星形: 四角 16">
            <a:extLst>
              <a:ext uri="{FF2B5EF4-FFF2-40B4-BE49-F238E27FC236}">
                <a16:creationId xmlns:a16="http://schemas.microsoft.com/office/drawing/2014/main" id="{B3876917-0D97-4CFF-8EE2-AF5C9549276F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1">
            <a:extLst>
              <a:ext uri="{FF2B5EF4-FFF2-40B4-BE49-F238E27FC236}">
                <a16:creationId xmlns:a16="http://schemas.microsoft.com/office/drawing/2014/main" id="{84736B5E-79BD-4BE4-875D-E3311D22A1F3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40297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99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FC5D7D1-8984-4689-8EAC-485FB12515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694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17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55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60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92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30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972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906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5632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82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DCC650-CECA-4B1D-9658-1759AEAD6A54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941AA-249B-42C4-89A9-F5825472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556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Microsoft YaHei Light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0EEF-F7E2-40DC-9E08-4AA20BD2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2393-087C-4726-B73B-679FAA1B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972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68C335-0ADD-4413-B1A5-D2A2F33C5764}" type="datetime1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2232-4DE1-49DD-B9F3-A8AA37D1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8037"/>
            <a:ext cx="41148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BF627-59E4-483F-93CC-10B865D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0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E18CA-1183-4BE8-A087-E96C0AB50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4">
            <a:extLst>
              <a:ext uri="{FF2B5EF4-FFF2-40B4-BE49-F238E27FC236}">
                <a16:creationId xmlns:a16="http://schemas.microsoft.com/office/drawing/2014/main" id="{9EAF237E-D5DE-4673-A5E6-7A5FFB05DDA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星形: 四角 9">
            <a:extLst>
              <a:ext uri="{FF2B5EF4-FFF2-40B4-BE49-F238E27FC236}">
                <a16:creationId xmlns:a16="http://schemas.microsoft.com/office/drawing/2014/main" id="{C0316A6C-F286-4B47-87F7-D8CC0C5E84EB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星形: 四角 15">
            <a:extLst>
              <a:ext uri="{FF2B5EF4-FFF2-40B4-BE49-F238E27FC236}">
                <a16:creationId xmlns:a16="http://schemas.microsoft.com/office/drawing/2014/main" id="{D6DC9487-8F27-40C6-B6E6-7B92F7F956AA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星形: 四角 16">
            <a:extLst>
              <a:ext uri="{FF2B5EF4-FFF2-40B4-BE49-F238E27FC236}">
                <a16:creationId xmlns:a16="http://schemas.microsoft.com/office/drawing/2014/main" id="{B3876917-0D97-4CFF-8EE2-AF5C9549276F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1">
            <a:extLst>
              <a:ext uri="{FF2B5EF4-FFF2-40B4-BE49-F238E27FC236}">
                <a16:creationId xmlns:a16="http://schemas.microsoft.com/office/drawing/2014/main" id="{84736B5E-79BD-4BE4-875D-E3311D22A1F3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23727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DCC650-CECA-4B1D-9658-1759AEAD6A54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941AA-249B-42C4-89A9-F5825472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556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Microsoft YaHei Light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0EEF-F7E2-40DC-9E08-4AA20BD2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2393-087C-4726-B73B-679FAA1B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972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68C335-0ADD-4413-B1A5-D2A2F33C5764}" type="datetime1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2232-4DE1-49DD-B9F3-A8AA37D1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8037"/>
            <a:ext cx="41148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BF627-59E4-483F-93CC-10B865D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0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E18CA-1183-4BE8-A087-E96C0AB50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4">
            <a:extLst>
              <a:ext uri="{FF2B5EF4-FFF2-40B4-BE49-F238E27FC236}">
                <a16:creationId xmlns:a16="http://schemas.microsoft.com/office/drawing/2014/main" id="{9EAF237E-D5DE-4673-A5E6-7A5FFB05DDA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星形: 四角 9">
            <a:extLst>
              <a:ext uri="{FF2B5EF4-FFF2-40B4-BE49-F238E27FC236}">
                <a16:creationId xmlns:a16="http://schemas.microsoft.com/office/drawing/2014/main" id="{C0316A6C-F286-4B47-87F7-D8CC0C5E84EB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星形: 四角 15">
            <a:extLst>
              <a:ext uri="{FF2B5EF4-FFF2-40B4-BE49-F238E27FC236}">
                <a16:creationId xmlns:a16="http://schemas.microsoft.com/office/drawing/2014/main" id="{D6DC9487-8F27-40C6-B6E6-7B92F7F956AA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星形: 四角 16">
            <a:extLst>
              <a:ext uri="{FF2B5EF4-FFF2-40B4-BE49-F238E27FC236}">
                <a16:creationId xmlns:a16="http://schemas.microsoft.com/office/drawing/2014/main" id="{B3876917-0D97-4CFF-8EE2-AF5C9549276F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1">
            <a:extLst>
              <a:ext uri="{FF2B5EF4-FFF2-40B4-BE49-F238E27FC236}">
                <a16:creationId xmlns:a16="http://schemas.microsoft.com/office/drawing/2014/main" id="{84736B5E-79BD-4BE4-875D-E3311D22A1F3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48812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457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869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886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430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3378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0669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454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9259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2318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1628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289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B79B8-AE8A-4BFF-AFEA-84EF1BB3B2FA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19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3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6BD37-4C08-428F-92B6-89865318F690}" type="datetimeFigureOut">
              <a:rPr lang="zh-CN" altLang="en-US" smtClean="0"/>
              <a:t>2021/1/25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40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DBAA-CF2F-45C9-8CB3-EE11AA78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进程调度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B9F1-67F9-4651-9D51-A3F45E8E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进程三巨头</a:t>
            </a:r>
            <a:endParaRPr lang="en-US" altLang="zh-CN" b="1" dirty="0" smtClean="0"/>
          </a:p>
          <a:p>
            <a:r>
              <a:rPr lang="zh-CN" altLang="en-US" dirty="0" smtClean="0"/>
              <a:t>进程调度</a:t>
            </a:r>
            <a:endParaRPr lang="en-US" altLang="zh-CN" dirty="0" smtClean="0"/>
          </a:p>
          <a:p>
            <a:r>
              <a:rPr lang="zh-CN" altLang="en-US" dirty="0" smtClean="0"/>
              <a:t>进程优先级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960233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idle</a:t>
            </a:r>
            <a:r>
              <a:rPr lang="zh-CN" altLang="en-US" dirty="0" smtClean="0"/>
              <a:t>进程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004391" cy="4351338"/>
          </a:xfrm>
        </p:spPr>
        <p:txBody>
          <a:bodyPr/>
          <a:lstStyle/>
          <a:p>
            <a:r>
              <a:rPr lang="en-US" altLang="zh-CN" dirty="0" smtClean="0"/>
              <a:t>hard code</a:t>
            </a:r>
          </a:p>
          <a:p>
            <a:r>
              <a:rPr lang="en-US" altLang="zh-CN" dirty="0" err="1" smtClean="0"/>
              <a:t>init_task</a:t>
            </a:r>
            <a:r>
              <a:rPr lang="en-US" altLang="zh-CN" dirty="0"/>
              <a:t> </a:t>
            </a:r>
            <a:r>
              <a:rPr lang="en-US" altLang="zh-CN" dirty="0" smtClean="0"/>
              <a:t>idle</a:t>
            </a:r>
            <a:r>
              <a:rPr lang="zh-CN" altLang="en-US" dirty="0" smtClean="0"/>
              <a:t>进程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767593" y="1185138"/>
            <a:ext cx="6967330" cy="5632311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task_struct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init</a:t>
            </a:r>
            <a:r>
              <a:rPr lang="en-US" altLang="zh-CN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_task</a:t>
            </a:r>
            <a:r>
              <a:rPr lang="en-US" altLang="zh-CN" dirty="0" smtClean="0">
                <a:solidFill>
                  <a:srgbClr val="9CDCFE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.state      =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.stack      =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init_stack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.usage      =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REFCOUNT_INIT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.flags      =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PF_KTHREAD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prio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=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MAX_PRIO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-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static_prio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=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MAX_PRIO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-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normal_prio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=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MAX_PRIO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-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.mm     =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active_mm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= &amp;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init_mm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.tasks      =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LIST_HEAD_INIT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init_task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tasks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real_parent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= &amp;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init_task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.parent     = &amp;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init_task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.children   =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LIST_HEAD_INIT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init_task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children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.sibling    =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LIST_HEAD_INIT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init_task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sibling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group_leader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= &amp;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init_task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.fs     = &amp;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init_fs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.files      = &amp;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init_files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845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init</a:t>
            </a:r>
            <a:r>
              <a:rPr lang="zh-CN" altLang="en-US" dirty="0" smtClean="0"/>
              <a:t>进程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128520" cy="4351338"/>
          </a:xfrm>
        </p:spPr>
        <p:txBody>
          <a:bodyPr/>
          <a:lstStyle/>
          <a:p>
            <a:r>
              <a:rPr lang="en-US" altLang="zh-CN" dirty="0" err="1"/>
              <a:t>kernel_init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795712" y="1877635"/>
            <a:ext cx="9233728" cy="424731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__ref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kernel_init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unused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ret;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kernel_init_freeable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(!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try_to_run_init_process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"/</a:t>
            </a:r>
            <a:r>
              <a:rPr lang="en-US" altLang="zh-CN" dirty="0" err="1">
                <a:solidFill>
                  <a:srgbClr val="CE9178"/>
                </a:solidFill>
                <a:latin typeface="Consolas" panose="020B0609020204030204" pitchFamily="49" charset="0"/>
              </a:rPr>
              <a:t>sbin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solidFill>
                  <a:srgbClr val="CE9178"/>
                </a:solidFill>
                <a:latin typeface="Consolas" panose="020B0609020204030204" pitchFamily="49" charset="0"/>
              </a:rPr>
              <a:t>init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 ||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!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try_to_run_init_process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"/</a:t>
            </a:r>
            <a:r>
              <a:rPr lang="en-US" altLang="zh-CN" dirty="0" err="1">
                <a:solidFill>
                  <a:srgbClr val="CE9178"/>
                </a:solidFill>
                <a:latin typeface="Consolas" panose="020B0609020204030204" pitchFamily="49" charset="0"/>
              </a:rPr>
              <a:t>etc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solidFill>
                  <a:srgbClr val="CE9178"/>
                </a:solidFill>
                <a:latin typeface="Consolas" panose="020B0609020204030204" pitchFamily="49" charset="0"/>
              </a:rPr>
              <a:t>init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 ||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!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try_to_run_init_process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"/bin/</a:t>
            </a:r>
            <a:r>
              <a:rPr lang="en-US" altLang="zh-CN" dirty="0" err="1">
                <a:solidFill>
                  <a:srgbClr val="CE9178"/>
                </a:solidFill>
                <a:latin typeface="Consolas" panose="020B0609020204030204" pitchFamily="49" charset="0"/>
              </a:rPr>
              <a:t>init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 ||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!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try_to_run_init_process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"/bin/</a:t>
            </a:r>
            <a:r>
              <a:rPr lang="en-US" altLang="zh-CN" dirty="0" err="1">
                <a:solidFill>
                  <a:srgbClr val="CE9178"/>
                </a:solidFill>
                <a:latin typeface="Consolas" panose="020B0609020204030204" pitchFamily="49" charset="0"/>
              </a:rPr>
              <a:t>sh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panic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"No working </a:t>
            </a:r>
            <a:r>
              <a:rPr lang="en-US" altLang="zh-CN" dirty="0" err="1">
                <a:solidFill>
                  <a:srgbClr val="CE9178"/>
                </a:solidFill>
                <a:latin typeface="Consolas" panose="020B0609020204030204" pitchFamily="49" charset="0"/>
              </a:rPr>
              <a:t>init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 found.  Try passing </a:t>
            </a:r>
            <a:r>
              <a:rPr lang="en-US" altLang="zh-CN" dirty="0" err="1">
                <a:solidFill>
                  <a:srgbClr val="CE9178"/>
                </a:solidFill>
                <a:latin typeface="Consolas" panose="020B0609020204030204" pitchFamily="49" charset="0"/>
              </a:rPr>
              <a:t>init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= option to kernel. "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"See Linux Documentation/admin-guide/</a:t>
            </a:r>
            <a:r>
              <a:rPr lang="en-US" altLang="zh-CN" dirty="0" err="1">
                <a:solidFill>
                  <a:srgbClr val="CE9178"/>
                </a:solidFill>
                <a:latin typeface="Consolas" panose="020B0609020204030204" pitchFamily="49" charset="0"/>
              </a:rPr>
              <a:t>init.rst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 for guidance."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795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do_initcalls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378200" cy="4351338"/>
          </a:xfrm>
        </p:spPr>
        <p:txBody>
          <a:bodyPr/>
          <a:lstStyle/>
          <a:p>
            <a:r>
              <a:rPr lang="en-US" altLang="zh-CN" dirty="0" err="1" smtClean="0"/>
              <a:t>kernel_init_freeable</a:t>
            </a:r>
            <a:r>
              <a:rPr lang="en-US" altLang="zh-CN" dirty="0" err="1" smtClean="0">
                <a:sym typeface="Wingdings" panose="05000000000000000000" pitchFamily="2" charset="2"/>
              </a:rPr>
              <a:t></a:t>
            </a:r>
            <a:r>
              <a:rPr lang="en-US" altLang="zh-CN" dirty="0" err="1" smtClean="0"/>
              <a:t>do_basic_setup</a:t>
            </a:r>
            <a:r>
              <a:rPr lang="en-US" altLang="zh-CN" dirty="0" err="1" smtClean="0">
                <a:sym typeface="Wingdings" panose="05000000000000000000" pitchFamily="2" charset="2"/>
              </a:rPr>
              <a:t></a:t>
            </a:r>
            <a:r>
              <a:rPr lang="en-US" altLang="zh-CN" dirty="0" err="1" smtClean="0"/>
              <a:t>do_initcalls</a:t>
            </a:r>
            <a:endParaRPr lang="en-US" altLang="zh-CN" dirty="0" smtClean="0"/>
          </a:p>
          <a:p>
            <a:r>
              <a:rPr lang="en-US" altLang="zh-CN" dirty="0" err="1" smtClean="0"/>
              <a:t>module_init</a:t>
            </a:r>
            <a:r>
              <a:rPr lang="en-US" altLang="zh-CN" dirty="0" smtClean="0"/>
              <a:t> </a:t>
            </a:r>
            <a:r>
              <a:rPr lang="en-US" altLang="zh-CN" dirty="0" smtClean="0">
                <a:sym typeface="Wingdings" panose="05000000000000000000" pitchFamily="2" charset="2"/>
              </a:rPr>
              <a:t> </a:t>
            </a:r>
            <a:r>
              <a:rPr lang="en-US" altLang="zh-CN" dirty="0" err="1"/>
              <a:t>device_initcall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148668" y="2094707"/>
            <a:ext cx="7899400" cy="452431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pure_initcall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 smtClean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core_initcall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core_initcall_sync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1s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postcore_initcall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postcore_initcall_sync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2s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arch_initcall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arch_initcall_sync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3s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subsys_initcall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subsys_initcall_sync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4s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fs_initcall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 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fs_initcall_sync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5s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rootfs_initcall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rootfs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device_initcall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device_initcall_sync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6s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late_initcall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7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late_initcall_sync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      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define_initcall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7s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38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kthreadd</a:t>
            </a:r>
            <a:r>
              <a:rPr lang="zh-CN" altLang="en-US" dirty="0" smtClean="0"/>
              <a:t>内核线程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24100" y="1690688"/>
            <a:ext cx="7543800" cy="507831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(;;) 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set_current_state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TASK_INTERRUPTIBLE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list_empty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(&amp;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kthread_create_list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schedule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__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set_current_state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TASK_RUNNING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spin_lock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(&amp;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kthread_create_lock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(!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list_empty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(&amp;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kthread_create_list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)) 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kthread_create_info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create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create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list_entry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kthread_create_list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next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           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kthread_create_info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list);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list_del_init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(&amp;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create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list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spin_unlock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(&amp;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kthread_create_lock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create_kthread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create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22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DBAA-CF2F-45C9-8CB3-EE11AA78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进程调度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B9F1-67F9-4651-9D51-A3F45E8E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进程三巨头</a:t>
            </a:r>
            <a:endParaRPr lang="en-US" altLang="zh-CN" dirty="0" smtClean="0"/>
          </a:p>
          <a:p>
            <a:r>
              <a:rPr lang="zh-CN" altLang="en-US" b="1" dirty="0" smtClean="0"/>
              <a:t>进程调度</a:t>
            </a:r>
            <a:endParaRPr lang="en-US" altLang="zh-CN" b="1" dirty="0" smtClean="0"/>
          </a:p>
          <a:p>
            <a:r>
              <a:rPr lang="zh-CN" altLang="en-US" dirty="0"/>
              <a:t>进程优先级</a:t>
            </a:r>
            <a:endParaRPr lang="en-US" altLang="zh-CN" dirty="0"/>
          </a:p>
          <a:p>
            <a:endParaRPr lang="en-US" altLang="zh-CN" b="1" dirty="0" smtClean="0"/>
          </a:p>
        </p:txBody>
      </p:sp>
    </p:spTree>
    <p:extLst>
      <p:ext uri="{BB962C8B-B14F-4D97-AF65-F5344CB8AC3E}">
        <p14:creationId xmlns:p14="http://schemas.microsoft.com/office/powerpoint/2010/main" val="358141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rq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2108200" cy="4351338"/>
          </a:xfrm>
        </p:spPr>
        <p:txBody>
          <a:bodyPr/>
          <a:lstStyle/>
          <a:p>
            <a:r>
              <a:rPr lang="en-US" altLang="zh-CN" dirty="0" err="1" smtClean="0"/>
              <a:t>runqueues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cpu</a:t>
            </a:r>
            <a:r>
              <a:rPr lang="en-US" altLang="zh-CN" dirty="0" smtClean="0"/>
              <a:t>]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477122"/>
              </p:ext>
            </p:extLst>
          </p:nvPr>
        </p:nvGraphicFramePr>
        <p:xfrm>
          <a:off x="2818551" y="2184746"/>
          <a:ext cx="8535249" cy="381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17149">
                  <a:extLst>
                    <a:ext uri="{9D8B030D-6E8A-4147-A177-3AD203B41FA5}">
                      <a16:colId xmlns:a16="http://schemas.microsoft.com/office/drawing/2014/main" val="2128462791"/>
                    </a:ext>
                  </a:extLst>
                </a:gridCol>
                <a:gridCol w="2314888">
                  <a:extLst>
                    <a:ext uri="{9D8B030D-6E8A-4147-A177-3AD203B41FA5}">
                      <a16:colId xmlns:a16="http://schemas.microsoft.com/office/drawing/2014/main" val="1934091297"/>
                    </a:ext>
                  </a:extLst>
                </a:gridCol>
                <a:gridCol w="4003212">
                  <a:extLst>
                    <a:ext uri="{9D8B030D-6E8A-4147-A177-3AD203B41FA5}">
                      <a16:colId xmlns:a16="http://schemas.microsoft.com/office/drawing/2014/main" val="2048976411"/>
                    </a:ext>
                  </a:extLst>
                </a:gridCol>
              </a:tblGrid>
              <a:tr h="288131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 dirty="0">
                          <a:effectLst/>
                        </a:rPr>
                        <a:t>字段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类型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描述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3655756"/>
                  </a:ext>
                </a:extLst>
              </a:tr>
              <a:tr h="288131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nr_running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 dirty="0">
                          <a:effectLst/>
                        </a:rPr>
                        <a:t>unsigned </a:t>
                      </a:r>
                      <a:r>
                        <a:rPr lang="en-US" sz="2000" kern="0" spc="-25" dirty="0" err="1">
                          <a:effectLst/>
                        </a:rPr>
                        <a:t>int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TASK_RUNNING</a:t>
                      </a:r>
                      <a:r>
                        <a:rPr lang="zh-CN" sz="2000" kern="0" spc="-25">
                          <a:effectLst/>
                        </a:rPr>
                        <a:t>状态的进程数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4393677"/>
                  </a:ext>
                </a:extLst>
              </a:tr>
              <a:tr h="288131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cfs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 dirty="0" err="1">
                          <a:effectLst/>
                        </a:rPr>
                        <a:t>cfs_rq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完全公平调度</a:t>
                      </a:r>
                      <a:r>
                        <a:rPr lang="en-US" sz="2000" kern="0" spc="-25">
                          <a:effectLst/>
                        </a:rPr>
                        <a:t>rq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9134283"/>
                  </a:ext>
                </a:extLst>
              </a:tr>
              <a:tr h="288131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rt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rt_rq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 dirty="0">
                          <a:effectLst/>
                        </a:rPr>
                        <a:t>实时调度</a:t>
                      </a:r>
                      <a:r>
                        <a:rPr lang="en-US" sz="2000" kern="0" spc="-25" dirty="0" err="1">
                          <a:effectLst/>
                        </a:rPr>
                        <a:t>rq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8897307"/>
                  </a:ext>
                </a:extLst>
              </a:tr>
              <a:tr h="288131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 dirty="0" err="1">
                          <a:effectLst/>
                        </a:rPr>
                        <a:t>curr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task_struct *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 dirty="0">
                          <a:effectLst/>
                        </a:rPr>
                        <a:t>当前执行的进程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8563335"/>
                  </a:ext>
                </a:extLst>
              </a:tr>
              <a:tr h="288131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idle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task_struct *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idle</a:t>
                      </a:r>
                      <a:r>
                        <a:rPr lang="zh-CN" sz="2000" kern="0" spc="-25">
                          <a:effectLst/>
                        </a:rPr>
                        <a:t>进程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9631771"/>
                  </a:ext>
                </a:extLst>
              </a:tr>
              <a:tr h="288131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stop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task_struct *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stop</a:t>
                      </a:r>
                      <a:r>
                        <a:rPr lang="zh-CN" sz="2000" kern="0" spc="-25">
                          <a:effectLst/>
                        </a:rPr>
                        <a:t>进程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0733310"/>
                  </a:ext>
                </a:extLst>
              </a:tr>
              <a:tr h="288131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clock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u64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CPU</a:t>
                      </a:r>
                      <a:r>
                        <a:rPr lang="zh-CN" sz="2000" kern="0" spc="-25">
                          <a:effectLst/>
                        </a:rPr>
                        <a:t>累计运行的时间，单位为纳秒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0680363"/>
                  </a:ext>
                </a:extLst>
              </a:tr>
              <a:tr h="288131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 dirty="0" err="1">
                          <a:effectLst/>
                        </a:rPr>
                        <a:t>clock_task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 dirty="0">
                          <a:effectLst/>
                        </a:rPr>
                        <a:t>u64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 dirty="0">
                          <a:effectLst/>
                        </a:rPr>
                        <a:t>进程累计占用</a:t>
                      </a:r>
                      <a:r>
                        <a:rPr lang="en-US" sz="2000" kern="0" spc="-25" dirty="0">
                          <a:effectLst/>
                        </a:rPr>
                        <a:t>CPU</a:t>
                      </a:r>
                      <a:r>
                        <a:rPr lang="zh-CN" sz="2000" kern="0" spc="-25" dirty="0">
                          <a:effectLst/>
                        </a:rPr>
                        <a:t>的时间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1924665"/>
                  </a:ext>
                </a:extLst>
              </a:tr>
              <a:tr h="288131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 dirty="0" err="1">
                          <a:effectLst/>
                        </a:rPr>
                        <a:t>cpu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int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 dirty="0">
                          <a:effectLst/>
                        </a:rPr>
                        <a:t>对应的</a:t>
                      </a:r>
                      <a:r>
                        <a:rPr lang="en-US" sz="2000" kern="0" spc="-25" dirty="0">
                          <a:effectLst/>
                        </a:rPr>
                        <a:t>CPU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2729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219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cfs_rq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421467" cy="4351338"/>
          </a:xfrm>
        </p:spPr>
        <p:txBody>
          <a:bodyPr/>
          <a:lstStyle/>
          <a:p>
            <a:r>
              <a:rPr lang="en-US" altLang="zh-CN" dirty="0"/>
              <a:t>Completely Fair </a:t>
            </a:r>
            <a:r>
              <a:rPr lang="en-US" altLang="zh-CN" dirty="0" smtClean="0"/>
              <a:t>Scheduler</a:t>
            </a:r>
          </a:p>
          <a:p>
            <a:r>
              <a:rPr lang="en-US" altLang="zh-CN" dirty="0" smtClean="0"/>
              <a:t>task_struct.se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54421"/>
              </p:ext>
            </p:extLst>
          </p:nvPr>
        </p:nvGraphicFramePr>
        <p:xfrm>
          <a:off x="3411219" y="2286794"/>
          <a:ext cx="7519248" cy="3429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3228">
                  <a:extLst>
                    <a:ext uri="{9D8B030D-6E8A-4147-A177-3AD203B41FA5}">
                      <a16:colId xmlns:a16="http://schemas.microsoft.com/office/drawing/2014/main" val="625879968"/>
                    </a:ext>
                  </a:extLst>
                </a:gridCol>
                <a:gridCol w="2039333">
                  <a:extLst>
                    <a:ext uri="{9D8B030D-6E8A-4147-A177-3AD203B41FA5}">
                      <a16:colId xmlns:a16="http://schemas.microsoft.com/office/drawing/2014/main" val="807931019"/>
                    </a:ext>
                  </a:extLst>
                </a:gridCol>
                <a:gridCol w="3526687">
                  <a:extLst>
                    <a:ext uri="{9D8B030D-6E8A-4147-A177-3AD203B41FA5}">
                      <a16:colId xmlns:a16="http://schemas.microsoft.com/office/drawing/2014/main" val="3353683620"/>
                    </a:ext>
                  </a:extLst>
                </a:gridCol>
              </a:tblGrid>
              <a:tr h="313491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字段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类型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描述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9447167"/>
                  </a:ext>
                </a:extLst>
              </a:tr>
              <a:tr h="313491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nr_running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unsigned int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TASK_RUNNING</a:t>
                      </a:r>
                      <a:r>
                        <a:rPr lang="zh-CN" sz="2000" kern="0" spc="-25">
                          <a:effectLst/>
                        </a:rPr>
                        <a:t>状态的进程数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8657619"/>
                  </a:ext>
                </a:extLst>
              </a:tr>
              <a:tr h="313491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min_vruntime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u64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9336061"/>
                  </a:ext>
                </a:extLst>
              </a:tr>
              <a:tr h="651444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 dirty="0" err="1">
                          <a:effectLst/>
                        </a:rPr>
                        <a:t>tasks_timeline</a:t>
                      </a:r>
                      <a:r>
                        <a:rPr lang="en-US" sz="2000" kern="0" spc="-25" dirty="0">
                          <a:effectLst/>
                        </a:rPr>
                        <a:t>.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0" spc="-25" dirty="0" err="1">
                          <a:effectLst/>
                        </a:rPr>
                        <a:t>rb_root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rb_root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sched_entity</a:t>
                      </a:r>
                      <a:r>
                        <a:rPr lang="zh-CN" sz="2000" kern="0" spc="-25">
                          <a:effectLst/>
                        </a:rPr>
                        <a:t>对象组成的红黑树的根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5462088"/>
                  </a:ext>
                </a:extLst>
              </a:tr>
              <a:tr h="651444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tasks_timeline.</a:t>
                      </a:r>
                      <a:r>
                        <a:rPr lang="en-US" sz="2000" kern="100">
                          <a:effectLst/>
                        </a:rPr>
                        <a:t> </a:t>
                      </a:r>
                      <a:r>
                        <a:rPr lang="en-US" sz="2000" kern="0" spc="-25">
                          <a:effectLst/>
                        </a:rPr>
                        <a:t>rb_leftmost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rb_node *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红黑树最左边的叶子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6853950"/>
                  </a:ext>
                </a:extLst>
              </a:tr>
              <a:tr h="651444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curr</a:t>
                      </a:r>
                      <a:endParaRPr lang="zh-CN" sz="2000" kern="100">
                        <a:effectLst/>
                      </a:endParaRPr>
                    </a:p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next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sched_entity *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 dirty="0">
                          <a:effectLst/>
                        </a:rPr>
                        <a:t>当前</a:t>
                      </a:r>
                      <a:r>
                        <a:rPr lang="en-US" sz="2000" kern="0" spc="-25" dirty="0">
                          <a:effectLst/>
                        </a:rPr>
                        <a:t>/</a:t>
                      </a:r>
                      <a:r>
                        <a:rPr lang="zh-CN" sz="2000" kern="0" spc="-25" dirty="0">
                          <a:effectLst/>
                        </a:rPr>
                        <a:t>下一个</a:t>
                      </a:r>
                      <a:r>
                        <a:rPr lang="en-US" sz="2000" kern="0" spc="-25" dirty="0" err="1">
                          <a:effectLst/>
                        </a:rPr>
                        <a:t>sched_entity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6601415"/>
                  </a:ext>
                </a:extLst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>
            <a:off x="3149600" y="3412067"/>
            <a:ext cx="261619" cy="347133"/>
          </a:xfrm>
          <a:prstGeom prst="straightConnector1">
            <a:avLst/>
          </a:prstGeom>
          <a:ln w="127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924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sched_entity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549400" cy="4351338"/>
          </a:xfrm>
        </p:spPr>
        <p:txBody>
          <a:bodyPr/>
          <a:lstStyle/>
          <a:p>
            <a:r>
              <a:rPr lang="en-US" altLang="zh-CN" dirty="0" smtClean="0"/>
              <a:t>se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713342"/>
              </p:ext>
            </p:extLst>
          </p:nvPr>
        </p:nvGraphicFramePr>
        <p:xfrm>
          <a:off x="2158153" y="2203715"/>
          <a:ext cx="9195647" cy="304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22098">
                  <a:extLst>
                    <a:ext uri="{9D8B030D-6E8A-4147-A177-3AD203B41FA5}">
                      <a16:colId xmlns:a16="http://schemas.microsoft.com/office/drawing/2014/main" val="2524878606"/>
                    </a:ext>
                  </a:extLst>
                </a:gridCol>
                <a:gridCol w="1464235">
                  <a:extLst>
                    <a:ext uri="{9D8B030D-6E8A-4147-A177-3AD203B41FA5}">
                      <a16:colId xmlns:a16="http://schemas.microsoft.com/office/drawing/2014/main" val="199021275"/>
                    </a:ext>
                  </a:extLst>
                </a:gridCol>
                <a:gridCol w="4909314">
                  <a:extLst>
                    <a:ext uri="{9D8B030D-6E8A-4147-A177-3AD203B41FA5}">
                      <a16:colId xmlns:a16="http://schemas.microsoft.com/office/drawing/2014/main" val="2659460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字段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类型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描述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0971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load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load_weight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2148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run_node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rb_node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将它链接到</a:t>
                      </a:r>
                      <a:r>
                        <a:rPr lang="en-US" sz="2000" kern="0" spc="-25">
                          <a:effectLst/>
                        </a:rPr>
                        <a:t>cfs_rq</a:t>
                      </a:r>
                      <a:r>
                        <a:rPr lang="zh-CN" sz="2000" kern="0" spc="-25">
                          <a:effectLst/>
                        </a:rPr>
                        <a:t>的红黑树中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4649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on_rq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unsigned int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是否在</a:t>
                      </a:r>
                      <a:r>
                        <a:rPr lang="en-US" sz="2000" kern="0" spc="-25">
                          <a:effectLst/>
                        </a:rPr>
                        <a:t>rq</a:t>
                      </a:r>
                      <a:r>
                        <a:rPr lang="zh-CN" sz="2000" kern="0" spc="-25">
                          <a:effectLst/>
                        </a:rPr>
                        <a:t>上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3775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exec_start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u64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上次更新时的时间，实际时间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2728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sum_exec_runtime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u64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总共执行的时间，实际时间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8540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 dirty="0" err="1">
                          <a:solidFill>
                            <a:srgbClr val="FF0000"/>
                          </a:solidFill>
                          <a:effectLst/>
                        </a:rPr>
                        <a:t>vruntime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u64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virtual runtime</a:t>
                      </a:r>
                      <a:r>
                        <a:rPr lang="zh-CN" sz="2000" kern="0" spc="-25">
                          <a:effectLst/>
                        </a:rPr>
                        <a:t>，虚拟时间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6333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prev_sum_exec_runtime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u64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 dirty="0">
                          <a:effectLst/>
                        </a:rPr>
                        <a:t>被调度执行时的总执行时间，实际时间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2171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9380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vruntime</a:t>
            </a:r>
            <a:r>
              <a:rPr lang="zh-CN" altLang="en-US" dirty="0" smtClean="0"/>
              <a:t>转换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439333" cy="4351338"/>
          </a:xfrm>
        </p:spPr>
        <p:txBody>
          <a:bodyPr/>
          <a:lstStyle/>
          <a:p>
            <a:r>
              <a:rPr lang="en-US" altLang="zh-CN" dirty="0" smtClean="0"/>
              <a:t>weight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840566" y="2305719"/>
            <a:ext cx="8729133" cy="286232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sched_prio_to_weight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40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] = 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/* -20 */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88761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71755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56483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46273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36291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/* -15 */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29154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23254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18705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14949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11916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/* -10 */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9548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7620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6100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4904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3906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/*  -5 */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3121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2501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1991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1586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1277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/*   0 */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1024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820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655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526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423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/*   5 */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335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272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215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172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137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/*  10 */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110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87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70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56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45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6A9955"/>
                </a:solidFill>
                <a:latin typeface="Consolas" panose="020B0609020204030204" pitchFamily="49" charset="0"/>
              </a:rPr>
              <a:t>/*  15 */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36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29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23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      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15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40566" y="5513741"/>
            <a:ext cx="39917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delta *= </a:t>
            </a:r>
            <a:r>
              <a:rPr lang="en-US" altLang="zh-CN" b="1" kern="0" spc="-25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NICE_0_LOAD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/(se-&gt;</a:t>
            </a:r>
            <a:r>
              <a:rPr lang="en-US" altLang="zh-CN" kern="0" spc="-25" dirty="0" err="1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load.weight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6496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task_tick_fair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972733" cy="4351338"/>
          </a:xfrm>
        </p:spPr>
        <p:txBody>
          <a:bodyPr/>
          <a:lstStyle/>
          <a:p>
            <a:r>
              <a:rPr lang="zh-CN" altLang="en-US" dirty="0" smtClean="0"/>
              <a:t>时钟中断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963333" y="1600637"/>
            <a:ext cx="9000068" cy="480131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 err="1" smtClean="0">
                <a:solidFill>
                  <a:srgbClr val="DCDCAA"/>
                </a:solidFill>
                <a:latin typeface="Consolas" panose="020B0609020204030204" pitchFamily="49" charset="0"/>
              </a:rPr>
              <a:t>check_preempt_tick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 smtClean="0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cfs_rq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cfs_rq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sched_entity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curr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ideal_runtime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sched_slice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cfs_rq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curr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delta_exec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curr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sum_exec_runtime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-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curr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prev_sum_exec_runtime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delta_exec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&gt;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ideal_runtime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resched_curr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rq_of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cfs_rq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se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pick_first_entity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cfs_rq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delta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curr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vruntime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- 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se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vruntime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delta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&lt;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delta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&gt;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ideal_runtime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resched_curr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rq_of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cfs_rq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63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rt_rq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785620" cy="4351338"/>
          </a:xfrm>
        </p:spPr>
        <p:txBody>
          <a:bodyPr/>
          <a:lstStyle/>
          <a:p>
            <a:r>
              <a:rPr lang="en-US" altLang="zh-CN" dirty="0" smtClean="0"/>
              <a:t>Real Time</a:t>
            </a:r>
          </a:p>
          <a:p>
            <a:r>
              <a:rPr lang="en-US" altLang="zh-CN" dirty="0" err="1" smtClean="0"/>
              <a:t>t_s</a:t>
            </a:r>
            <a:r>
              <a:rPr lang="en-US" altLang="zh-CN" dirty="0" smtClean="0"/>
              <a:t>-&gt;</a:t>
            </a:r>
            <a:r>
              <a:rPr lang="en-US" altLang="zh-CN" dirty="0" err="1" smtClean="0"/>
              <a:t>rt</a:t>
            </a:r>
            <a:endParaRPr lang="en-US" altLang="zh-CN" dirty="0" smtClean="0"/>
          </a:p>
          <a:p>
            <a:r>
              <a:rPr lang="en-US" altLang="zh-CN" dirty="0" smtClean="0"/>
              <a:t>0-99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171867"/>
              </p:ext>
            </p:extLst>
          </p:nvPr>
        </p:nvGraphicFramePr>
        <p:xfrm>
          <a:off x="2623820" y="1825625"/>
          <a:ext cx="7959513" cy="28757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67593">
                  <a:extLst>
                    <a:ext uri="{9D8B030D-6E8A-4147-A177-3AD203B41FA5}">
                      <a16:colId xmlns:a16="http://schemas.microsoft.com/office/drawing/2014/main" val="1199584385"/>
                    </a:ext>
                  </a:extLst>
                </a:gridCol>
                <a:gridCol w="2158740">
                  <a:extLst>
                    <a:ext uri="{9D8B030D-6E8A-4147-A177-3AD203B41FA5}">
                      <a16:colId xmlns:a16="http://schemas.microsoft.com/office/drawing/2014/main" val="1119639183"/>
                    </a:ext>
                  </a:extLst>
                </a:gridCol>
                <a:gridCol w="3733180">
                  <a:extLst>
                    <a:ext uri="{9D8B030D-6E8A-4147-A177-3AD203B41FA5}">
                      <a16:colId xmlns:a16="http://schemas.microsoft.com/office/drawing/2014/main" val="3997430328"/>
                    </a:ext>
                  </a:extLst>
                </a:gridCol>
              </a:tblGrid>
              <a:tr h="410822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字段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类型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描述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99249"/>
                  </a:ext>
                </a:extLst>
              </a:tr>
              <a:tr h="410822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active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rt_prio_array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priority array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9587795"/>
                  </a:ext>
                </a:extLst>
              </a:tr>
              <a:tr h="410822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highest_prio.curr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int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rt</a:t>
                      </a:r>
                      <a:r>
                        <a:rPr lang="zh-CN" sz="2000" kern="0" spc="-25">
                          <a:effectLst/>
                        </a:rPr>
                        <a:t>进程的最高优先级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0319575"/>
                  </a:ext>
                </a:extLst>
              </a:tr>
              <a:tr h="410822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highest_prio.next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int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rt</a:t>
                      </a:r>
                      <a:r>
                        <a:rPr lang="zh-CN" sz="2000" kern="0" spc="-25">
                          <a:effectLst/>
                        </a:rPr>
                        <a:t>进程的次高优先级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0366088"/>
                  </a:ext>
                </a:extLst>
              </a:tr>
              <a:tr h="410822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rt_throttled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int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 dirty="0" err="1">
                          <a:effectLst/>
                        </a:rPr>
                        <a:t>rt</a:t>
                      </a:r>
                      <a:r>
                        <a:rPr lang="zh-CN" sz="2000" kern="0" spc="-25" dirty="0">
                          <a:effectLst/>
                        </a:rPr>
                        <a:t>进程被禁止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6534275"/>
                  </a:ext>
                </a:extLst>
              </a:tr>
              <a:tr h="410822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 dirty="0" err="1">
                          <a:effectLst/>
                        </a:rPr>
                        <a:t>rt_time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u64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>
                          <a:effectLst/>
                        </a:rPr>
                        <a:t>实时进程累计执行时间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1596362"/>
                  </a:ext>
                </a:extLst>
              </a:tr>
              <a:tr h="410822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 dirty="0" err="1">
                          <a:effectLst/>
                        </a:rPr>
                        <a:t>rt_runtime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-25">
                          <a:effectLst/>
                        </a:rPr>
                        <a:t>u64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0" spc="-25" dirty="0">
                          <a:effectLst/>
                        </a:rPr>
                        <a:t>实时进程最大执行时间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8075089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623820" y="4836316"/>
            <a:ext cx="6096000" cy="120032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>
            <a:spAutoFit/>
          </a:bodyPr>
          <a:lstStyle/>
          <a:p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rt_prio_array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DECLARE_BITMAP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4EC9B0"/>
                </a:solidFill>
                <a:latin typeface="Consolas" panose="020B0609020204030204" pitchFamily="49" charset="0"/>
              </a:rPr>
              <a:t>bitmap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MAX_RT_PRIO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+1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 err="1" smtClean="0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list_head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queue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MAX_RT_PRIO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2175933" y="3115733"/>
            <a:ext cx="990600" cy="248920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871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sched_rt_entity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868852"/>
              </p:ext>
            </p:extLst>
          </p:nvPr>
        </p:nvGraphicFramePr>
        <p:xfrm>
          <a:off x="2397026" y="1690688"/>
          <a:ext cx="7397948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0" name="Visio" r:id="rId3" imgW="3612093" imgH="1897474" progId="Visio.Drawing.15">
                  <p:embed/>
                </p:oleObj>
              </mc:Choice>
              <mc:Fallback>
                <p:oleObj name="Visio" r:id="rId3" imgW="3612093" imgH="1897474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026" y="1690688"/>
                        <a:ext cx="7397948" cy="3886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8120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task_tick_rt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514600" cy="4351338"/>
          </a:xfrm>
        </p:spPr>
        <p:txBody>
          <a:bodyPr/>
          <a:lstStyle/>
          <a:p>
            <a:r>
              <a:rPr lang="zh-CN" altLang="en-US" dirty="0" smtClean="0"/>
              <a:t>时钟中断</a:t>
            </a:r>
            <a:endParaRPr lang="en-US" altLang="zh-CN" dirty="0" smtClean="0"/>
          </a:p>
          <a:p>
            <a:r>
              <a:rPr lang="en-US" altLang="zh-CN" dirty="0" smtClean="0"/>
              <a:t>SCHED_RR SCHED_FIFO</a:t>
            </a:r>
          </a:p>
          <a:p>
            <a:r>
              <a:rPr lang="en-US" altLang="zh-CN" dirty="0" err="1" smtClean="0"/>
              <a:t>sched_rr_timeslice</a:t>
            </a:r>
            <a:r>
              <a:rPr lang="en-US" altLang="zh-CN" dirty="0" smtClean="0"/>
              <a:t>, </a:t>
            </a:r>
            <a:r>
              <a:rPr lang="en-US" altLang="zh-CN" dirty="0"/>
              <a:t>100 * HZ / </a:t>
            </a:r>
            <a:r>
              <a:rPr lang="en-US" altLang="zh-CN" dirty="0" smtClean="0"/>
              <a:t>1000, </a:t>
            </a:r>
            <a:r>
              <a:rPr lang="en-US" altLang="zh-CN" dirty="0"/>
              <a:t>100ms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496733" y="1690688"/>
            <a:ext cx="8034867" cy="507831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 err="1" smtClean="0">
                <a:solidFill>
                  <a:srgbClr val="DCDCAA"/>
                </a:solidFill>
                <a:latin typeface="Consolas" panose="020B0609020204030204" pitchFamily="49" charset="0"/>
              </a:rPr>
              <a:t>task_tick_rt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 smtClean="0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rq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rq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EC9B0"/>
                </a:solidFill>
                <a:latin typeface="Consolas" panose="020B0609020204030204" pitchFamily="49" charset="0"/>
              </a:rPr>
              <a:t>task_struct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*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queued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update_curr_rt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rq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policy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SCHED_RR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(--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rt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time_slice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rt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time_slice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sched_rr_timeslice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569CD6"/>
                </a:solidFill>
                <a:latin typeface="Consolas" panose="020B0609020204030204" pitchFamily="49" charset="0"/>
              </a:rPr>
              <a:t>for_each_sched_rt_entity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rt_se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rt_se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run_list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prev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!= 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rt_se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run_list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next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requeue_task_rt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rq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resched_curr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rq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 smtClean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723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DBAA-CF2F-45C9-8CB3-EE11AA78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进程调度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B9F1-67F9-4651-9D51-A3F45E8E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进程三巨头</a:t>
            </a:r>
            <a:endParaRPr lang="en-US" altLang="zh-CN" dirty="0" smtClean="0"/>
          </a:p>
          <a:p>
            <a:r>
              <a:rPr lang="zh-CN" altLang="en-US" dirty="0" smtClean="0"/>
              <a:t>进程调度</a:t>
            </a:r>
            <a:endParaRPr lang="en-US" altLang="zh-CN" dirty="0" smtClean="0"/>
          </a:p>
          <a:p>
            <a:r>
              <a:rPr lang="zh-CN" altLang="en-US" b="1" dirty="0"/>
              <a:t>进程优先级</a:t>
            </a:r>
            <a:endParaRPr lang="en-US" altLang="zh-CN" b="1" dirty="0"/>
          </a:p>
          <a:p>
            <a:endParaRPr lang="en-US" altLang="zh-CN" b="1" dirty="0" smtClean="0"/>
          </a:p>
        </p:txBody>
      </p:sp>
    </p:spTree>
    <p:extLst>
      <p:ext uri="{BB962C8B-B14F-4D97-AF65-F5344CB8AC3E}">
        <p14:creationId xmlns:p14="http://schemas.microsoft.com/office/powerpoint/2010/main" val="660831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进程优先级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938867" cy="4351338"/>
          </a:xfrm>
        </p:spPr>
        <p:txBody>
          <a:bodyPr/>
          <a:lstStyle/>
          <a:p>
            <a:r>
              <a:rPr lang="zh-CN" altLang="en-US" dirty="0" smtClean="0"/>
              <a:t>实时进程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普通进程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最后期限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777067" y="1825625"/>
            <a:ext cx="739140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0" spc="-25" dirty="0" smtClean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p-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</a:t>
            </a:r>
            <a:r>
              <a:rPr lang="en-US" altLang="zh-CN" kern="0" spc="-25" dirty="0" err="1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rt_priority</a:t>
            </a:r>
            <a:r>
              <a:rPr lang="zh-CN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的可选范围为</a:t>
            </a:r>
            <a:r>
              <a:rPr lang="en-US" altLang="zh-CN" kern="0" spc="-25" dirty="0" smtClean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[0, 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99]</a:t>
            </a:r>
            <a:endParaRPr lang="zh-CN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0" spc="-25" dirty="0" smtClean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p-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</a:t>
            </a:r>
            <a:r>
              <a:rPr lang="en-US" altLang="zh-CN" kern="0" spc="-25" dirty="0" err="1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normal_prio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99 - p-&gt;</a:t>
            </a:r>
            <a:r>
              <a:rPr lang="en-US" altLang="zh-CN" kern="0" spc="-25" dirty="0" err="1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rt_priority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  <a:endParaRPr lang="zh-CN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spc="-25" dirty="0" smtClean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p-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</a:t>
            </a:r>
            <a:r>
              <a:rPr lang="en-US" altLang="zh-CN" kern="0" spc="-25" dirty="0" err="1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prio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kern="0" spc="-25" dirty="0" err="1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rt_mutex_getprio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(p</a:t>
            </a:r>
            <a:r>
              <a:rPr lang="en-US" altLang="zh-CN" kern="0" spc="-25" dirty="0" smtClean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); //</a:t>
            </a:r>
            <a:r>
              <a:rPr lang="en-US" altLang="zh-CN" dirty="0" smtClean="0">
                <a:solidFill>
                  <a:srgbClr val="4EC9B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 smtClean="0">
                <a:solidFill>
                  <a:srgbClr val="4EC9B0"/>
                </a:solidFill>
                <a:latin typeface="Consolas" panose="020B0609020204030204" pitchFamily="49" charset="0"/>
              </a:rPr>
              <a:t>rt_prio_array</a:t>
            </a:r>
            <a:r>
              <a:rPr lang="zh-CN" altLang="en-US" dirty="0" smtClean="0">
                <a:solidFill>
                  <a:srgbClr val="4EC9B0"/>
                </a:solidFill>
                <a:latin typeface="Consolas" panose="020B0609020204030204" pitchFamily="49" charset="0"/>
              </a:rPr>
              <a:t>的</a:t>
            </a:r>
            <a:r>
              <a:rPr lang="en-US" altLang="zh-CN" dirty="0" smtClean="0">
                <a:solidFill>
                  <a:srgbClr val="4EC9B0"/>
                </a:solidFill>
                <a:latin typeface="Consolas" panose="020B0609020204030204" pitchFamily="49" charset="0"/>
              </a:rPr>
              <a:t>queue</a:t>
            </a:r>
            <a:r>
              <a:rPr lang="zh-CN" altLang="en-US" dirty="0" smtClean="0">
                <a:solidFill>
                  <a:srgbClr val="4EC9B0"/>
                </a:solidFill>
                <a:latin typeface="Consolas" panose="020B0609020204030204" pitchFamily="49" charset="0"/>
              </a:rPr>
              <a:t>数组的下标</a:t>
            </a:r>
            <a:endParaRPr lang="en-US" altLang="zh-CN" kern="0" spc="-25" dirty="0" smtClean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zh-CN" dirty="0" smtClean="0"/>
              <a:t>不关心</a:t>
            </a:r>
            <a:r>
              <a:rPr lang="en-US" altLang="zh-CN" dirty="0" err="1"/>
              <a:t>static_prio</a:t>
            </a:r>
            <a:r>
              <a:rPr lang="zh-CN" altLang="zh-CN" dirty="0"/>
              <a:t>的值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777067" y="3369978"/>
            <a:ext cx="6096000" cy="14080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0" spc="-25" dirty="0" smtClean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p-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</a:t>
            </a:r>
            <a:r>
              <a:rPr lang="en-US" altLang="zh-CN" kern="0" spc="-25" dirty="0" err="1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rt_priority</a:t>
            </a:r>
            <a:r>
              <a:rPr lang="zh-CN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等于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endParaRPr lang="zh-CN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0" spc="-25" dirty="0" smtClean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p-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</a:t>
            </a:r>
            <a:r>
              <a:rPr lang="en-US" altLang="zh-CN" kern="0" spc="-25" dirty="0" err="1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static_prio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MAX_RT_PRIO + 20 + nice;</a:t>
            </a:r>
            <a:endParaRPr lang="zh-CN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0" spc="-25" dirty="0" smtClean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p-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</a:t>
            </a:r>
            <a:r>
              <a:rPr lang="en-US" altLang="zh-CN" kern="0" spc="-25" dirty="0" err="1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normal_prio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p-&gt;</a:t>
            </a:r>
            <a:r>
              <a:rPr lang="en-US" altLang="zh-CN" kern="0" spc="-25" dirty="0" err="1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static_prio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  <a:endParaRPr lang="zh-CN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spc="-25" dirty="0" smtClean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p-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</a:t>
            </a:r>
            <a:r>
              <a:rPr lang="en-US" altLang="zh-CN" kern="0" spc="-25" dirty="0" err="1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prio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kern="0" spc="-25" dirty="0" err="1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rt_mutex_getprio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(p);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777067" y="4983581"/>
            <a:ext cx="1415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p-&gt;</a:t>
            </a:r>
            <a:r>
              <a:rPr lang="en-US" altLang="zh-CN" kern="0" spc="-25" dirty="0" err="1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prio</a:t>
            </a:r>
            <a:r>
              <a:rPr lang="zh-CN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小于</a:t>
            </a:r>
            <a:r>
              <a:rPr lang="en-US" altLang="zh-CN" kern="0" spc="-25" dirty="0"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8465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67992" y="2583809"/>
            <a:ext cx="38505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dirty="0" smtClean="0"/>
              <a:t>Thanks</a:t>
            </a:r>
            <a:endParaRPr lang="zh-CN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103860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4699</TotalTime>
  <Words>2095</Words>
  <Application>Microsoft Office PowerPoint</Application>
  <PresentationFormat>宽屏</PresentationFormat>
  <Paragraphs>256</Paragraphs>
  <Slides>17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Microsoft YaHei Light</vt:lpstr>
      <vt:lpstr>等线</vt:lpstr>
      <vt:lpstr>等线 Light</vt:lpstr>
      <vt:lpstr>宋体</vt:lpstr>
      <vt:lpstr>微软雅黑</vt:lpstr>
      <vt:lpstr>Arial</vt:lpstr>
      <vt:lpstr>Calibri</vt:lpstr>
      <vt:lpstr>Consolas</vt:lpstr>
      <vt:lpstr>Times New Roman</vt:lpstr>
      <vt:lpstr>Wingdings</vt:lpstr>
      <vt:lpstr>Office 主题​​</vt:lpstr>
      <vt:lpstr>自定义设计方案</vt:lpstr>
      <vt:lpstr>Visio</vt:lpstr>
      <vt:lpstr>进程调度</vt:lpstr>
      <vt:lpstr>idle进程</vt:lpstr>
      <vt:lpstr>init进程</vt:lpstr>
      <vt:lpstr>do_initcalls</vt:lpstr>
      <vt:lpstr>kthreadd内核线程</vt:lpstr>
      <vt:lpstr>进程调度</vt:lpstr>
      <vt:lpstr>rq</vt:lpstr>
      <vt:lpstr>cfs_rq</vt:lpstr>
      <vt:lpstr>sched_entity</vt:lpstr>
      <vt:lpstr>vruntime转换</vt:lpstr>
      <vt:lpstr>task_tick_fair</vt:lpstr>
      <vt:lpstr>rt_rq</vt:lpstr>
      <vt:lpstr>sched_rt_entity</vt:lpstr>
      <vt:lpstr>task_tick_rt</vt:lpstr>
      <vt:lpstr>进程调度</vt:lpstr>
      <vt:lpstr>进程优先级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程序的执行</dc:title>
  <dc:creator>Yahuajiang(姜亚华)</dc:creator>
  <cp:lastModifiedBy>Yahua Jiang(姜亚华)</cp:lastModifiedBy>
  <cp:revision>226</cp:revision>
  <dcterms:created xsi:type="dcterms:W3CDTF">2020-12-07T02:39:13Z</dcterms:created>
  <dcterms:modified xsi:type="dcterms:W3CDTF">2021-01-25T02:39:19Z</dcterms:modified>
</cp:coreProperties>
</file>