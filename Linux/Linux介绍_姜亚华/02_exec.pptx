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6" r:id="rId14"/>
    <p:sldId id="268" r:id="rId15"/>
    <p:sldId id="269" r:id="rId16"/>
    <p:sldId id="270" r:id="rId17"/>
    <p:sldId id="271" r:id="rId18"/>
    <p:sldId id="274" r:id="rId19"/>
    <p:sldId id="272" r:id="rId20"/>
    <p:sldId id="273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3628D3-1FF9-49B5-888E-DEE94CF1FB3B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665D42-9E6F-4BED-A128-2B6A6861F4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424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0793F-0A27-41B0-9383-65FEDFC12B5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922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FDCC650-CECA-4B1D-9658-1759AEAD6A54}"/>
              </a:ext>
            </a:extLst>
          </p:cNvPr>
          <p:cNvSpPr/>
          <p:nvPr userDrawn="1"/>
        </p:nvSpPr>
        <p:spPr>
          <a:xfrm>
            <a:off x="1" y="6222075"/>
            <a:ext cx="12192000" cy="6731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  <a:alpha val="9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2941AA-249B-42C4-89A9-F5825472B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9556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Microsoft YaHei Light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C0EEF-F7E2-40DC-9E08-4AA20BD2B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52393-087C-4726-B73B-679FAA1BE9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3972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68C335-0ADD-4413-B1A5-D2A2F33C5764}" type="datetime1">
              <a:rPr lang="en-US" smtClean="0"/>
              <a:pPr/>
              <a:t>12/7/2020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A2232-4DE1-49DD-B9F3-A8AA37D17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48037"/>
            <a:ext cx="4114800" cy="365125"/>
          </a:xfrm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latin typeface="+mn-ea"/>
              </a:rPr>
              <a:t>严格保密</a:t>
            </a:r>
            <a:endParaRPr lang="en-US" dirty="0">
              <a:latin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BF627-59E4-483F-93CC-10B865D3D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48037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13FECB-28F3-472F-A191-1EA54BC2664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F5E18CA-1183-4BE8-A087-E96C0AB50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342265"/>
            <a:ext cx="1619250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直接连接符 4">
            <a:extLst>
              <a:ext uri="{FF2B5EF4-FFF2-40B4-BE49-F238E27FC236}">
                <a16:creationId xmlns:a16="http://schemas.microsoft.com/office/drawing/2014/main" id="{9EAF237E-D5DE-4673-A5E6-7A5FFB05DDA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424681"/>
            <a:ext cx="10515600" cy="0"/>
          </a:xfrm>
          <a:prstGeom prst="line">
            <a:avLst/>
          </a:prstGeom>
          <a:ln w="28575">
            <a:solidFill>
              <a:srgbClr val="1F2B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星形: 四角 9">
            <a:extLst>
              <a:ext uri="{FF2B5EF4-FFF2-40B4-BE49-F238E27FC236}">
                <a16:creationId xmlns:a16="http://schemas.microsoft.com/office/drawing/2014/main" id="{C0316A6C-F286-4B47-87F7-D8CC0C5E84EB}"/>
              </a:ext>
            </a:extLst>
          </p:cNvPr>
          <p:cNvSpPr/>
          <p:nvPr userDrawn="1"/>
        </p:nvSpPr>
        <p:spPr>
          <a:xfrm rot="19324619">
            <a:off x="10278879" y="505680"/>
            <a:ext cx="313240" cy="213947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星形: 四角 15">
            <a:extLst>
              <a:ext uri="{FF2B5EF4-FFF2-40B4-BE49-F238E27FC236}">
                <a16:creationId xmlns:a16="http://schemas.microsoft.com/office/drawing/2014/main" id="{D6DC9487-8F27-40C6-B6E6-7B92F7F956AA}"/>
              </a:ext>
            </a:extLst>
          </p:cNvPr>
          <p:cNvSpPr/>
          <p:nvPr userDrawn="1"/>
        </p:nvSpPr>
        <p:spPr>
          <a:xfrm rot="20930287">
            <a:off x="10126199" y="573919"/>
            <a:ext cx="215017" cy="161545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星形: 四角 16">
            <a:extLst>
              <a:ext uri="{FF2B5EF4-FFF2-40B4-BE49-F238E27FC236}">
                <a16:creationId xmlns:a16="http://schemas.microsoft.com/office/drawing/2014/main" id="{B3876917-0D97-4CFF-8EE2-AF5C9549276F}"/>
              </a:ext>
            </a:extLst>
          </p:cNvPr>
          <p:cNvSpPr/>
          <p:nvPr userDrawn="1"/>
        </p:nvSpPr>
        <p:spPr>
          <a:xfrm rot="12567964">
            <a:off x="10168308" y="376333"/>
            <a:ext cx="226599" cy="154770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1">
            <a:extLst>
              <a:ext uri="{FF2B5EF4-FFF2-40B4-BE49-F238E27FC236}">
                <a16:creationId xmlns:a16="http://schemas.microsoft.com/office/drawing/2014/main" id="{84736B5E-79BD-4BE4-875D-E3311D22A1F3}"/>
              </a:ext>
            </a:extLst>
          </p:cNvPr>
          <p:cNvSpPr/>
          <p:nvPr userDrawn="1"/>
        </p:nvSpPr>
        <p:spPr>
          <a:xfrm>
            <a:off x="10055918" y="591092"/>
            <a:ext cx="72057" cy="54137"/>
          </a:xfrm>
          <a:prstGeom prst="ellipse">
            <a:avLst/>
          </a:prstGeom>
          <a:solidFill>
            <a:srgbClr val="1E2CB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40297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199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DFC5D7D1-8984-4689-8EAC-485FB12515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342265"/>
            <a:ext cx="1619250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46944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179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557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602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925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302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972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906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5632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182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FDCC650-CECA-4B1D-9658-1759AEAD6A54}"/>
              </a:ext>
            </a:extLst>
          </p:cNvPr>
          <p:cNvSpPr/>
          <p:nvPr userDrawn="1"/>
        </p:nvSpPr>
        <p:spPr>
          <a:xfrm>
            <a:off x="1" y="6222075"/>
            <a:ext cx="12192000" cy="6731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  <a:alpha val="9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2941AA-249B-42C4-89A9-F5825472B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9556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Microsoft YaHei Light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C0EEF-F7E2-40DC-9E08-4AA20BD2B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52393-087C-4726-B73B-679FAA1BE9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3972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68C335-0ADD-4413-B1A5-D2A2F33C5764}" type="datetime1">
              <a:rPr lang="en-US" smtClean="0"/>
              <a:pPr/>
              <a:t>12/7/2020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A2232-4DE1-49DD-B9F3-A8AA37D17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48037"/>
            <a:ext cx="4114800" cy="365125"/>
          </a:xfrm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latin typeface="+mn-ea"/>
              </a:rPr>
              <a:t>严格保密</a:t>
            </a:r>
            <a:endParaRPr lang="en-US" dirty="0">
              <a:latin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BF627-59E4-483F-93CC-10B865D3D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48037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13FECB-28F3-472F-A191-1EA54BC2664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F5E18CA-1183-4BE8-A087-E96C0AB50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342265"/>
            <a:ext cx="1619250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直接连接符 4">
            <a:extLst>
              <a:ext uri="{FF2B5EF4-FFF2-40B4-BE49-F238E27FC236}">
                <a16:creationId xmlns:a16="http://schemas.microsoft.com/office/drawing/2014/main" id="{9EAF237E-D5DE-4673-A5E6-7A5FFB05DDA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424681"/>
            <a:ext cx="10515600" cy="0"/>
          </a:xfrm>
          <a:prstGeom prst="line">
            <a:avLst/>
          </a:prstGeom>
          <a:ln w="28575">
            <a:solidFill>
              <a:srgbClr val="1F2B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星形: 四角 9">
            <a:extLst>
              <a:ext uri="{FF2B5EF4-FFF2-40B4-BE49-F238E27FC236}">
                <a16:creationId xmlns:a16="http://schemas.microsoft.com/office/drawing/2014/main" id="{C0316A6C-F286-4B47-87F7-D8CC0C5E84EB}"/>
              </a:ext>
            </a:extLst>
          </p:cNvPr>
          <p:cNvSpPr/>
          <p:nvPr userDrawn="1"/>
        </p:nvSpPr>
        <p:spPr>
          <a:xfrm rot="19324619">
            <a:off x="10278879" y="505680"/>
            <a:ext cx="313240" cy="213947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星形: 四角 15">
            <a:extLst>
              <a:ext uri="{FF2B5EF4-FFF2-40B4-BE49-F238E27FC236}">
                <a16:creationId xmlns:a16="http://schemas.microsoft.com/office/drawing/2014/main" id="{D6DC9487-8F27-40C6-B6E6-7B92F7F956AA}"/>
              </a:ext>
            </a:extLst>
          </p:cNvPr>
          <p:cNvSpPr/>
          <p:nvPr userDrawn="1"/>
        </p:nvSpPr>
        <p:spPr>
          <a:xfrm rot="20930287">
            <a:off x="10126199" y="573919"/>
            <a:ext cx="215017" cy="161545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星形: 四角 16">
            <a:extLst>
              <a:ext uri="{FF2B5EF4-FFF2-40B4-BE49-F238E27FC236}">
                <a16:creationId xmlns:a16="http://schemas.microsoft.com/office/drawing/2014/main" id="{B3876917-0D97-4CFF-8EE2-AF5C9549276F}"/>
              </a:ext>
            </a:extLst>
          </p:cNvPr>
          <p:cNvSpPr/>
          <p:nvPr userDrawn="1"/>
        </p:nvSpPr>
        <p:spPr>
          <a:xfrm rot="12567964">
            <a:off x="10168308" y="376333"/>
            <a:ext cx="226599" cy="154770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1">
            <a:extLst>
              <a:ext uri="{FF2B5EF4-FFF2-40B4-BE49-F238E27FC236}">
                <a16:creationId xmlns:a16="http://schemas.microsoft.com/office/drawing/2014/main" id="{84736B5E-79BD-4BE4-875D-E3311D22A1F3}"/>
              </a:ext>
            </a:extLst>
          </p:cNvPr>
          <p:cNvSpPr/>
          <p:nvPr userDrawn="1"/>
        </p:nvSpPr>
        <p:spPr>
          <a:xfrm>
            <a:off x="10055918" y="591092"/>
            <a:ext cx="72057" cy="54137"/>
          </a:xfrm>
          <a:prstGeom prst="ellipse">
            <a:avLst/>
          </a:prstGeom>
          <a:solidFill>
            <a:srgbClr val="1E2CB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23727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FDCC650-CECA-4B1D-9658-1759AEAD6A54}"/>
              </a:ext>
            </a:extLst>
          </p:cNvPr>
          <p:cNvSpPr/>
          <p:nvPr userDrawn="1"/>
        </p:nvSpPr>
        <p:spPr>
          <a:xfrm>
            <a:off x="1" y="6222075"/>
            <a:ext cx="12192000" cy="6731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  <a:alpha val="9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2941AA-249B-42C4-89A9-F5825472B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9556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Microsoft YaHei Light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C0EEF-F7E2-40DC-9E08-4AA20BD2B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52393-087C-4726-B73B-679FAA1BE9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3972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68C335-0ADD-4413-B1A5-D2A2F33C5764}" type="datetime1">
              <a:rPr lang="en-US" smtClean="0"/>
              <a:pPr/>
              <a:t>12/7/2020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A2232-4DE1-49DD-B9F3-A8AA37D17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48037"/>
            <a:ext cx="4114800" cy="365125"/>
          </a:xfrm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latin typeface="+mn-ea"/>
              </a:rPr>
              <a:t>严格保密</a:t>
            </a:r>
            <a:endParaRPr lang="en-US" dirty="0">
              <a:latin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BF627-59E4-483F-93CC-10B865D3D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48037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13FECB-28F3-472F-A191-1EA54BC2664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F5E18CA-1183-4BE8-A087-E96C0AB50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342265"/>
            <a:ext cx="1619250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直接连接符 4">
            <a:extLst>
              <a:ext uri="{FF2B5EF4-FFF2-40B4-BE49-F238E27FC236}">
                <a16:creationId xmlns:a16="http://schemas.microsoft.com/office/drawing/2014/main" id="{9EAF237E-D5DE-4673-A5E6-7A5FFB05DDA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424681"/>
            <a:ext cx="10515600" cy="0"/>
          </a:xfrm>
          <a:prstGeom prst="line">
            <a:avLst/>
          </a:prstGeom>
          <a:ln w="28575">
            <a:solidFill>
              <a:srgbClr val="1F2B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星形: 四角 9">
            <a:extLst>
              <a:ext uri="{FF2B5EF4-FFF2-40B4-BE49-F238E27FC236}">
                <a16:creationId xmlns:a16="http://schemas.microsoft.com/office/drawing/2014/main" id="{C0316A6C-F286-4B47-87F7-D8CC0C5E84EB}"/>
              </a:ext>
            </a:extLst>
          </p:cNvPr>
          <p:cNvSpPr/>
          <p:nvPr userDrawn="1"/>
        </p:nvSpPr>
        <p:spPr>
          <a:xfrm rot="19324619">
            <a:off x="10278879" y="505680"/>
            <a:ext cx="313240" cy="213947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星形: 四角 15">
            <a:extLst>
              <a:ext uri="{FF2B5EF4-FFF2-40B4-BE49-F238E27FC236}">
                <a16:creationId xmlns:a16="http://schemas.microsoft.com/office/drawing/2014/main" id="{D6DC9487-8F27-40C6-B6E6-7B92F7F956AA}"/>
              </a:ext>
            </a:extLst>
          </p:cNvPr>
          <p:cNvSpPr/>
          <p:nvPr userDrawn="1"/>
        </p:nvSpPr>
        <p:spPr>
          <a:xfrm rot="20930287">
            <a:off x="10126199" y="573919"/>
            <a:ext cx="215017" cy="161545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星形: 四角 16">
            <a:extLst>
              <a:ext uri="{FF2B5EF4-FFF2-40B4-BE49-F238E27FC236}">
                <a16:creationId xmlns:a16="http://schemas.microsoft.com/office/drawing/2014/main" id="{B3876917-0D97-4CFF-8EE2-AF5C9549276F}"/>
              </a:ext>
            </a:extLst>
          </p:cNvPr>
          <p:cNvSpPr/>
          <p:nvPr userDrawn="1"/>
        </p:nvSpPr>
        <p:spPr>
          <a:xfrm rot="12567964">
            <a:off x="10168308" y="376333"/>
            <a:ext cx="226599" cy="154770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1">
            <a:extLst>
              <a:ext uri="{FF2B5EF4-FFF2-40B4-BE49-F238E27FC236}">
                <a16:creationId xmlns:a16="http://schemas.microsoft.com/office/drawing/2014/main" id="{84736B5E-79BD-4BE4-875D-E3311D22A1F3}"/>
              </a:ext>
            </a:extLst>
          </p:cNvPr>
          <p:cNvSpPr/>
          <p:nvPr userDrawn="1"/>
        </p:nvSpPr>
        <p:spPr>
          <a:xfrm>
            <a:off x="10055918" y="591092"/>
            <a:ext cx="72057" cy="54137"/>
          </a:xfrm>
          <a:prstGeom prst="ellipse">
            <a:avLst/>
          </a:prstGeom>
          <a:solidFill>
            <a:srgbClr val="1E2CB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48812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4570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8695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48869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4307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3378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0669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4544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9259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2318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1628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2289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B79B8-AE8A-4BFF-AFEA-84EF1BB3B2FA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194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73" r:id="rId13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06BD37-4C08-428F-92B6-89865318F690}" type="datetimeFigureOut">
              <a:rPr lang="zh-CN" altLang="en-US" smtClean="0"/>
              <a:t>2020/12/7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405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EDBAA-CF2F-45C9-8CB3-EE11AA788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程序的执行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EB9F1-67F9-4651-9D51-A3F45E8E8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elf</a:t>
            </a:r>
            <a:r>
              <a:rPr lang="zh-CN" altLang="en-US" dirty="0"/>
              <a:t>文件</a:t>
            </a:r>
            <a:endParaRPr lang="en-US" altLang="zh-CN" dirty="0"/>
          </a:p>
          <a:p>
            <a:r>
              <a:rPr lang="zh-CN" altLang="en-US"/>
              <a:t>加载执行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233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25758-FCD9-40CA-B2E7-5F46F0D6F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elf</a:t>
            </a:r>
            <a:r>
              <a:rPr lang="zh-CN" altLang="en-US" dirty="0"/>
              <a:t>文件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DE9E0-61CA-4DBA-A5BE-E32210ADB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目标文件，</a:t>
            </a:r>
            <a:r>
              <a:rPr lang="en-US" altLang="zh-CN" dirty="0"/>
              <a:t>Object File</a:t>
            </a:r>
          </a:p>
          <a:p>
            <a:r>
              <a:rPr lang="zh-CN" altLang="en-US" dirty="0"/>
              <a:t>可执行文件，</a:t>
            </a:r>
            <a:r>
              <a:rPr lang="en-US" altLang="zh-CN" dirty="0"/>
              <a:t>Executable</a:t>
            </a:r>
            <a:r>
              <a:rPr lang="zh-CN" altLang="en-US" dirty="0"/>
              <a:t>，</a:t>
            </a:r>
            <a:r>
              <a:rPr lang="en-US" altLang="zh-CN" dirty="0"/>
              <a:t>Bin (raw binary)</a:t>
            </a:r>
          </a:p>
          <a:p>
            <a:r>
              <a:rPr lang="zh-CN" altLang="en-US" dirty="0"/>
              <a:t>共享库，</a:t>
            </a:r>
            <a:r>
              <a:rPr lang="en-US" altLang="zh-CN" dirty="0"/>
              <a:t>Shared Library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176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A4700-4BDD-4AA9-A03F-646BEA729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示例程序</a:t>
            </a: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A9BE7ED-1367-48B1-9475-6CBA828A0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956616"/>
              </p:ext>
            </p:extLst>
          </p:nvPr>
        </p:nvGraphicFramePr>
        <p:xfrm>
          <a:off x="1264920" y="1690688"/>
          <a:ext cx="8356600" cy="478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6600">
                  <a:extLst>
                    <a:ext uri="{9D8B030D-6E8A-4147-A177-3AD203B41FA5}">
                      <a16:colId xmlns:a16="http://schemas.microsoft.com/office/drawing/2014/main" val="3125646414"/>
                    </a:ext>
                  </a:extLst>
                </a:gridCol>
              </a:tblGrid>
              <a:tr h="44792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//</a:t>
                      </a:r>
                      <a:r>
                        <a:rPr kumimoji="0" lang="en-US" altLang="zh-CN" sz="2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elf_f.c</a:t>
                      </a:r>
                      <a:endParaRPr kumimoji="0" lang="en-US" altLang="zh-CN" sz="2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#include &lt;</a:t>
                      </a:r>
                      <a:r>
                        <a:rPr kumimoji="0" lang="en-US" altLang="zh-CN" sz="2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stdio.h</a:t>
                      </a: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int</a:t>
                      </a: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init_data</a:t>
                      </a: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= 1;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int</a:t>
                      </a: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u_init_data</a:t>
                      </a: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int</a:t>
                      </a: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main(){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    </a:t>
                      </a:r>
                      <a:r>
                        <a:rPr kumimoji="0" lang="en-US" altLang="zh-CN" sz="2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u_init_data</a:t>
                      </a: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= 2;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    </a:t>
                      </a:r>
                      <a:r>
                        <a:rPr kumimoji="0" lang="en-US" altLang="zh-CN" sz="2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printf</a:t>
                      </a: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("%d\n", </a:t>
                      </a:r>
                      <a:r>
                        <a:rPr kumimoji="0" lang="en-US" altLang="zh-CN" sz="2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init_data</a:t>
                      </a: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+ </a:t>
                      </a:r>
                      <a:r>
                        <a:rPr kumimoji="0" lang="en-US" altLang="zh-CN" sz="2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u_init_data</a:t>
                      </a: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    return 0;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</a:t>
                      </a:r>
                      <a:endParaRPr kumimoji="0" lang="en-US" altLang="zh-CN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8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2650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D7965-91C0-44F2-BDFF-48F71B37F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6F98F-6AC6-4476-8FB6-2F4BBDA2E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（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</a:rPr>
              <a:t>1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）预处理，生成预编译文件：</a:t>
            </a:r>
            <a:r>
              <a:rPr lang="en-US" altLang="zh-CN" dirty="0" err="1">
                <a:solidFill>
                  <a:prstClr val="black"/>
                </a:solidFill>
                <a:latin typeface="Calibri" panose="020F0502020204030204"/>
              </a:rPr>
              <a:t>gcc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</a:rPr>
              <a:t> –E </a:t>
            </a:r>
            <a:r>
              <a:rPr lang="en-US" altLang="zh-CN" dirty="0" err="1">
                <a:solidFill>
                  <a:prstClr val="black"/>
                </a:solidFill>
                <a:latin typeface="Calibri" panose="020F0502020204030204"/>
              </a:rPr>
              <a:t>elf_f.c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</a:rPr>
              <a:t> –o </a:t>
            </a:r>
            <a:r>
              <a:rPr lang="en-US" altLang="zh-CN" dirty="0" err="1">
                <a:solidFill>
                  <a:prstClr val="black"/>
                </a:solidFill>
                <a:latin typeface="Calibri" panose="020F0502020204030204"/>
              </a:rPr>
              <a:t>elf_f.i</a:t>
            </a:r>
            <a:endParaRPr lang="en-US" altLang="zh-CN" dirty="0">
              <a:solidFill>
                <a:prstClr val="black"/>
              </a:solidFill>
              <a:latin typeface="Calibri" panose="020F0502020204030204"/>
            </a:endParaRPr>
          </a:p>
          <a:p>
            <a:pPr marL="0" lvl="0" indent="0">
              <a:buNone/>
            </a:pPr>
            <a:r>
              <a:rPr lang="en-US" altLang="zh-CN" dirty="0">
                <a:solidFill>
                  <a:prstClr val="black"/>
                </a:solidFill>
                <a:latin typeface="Calibri" panose="020F0502020204030204"/>
              </a:rPr>
              <a:t>（2）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编译，生成汇编代码（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</a:rPr>
              <a:t>.s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文件）：</a:t>
            </a:r>
            <a:r>
              <a:rPr lang="en-US" altLang="zh-CN" dirty="0" err="1">
                <a:solidFill>
                  <a:prstClr val="black"/>
                </a:solidFill>
                <a:latin typeface="Calibri" panose="020F0502020204030204"/>
              </a:rPr>
              <a:t>gcc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</a:rPr>
              <a:t> –S </a:t>
            </a:r>
            <a:r>
              <a:rPr lang="en-US" altLang="zh-CN" dirty="0" err="1">
                <a:solidFill>
                  <a:prstClr val="black"/>
                </a:solidFill>
                <a:latin typeface="Calibri" panose="020F0502020204030204"/>
              </a:rPr>
              <a:t>elf_f.i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</a:rPr>
              <a:t> –o </a:t>
            </a:r>
            <a:r>
              <a:rPr lang="en-US" altLang="zh-CN" dirty="0" err="1">
                <a:solidFill>
                  <a:prstClr val="black"/>
                </a:solidFill>
                <a:latin typeface="Calibri" panose="020F0502020204030204"/>
              </a:rPr>
              <a:t>elf_f.s</a:t>
            </a:r>
            <a:endParaRPr lang="en-US" altLang="zh-CN" dirty="0">
              <a:solidFill>
                <a:prstClr val="black"/>
              </a:solidFill>
              <a:latin typeface="Calibri" panose="020F0502020204030204"/>
            </a:endParaRPr>
          </a:p>
          <a:p>
            <a:pPr marL="0" lvl="0" indent="0">
              <a:buNone/>
            </a:pPr>
            <a:r>
              <a:rPr lang="en-US" altLang="zh-CN" dirty="0">
                <a:solidFill>
                  <a:prstClr val="black"/>
                </a:solidFill>
                <a:latin typeface="Calibri" panose="020F0502020204030204"/>
              </a:rPr>
              <a:t>（3）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汇编，生成</a:t>
            </a:r>
            <a:r>
              <a:rPr lang="zh-CN" altLang="en-US" b="1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目标文件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（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</a:rPr>
              <a:t>.o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文件）：</a:t>
            </a:r>
            <a:r>
              <a:rPr lang="en-US" altLang="zh-CN" dirty="0" err="1">
                <a:solidFill>
                  <a:prstClr val="black"/>
                </a:solidFill>
                <a:latin typeface="Calibri" panose="020F0502020204030204"/>
              </a:rPr>
              <a:t>gcc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</a:rPr>
              <a:t> –c </a:t>
            </a:r>
            <a:r>
              <a:rPr lang="en-US" altLang="zh-CN" dirty="0" err="1">
                <a:solidFill>
                  <a:prstClr val="black"/>
                </a:solidFill>
                <a:latin typeface="Calibri" panose="020F0502020204030204"/>
              </a:rPr>
              <a:t>elf_f.s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</a:rPr>
              <a:t> –o </a:t>
            </a:r>
            <a:r>
              <a:rPr lang="en-US" altLang="zh-CN" dirty="0" err="1">
                <a:solidFill>
                  <a:prstClr val="black"/>
                </a:solidFill>
                <a:latin typeface="Calibri" panose="020F0502020204030204"/>
              </a:rPr>
              <a:t>elf_f.o</a:t>
            </a:r>
            <a:endParaRPr lang="en-US" altLang="zh-CN" dirty="0">
              <a:solidFill>
                <a:prstClr val="black"/>
              </a:solidFill>
              <a:latin typeface="Calibri" panose="020F0502020204030204"/>
            </a:endParaRPr>
          </a:p>
          <a:p>
            <a:pPr marL="0" lvl="0" indent="0">
              <a:buNone/>
            </a:pPr>
            <a:r>
              <a:rPr lang="en-US" altLang="zh-CN" dirty="0">
                <a:solidFill>
                  <a:prstClr val="black"/>
                </a:solidFill>
                <a:latin typeface="Calibri" panose="020F0502020204030204"/>
              </a:rPr>
              <a:t>（4）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链接，生成</a:t>
            </a:r>
            <a:r>
              <a:rPr lang="zh-CN" altLang="en-US" b="1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可执行文件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：</a:t>
            </a:r>
            <a:r>
              <a:rPr lang="en-US" altLang="zh-CN" dirty="0" err="1">
                <a:solidFill>
                  <a:prstClr val="black"/>
                </a:solidFill>
                <a:latin typeface="Calibri" panose="020F0502020204030204"/>
              </a:rPr>
              <a:t>gcc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altLang="zh-CN" dirty="0" err="1">
                <a:solidFill>
                  <a:prstClr val="black"/>
                </a:solidFill>
                <a:latin typeface="Calibri" panose="020F0502020204030204"/>
              </a:rPr>
              <a:t>elf_f.o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</a:rPr>
              <a:t> -o </a:t>
            </a:r>
            <a:r>
              <a:rPr lang="en-US" altLang="zh-CN" dirty="0" err="1">
                <a:solidFill>
                  <a:prstClr val="black"/>
                </a:solidFill>
                <a:latin typeface="Calibri" panose="020F0502020204030204"/>
              </a:rPr>
              <a:t>elf_f</a:t>
            </a:r>
            <a:endParaRPr lang="en-US" altLang="zh-CN" dirty="0">
              <a:solidFill>
                <a:prstClr val="black"/>
              </a:solidFill>
              <a:latin typeface="Calibri" panose="020F0502020204030204"/>
            </a:endParaRPr>
          </a:p>
          <a:p>
            <a:pPr marL="0" lvl="0" indent="0">
              <a:buNone/>
            </a:pPr>
            <a:endParaRPr lang="en-US" altLang="zh-CN" dirty="0">
              <a:solidFill>
                <a:prstClr val="black"/>
              </a:solidFill>
              <a:latin typeface="Calibri" panose="020F0502020204030204"/>
            </a:endParaRPr>
          </a:p>
          <a:p>
            <a:pPr marL="0" lvl="0" indent="0">
              <a:buNone/>
            </a:pPr>
            <a:r>
              <a:rPr lang="en-US" altLang="zh-CN" dirty="0">
                <a:solidFill>
                  <a:prstClr val="black"/>
                </a:solidFill>
                <a:latin typeface="Calibri" panose="020F0502020204030204"/>
              </a:rPr>
              <a:t>$</a:t>
            </a:r>
            <a:r>
              <a:rPr lang="en-US" altLang="zh-CN" dirty="0" err="1">
                <a:solidFill>
                  <a:prstClr val="black"/>
                </a:solidFill>
                <a:latin typeface="Calibri" panose="020F0502020204030204"/>
              </a:rPr>
              <a:t>readelf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</a:rPr>
              <a:t> -a </a:t>
            </a:r>
            <a:r>
              <a:rPr lang="en-US" altLang="zh-CN" dirty="0" err="1">
                <a:solidFill>
                  <a:prstClr val="black"/>
                </a:solidFill>
                <a:latin typeface="Calibri" panose="020F0502020204030204"/>
              </a:rPr>
              <a:t>elf_f</a:t>
            </a:r>
            <a:endParaRPr lang="en-US" altLang="zh-CN" dirty="0">
              <a:solidFill>
                <a:prstClr val="black"/>
              </a:solidFill>
              <a:latin typeface="Calibri" panose="020F0502020204030204"/>
            </a:endParaRPr>
          </a:p>
          <a:p>
            <a:pPr marL="0" lvl="0" indent="0">
              <a:buNone/>
            </a:pPr>
            <a:r>
              <a:rPr lang="en-US" altLang="zh-CN" dirty="0">
                <a:solidFill>
                  <a:prstClr val="black"/>
                </a:solidFill>
                <a:latin typeface="Calibri" panose="020F0502020204030204"/>
              </a:rPr>
              <a:t>$</a:t>
            </a:r>
            <a:r>
              <a:rPr lang="en-US" altLang="zh-CN" dirty="0" err="1">
                <a:solidFill>
                  <a:prstClr val="black"/>
                </a:solidFill>
                <a:latin typeface="Calibri" panose="020F0502020204030204"/>
              </a:rPr>
              <a:t>xxd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altLang="zh-CN" dirty="0" err="1">
                <a:solidFill>
                  <a:prstClr val="black"/>
                </a:solidFill>
                <a:latin typeface="Calibri" panose="020F0502020204030204"/>
              </a:rPr>
              <a:t>elf_f</a:t>
            </a:r>
            <a:endParaRPr lang="en-US" altLang="zh-CN" dirty="0">
              <a:solidFill>
                <a:prstClr val="black"/>
              </a:solidFill>
              <a:latin typeface="Calibri" panose="020F0502020204030204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362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A90B1-7CD9-48D1-949F-D89EFAA7B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elf</a:t>
            </a:r>
            <a:r>
              <a:rPr lang="zh-CN" altLang="en-US" dirty="0"/>
              <a:t>文件的格式</a:t>
            </a:r>
            <a:endParaRPr lang="en-US" dirty="0"/>
          </a:p>
        </p:txBody>
      </p:sp>
      <p:sp>
        <p:nvSpPr>
          <p:cNvPr id="41" name="Rectangle 4">
            <a:extLst>
              <a:ext uri="{FF2B5EF4-FFF2-40B4-BE49-F238E27FC236}">
                <a16:creationId xmlns:a16="http://schemas.microsoft.com/office/drawing/2014/main" id="{F9ACAE76-08D4-4557-A457-CECE83E6D41D}"/>
              </a:ext>
            </a:extLst>
          </p:cNvPr>
          <p:cNvSpPr/>
          <p:nvPr/>
        </p:nvSpPr>
        <p:spPr>
          <a:xfrm>
            <a:off x="3566160" y="2062480"/>
            <a:ext cx="2641600" cy="914400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header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Rectangle 5">
            <a:extLst>
              <a:ext uri="{FF2B5EF4-FFF2-40B4-BE49-F238E27FC236}">
                <a16:creationId xmlns:a16="http://schemas.microsoft.com/office/drawing/2014/main" id="{08A7F28E-52B6-4095-B5E1-91DDDAA5869F}"/>
              </a:ext>
            </a:extLst>
          </p:cNvPr>
          <p:cNvSpPr/>
          <p:nvPr/>
        </p:nvSpPr>
        <p:spPr>
          <a:xfrm>
            <a:off x="3566160" y="2966721"/>
            <a:ext cx="2641600" cy="914400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Program Header Table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Rectangle 6">
            <a:extLst>
              <a:ext uri="{FF2B5EF4-FFF2-40B4-BE49-F238E27FC236}">
                <a16:creationId xmlns:a16="http://schemas.microsoft.com/office/drawing/2014/main" id="{22951CD7-55B6-4E60-BB60-C788B3221D3A}"/>
              </a:ext>
            </a:extLst>
          </p:cNvPr>
          <p:cNvSpPr/>
          <p:nvPr/>
        </p:nvSpPr>
        <p:spPr>
          <a:xfrm>
            <a:off x="3566160" y="3881121"/>
            <a:ext cx="2641600" cy="914400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Sections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ectangle 7">
            <a:extLst>
              <a:ext uri="{FF2B5EF4-FFF2-40B4-BE49-F238E27FC236}">
                <a16:creationId xmlns:a16="http://schemas.microsoft.com/office/drawing/2014/main" id="{B6323460-C9D3-40C5-BDEA-EC4B831709A1}"/>
              </a:ext>
            </a:extLst>
          </p:cNvPr>
          <p:cNvSpPr/>
          <p:nvPr/>
        </p:nvSpPr>
        <p:spPr>
          <a:xfrm>
            <a:off x="3566160" y="4795521"/>
            <a:ext cx="2641600" cy="914400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Section Header Table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Left Brace 8">
            <a:extLst>
              <a:ext uri="{FF2B5EF4-FFF2-40B4-BE49-F238E27FC236}">
                <a16:creationId xmlns:a16="http://schemas.microsoft.com/office/drawing/2014/main" id="{FBFA5BFF-55B1-47A7-8947-923C1648E2FA}"/>
              </a:ext>
            </a:extLst>
          </p:cNvPr>
          <p:cNvSpPr/>
          <p:nvPr/>
        </p:nvSpPr>
        <p:spPr>
          <a:xfrm>
            <a:off x="6207760" y="2966721"/>
            <a:ext cx="447040" cy="2407919"/>
          </a:xfrm>
          <a:prstGeom prst="leftBrace">
            <a:avLst>
              <a:gd name="adj1" fmla="val 8333"/>
              <a:gd name="adj2" fmla="val 54823"/>
            </a:avLst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Rectangle 9">
            <a:extLst>
              <a:ext uri="{FF2B5EF4-FFF2-40B4-BE49-F238E27FC236}">
                <a16:creationId xmlns:a16="http://schemas.microsoft.com/office/drawing/2014/main" id="{7F07BD1B-C0AA-46F5-9D18-D2D42BF9202F}"/>
              </a:ext>
            </a:extLst>
          </p:cNvPr>
          <p:cNvSpPr/>
          <p:nvPr/>
        </p:nvSpPr>
        <p:spPr>
          <a:xfrm>
            <a:off x="6654800" y="2671128"/>
            <a:ext cx="1757680" cy="747712"/>
          </a:xfrm>
          <a:prstGeom prst="rect">
            <a:avLst/>
          </a:prstGeom>
          <a:solidFill>
            <a:srgbClr val="70AD47">
              <a:lumMod val="75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text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Rectangle 10">
            <a:extLst>
              <a:ext uri="{FF2B5EF4-FFF2-40B4-BE49-F238E27FC236}">
                <a16:creationId xmlns:a16="http://schemas.microsoft.com/office/drawing/2014/main" id="{A6A61F1A-0E2E-4489-89DE-46A0E74B7C22}"/>
              </a:ext>
            </a:extLst>
          </p:cNvPr>
          <p:cNvSpPr/>
          <p:nvPr/>
        </p:nvSpPr>
        <p:spPr>
          <a:xfrm>
            <a:off x="6654800" y="3418840"/>
            <a:ext cx="1757680" cy="747712"/>
          </a:xfrm>
          <a:prstGeom prst="rect">
            <a:avLst/>
          </a:prstGeom>
          <a:solidFill>
            <a:srgbClr val="70AD47">
              <a:lumMod val="75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data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 11">
            <a:extLst>
              <a:ext uri="{FF2B5EF4-FFF2-40B4-BE49-F238E27FC236}">
                <a16:creationId xmlns:a16="http://schemas.microsoft.com/office/drawing/2014/main" id="{885F2A91-1485-4AD0-964C-0452F862B3B4}"/>
              </a:ext>
            </a:extLst>
          </p:cNvPr>
          <p:cNvSpPr/>
          <p:nvPr/>
        </p:nvSpPr>
        <p:spPr>
          <a:xfrm>
            <a:off x="6654800" y="4166552"/>
            <a:ext cx="1757680" cy="747712"/>
          </a:xfrm>
          <a:prstGeom prst="rect">
            <a:avLst/>
          </a:prstGeom>
          <a:solidFill>
            <a:srgbClr val="70AD47">
              <a:lumMod val="75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bss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Rectangle 12">
            <a:extLst>
              <a:ext uri="{FF2B5EF4-FFF2-40B4-BE49-F238E27FC236}">
                <a16:creationId xmlns:a16="http://schemas.microsoft.com/office/drawing/2014/main" id="{D3A470E1-656D-45DF-97FB-E21146721905}"/>
              </a:ext>
            </a:extLst>
          </p:cNvPr>
          <p:cNvSpPr/>
          <p:nvPr/>
        </p:nvSpPr>
        <p:spPr>
          <a:xfrm>
            <a:off x="6654800" y="4918394"/>
            <a:ext cx="1757680" cy="747712"/>
          </a:xfrm>
          <a:prstGeom prst="rect">
            <a:avLst/>
          </a:prstGeom>
          <a:solidFill>
            <a:srgbClr val="70AD47">
              <a:lumMod val="75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…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3364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69A8F-898C-4E18-B2EE-53A6088C2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elf header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1E766B-519A-4682-AF3D-1C43ADE2995D}"/>
              </a:ext>
            </a:extLst>
          </p:cNvPr>
          <p:cNvSpPr txBox="1"/>
          <p:nvPr/>
        </p:nvSpPr>
        <p:spPr>
          <a:xfrm>
            <a:off x="914399" y="1690688"/>
            <a:ext cx="6463553" cy="1797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0" spc="-25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#size 0x34</a:t>
            </a:r>
          </a:p>
          <a:p>
            <a:pPr marL="0" marR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0" spc="-25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00000000: 7f45 4c46 0101 0100 0000 0000 0000 0000  .ELF............</a:t>
            </a:r>
            <a:endParaRPr lang="en-US" sz="1800" kern="1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0" spc="-25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00000010: 0200 0300 0100 0000 1083 0408 3400 0000  ............4...</a:t>
            </a:r>
            <a:endParaRPr lang="en-US" sz="1800" kern="1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0" spc="-25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00000020: 0c18 0000 0000 0000 3400 2000 0900 2800  ........4. ...(.</a:t>
            </a:r>
            <a:endParaRPr lang="en-US" sz="1800" kern="1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0" spc="-25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00000030: 1f00 1c00</a:t>
            </a:r>
            <a:endParaRPr lang="en-US" sz="1800" kern="1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288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A90B1-7CD9-48D1-949F-D89EFAA7B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elf</a:t>
            </a:r>
            <a:r>
              <a:rPr lang="en-US" altLang="zh-CN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header</a:t>
            </a:r>
            <a:endParaRPr lang="en-US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154FE70-74C0-44C6-8458-7A7E8E8A958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777316" y="958949"/>
          <a:ext cx="6780701" cy="4937776"/>
        </p:xfrm>
        <a:graphic>
          <a:graphicData uri="http://schemas.openxmlformats.org/drawingml/2006/table">
            <a:tbl>
              <a:tblPr firstRow="1" firstCol="1" bandRow="1"/>
              <a:tblGrid>
                <a:gridCol w="1253397">
                  <a:extLst>
                    <a:ext uri="{9D8B030D-6E8A-4147-A177-3AD203B41FA5}">
                      <a16:colId xmlns:a16="http://schemas.microsoft.com/office/drawing/2014/main" val="850855903"/>
                    </a:ext>
                  </a:extLst>
                </a:gridCol>
                <a:gridCol w="1732989">
                  <a:extLst>
                    <a:ext uri="{9D8B030D-6E8A-4147-A177-3AD203B41FA5}">
                      <a16:colId xmlns:a16="http://schemas.microsoft.com/office/drawing/2014/main" val="784231396"/>
                    </a:ext>
                  </a:extLst>
                </a:gridCol>
                <a:gridCol w="3794315">
                  <a:extLst>
                    <a:ext uri="{9D8B030D-6E8A-4147-A177-3AD203B41FA5}">
                      <a16:colId xmlns:a16="http://schemas.microsoft.com/office/drawing/2014/main" val="902423587"/>
                    </a:ext>
                  </a:extLst>
                </a:gridCol>
              </a:tblGrid>
              <a:tr h="357481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ja-JP" altLang="en-US" sz="1500" b="0" i="0" u="none" strike="noStrike" spc="-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字段</a:t>
                      </a:r>
                      <a:endParaRPr lang="ja-JP" altLang="en-US" sz="2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D9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ja-JP" altLang="en-US" sz="1500" b="0" i="0" u="none" strike="noStrike" spc="-25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类型</a:t>
                      </a:r>
                      <a:endParaRPr lang="ja-JP" alt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D9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ja-JP" altLang="en-US" sz="1500" b="0" i="0" u="none" strike="noStrike" spc="-25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描述</a:t>
                      </a:r>
                      <a:endParaRPr lang="ja-JP" alt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D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543950"/>
                  </a:ext>
                </a:extLst>
              </a:tr>
              <a:tr h="357481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i="0" u="none" strike="noStrike" spc="-25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e_ident</a:t>
                      </a:r>
                      <a:endParaRPr lang="en-US" sz="2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unsigned char [16]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elf</a:t>
                      </a:r>
                      <a:r>
                        <a:rPr lang="ja-JP" altLang="en-US" sz="15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文件的标志，</a:t>
                      </a:r>
                      <a:r>
                        <a:rPr lang="en-US" altLang="ja-JP" sz="15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"\177</a:t>
                      </a:r>
                      <a:r>
                        <a:rPr lang="en-US" sz="15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ELF"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9205134"/>
                  </a:ext>
                </a:extLst>
              </a:tr>
              <a:tr h="357481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i="0" u="none" strike="noStrike" spc="-25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e_type</a:t>
                      </a:r>
                      <a:endParaRPr lang="en-US" sz="2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Elf32_Half 2</a:t>
                      </a:r>
                      <a:r>
                        <a:rPr lang="ja-JP" altLang="en-US" sz="15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字节</a:t>
                      </a:r>
                      <a:endParaRPr lang="ja-JP" alt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ja-JP" altLang="en-US" sz="1500" b="0" i="0" u="none" strike="noStrike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类型</a:t>
                      </a:r>
                      <a:endParaRPr lang="ja-JP" alt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1238430"/>
                  </a:ext>
                </a:extLst>
              </a:tr>
              <a:tr h="357481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i="0" u="none" strike="noStrike" spc="-25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e_machine</a:t>
                      </a:r>
                      <a:endParaRPr lang="en-US" sz="2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i="0" u="none" strike="noStrike" spc="-25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Elf32_Half</a:t>
                      </a:r>
                      <a:endParaRPr lang="en-US" sz="2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ja-JP" altLang="en-US" sz="1500" b="0" i="0" u="none" strike="noStrike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平台信息</a:t>
                      </a:r>
                      <a:endParaRPr lang="ja-JP" alt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5925344"/>
                  </a:ext>
                </a:extLst>
              </a:tr>
              <a:tr h="357481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i="0" u="none" strike="noStrike" spc="-25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e_entry</a:t>
                      </a:r>
                      <a:endParaRPr lang="en-US" sz="2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Elf32_Addr 4</a:t>
                      </a:r>
                      <a:r>
                        <a:rPr lang="ja-JP" altLang="en-US" sz="15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字节</a:t>
                      </a:r>
                      <a:endParaRPr lang="ja-JP" alt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ja-JP" altLang="en-US" sz="1500" b="0" i="0" u="none" strike="noStrike" spc="-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程序入口</a:t>
                      </a:r>
                      <a:endParaRPr lang="ja-JP" altLang="en-US" sz="2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9491580"/>
                  </a:ext>
                </a:extLst>
              </a:tr>
              <a:tr h="357481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i="0" u="none" strike="noStrike" spc="-25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e_phoff</a:t>
                      </a:r>
                      <a:endParaRPr lang="en-US" sz="2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Elf32_Off 4</a:t>
                      </a:r>
                      <a:r>
                        <a:rPr lang="ja-JP" altLang="en-US" sz="15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字节</a:t>
                      </a:r>
                      <a:endParaRPr lang="ja-JP" alt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i="0" u="none" strike="noStrike" spc="-25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ph</a:t>
                      </a:r>
                      <a:r>
                        <a:rPr lang="ja-JP" altLang="en-US" sz="1500" b="0" i="0" u="none" strike="noStrike" spc="-25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表的起始偏移量</a:t>
                      </a:r>
                      <a:endParaRPr lang="ja-JP" altLang="en-US" sz="2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0609408"/>
                  </a:ext>
                </a:extLst>
              </a:tr>
              <a:tr h="357481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e_shoff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Elf32_Off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i="0" u="none" strike="noStrike" spc="-25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sh</a:t>
                      </a:r>
                      <a:r>
                        <a:rPr lang="ja-JP" altLang="en-US" sz="1500" b="0" i="0" u="none" strike="noStrike" spc="-25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表的起始偏移量</a:t>
                      </a:r>
                      <a:endParaRPr lang="ja-JP" altLang="en-US" sz="2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052461"/>
                  </a:ext>
                </a:extLst>
              </a:tr>
              <a:tr h="357481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i="0" u="none" strike="noStrike" spc="-25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e_ehsize</a:t>
                      </a:r>
                      <a:endParaRPr lang="en-US" sz="2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Elf32_Half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eh</a:t>
                      </a:r>
                      <a:r>
                        <a:rPr lang="ja-JP" altLang="en-US" sz="15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的大小</a:t>
                      </a:r>
                      <a:endParaRPr lang="ja-JP" alt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3099499"/>
                  </a:ext>
                </a:extLst>
              </a:tr>
              <a:tr h="357481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i="0" u="none" strike="noStrike" spc="-25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e_phentsize</a:t>
                      </a:r>
                      <a:endParaRPr lang="en-US" sz="2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Elf32_Half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ja-JP" altLang="en-US" sz="1500" b="0" i="0" u="none" strike="noStrike" spc="-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一项</a:t>
                      </a:r>
                      <a:r>
                        <a:rPr lang="en-US" sz="1500" b="0" i="0" u="none" strike="noStrike" spc="-25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ph</a:t>
                      </a:r>
                      <a:r>
                        <a:rPr lang="ja-JP" altLang="en-US" sz="1500" b="0" i="0" u="none" strike="noStrike" spc="-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的大小</a:t>
                      </a:r>
                      <a:endParaRPr lang="ja-JP" altLang="en-US" sz="2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0502927"/>
                  </a:ext>
                </a:extLst>
              </a:tr>
              <a:tr h="357481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i="0" u="none" strike="noStrike" spc="-25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e_phnum</a:t>
                      </a:r>
                      <a:endParaRPr lang="en-US" sz="2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Elf32_Half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ph</a:t>
                      </a:r>
                      <a:r>
                        <a:rPr lang="ja-JP" altLang="en-US" sz="15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表中包含</a:t>
                      </a:r>
                      <a:r>
                        <a:rPr lang="en-US" sz="15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ph</a:t>
                      </a:r>
                      <a:r>
                        <a:rPr lang="ja-JP" altLang="en-US" sz="15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项的数量</a:t>
                      </a:r>
                      <a:endParaRPr lang="ja-JP" alt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1224538"/>
                  </a:ext>
                </a:extLst>
              </a:tr>
              <a:tr h="357481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e_shentsize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Elf32_Half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ja-JP" altLang="en-US" sz="1500" b="0" i="0" u="none" strike="noStrike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一项</a:t>
                      </a:r>
                      <a:r>
                        <a:rPr lang="en-US" sz="1500" b="0" i="0" u="none" strike="noStrike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sh</a:t>
                      </a:r>
                      <a:r>
                        <a:rPr lang="ja-JP" altLang="en-US" sz="1500" b="0" i="0" u="none" strike="noStrike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的大小</a:t>
                      </a:r>
                      <a:endParaRPr lang="ja-JP" alt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9975201"/>
                  </a:ext>
                </a:extLst>
              </a:tr>
              <a:tr h="357481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i="0" u="none" strike="noStrike" spc="-25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e_shnum</a:t>
                      </a:r>
                      <a:endParaRPr lang="en-US" sz="2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Elf32_Half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sh</a:t>
                      </a:r>
                      <a:r>
                        <a:rPr lang="ja-JP" altLang="en-US" sz="15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表中包含</a:t>
                      </a:r>
                      <a:r>
                        <a:rPr lang="en-US" sz="15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sh</a:t>
                      </a:r>
                      <a:r>
                        <a:rPr lang="ja-JP" altLang="en-US" sz="15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项的数量</a:t>
                      </a:r>
                      <a:endParaRPr lang="ja-JP" alt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9060213"/>
                  </a:ext>
                </a:extLst>
              </a:tr>
              <a:tr h="648004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i="0" u="none" strike="noStrike" spc="-25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e_shstrndx</a:t>
                      </a:r>
                      <a:endParaRPr lang="en-US" sz="2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Elf32_Half</a:t>
                      </a:r>
                      <a:endParaRPr 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i="0" u="none" strike="noStrike" spc="-25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Section Header string table index，</a:t>
                      </a:r>
                      <a:r>
                        <a:rPr lang="ja-JP" altLang="en-US" sz="1500" b="0" i="0" u="none" strike="noStrike" spc="-25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表示各</a:t>
                      </a:r>
                      <a:r>
                        <a:rPr lang="en-US" sz="1500" b="0" i="0" u="none" strike="noStrike" spc="-25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section</a:t>
                      </a:r>
                      <a:r>
                        <a:rPr lang="ja-JP" altLang="en-US" sz="1500" b="0" i="0" u="none" strike="noStrike" spc="-25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的名字存储在哪个</a:t>
                      </a:r>
                      <a:r>
                        <a:rPr lang="en-US" sz="1500" b="0" i="0" u="none" strike="noStrike" spc="-25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section</a:t>
                      </a:r>
                      <a:endParaRPr lang="en-US" sz="2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9608" marR="99608" marT="1383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0265822"/>
                  </a:ext>
                </a:extLst>
              </a:tr>
            </a:tbl>
          </a:graphicData>
        </a:graphic>
      </p:graphicFrame>
      <p:sp>
        <p:nvSpPr>
          <p:cNvPr id="4" name="五边形 3"/>
          <p:cNvSpPr/>
          <p:nvPr/>
        </p:nvSpPr>
        <p:spPr>
          <a:xfrm>
            <a:off x="785191" y="2156791"/>
            <a:ext cx="3399183" cy="2256183"/>
          </a:xfrm>
          <a:prstGeom prst="homePlat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dirty="0" smtClean="0"/>
              <a:t>Elf header</a:t>
            </a: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532893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BD550-3D59-4349-8244-04578760E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elf header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6808B4-4EF7-4C10-B9BC-74B73CBBB17C}"/>
              </a:ext>
            </a:extLst>
          </p:cNvPr>
          <p:cNvSpPr txBox="1"/>
          <p:nvPr/>
        </p:nvSpPr>
        <p:spPr>
          <a:xfrm>
            <a:off x="643467" y="1457471"/>
            <a:ext cx="4008384" cy="48360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400" b="1" spc="-25" dirty="0">
                <a:solidFill>
                  <a:prstClr val="black"/>
                </a:solidFill>
                <a:latin typeface="Calibri" panose="020F0502020204030204"/>
              </a:rPr>
              <a:t>00000000</a:t>
            </a:r>
            <a:r>
              <a:rPr lang="en-US" altLang="zh-CN" sz="1400" spc="-25" dirty="0">
                <a:solidFill>
                  <a:prstClr val="black"/>
                </a:solidFill>
                <a:latin typeface="Calibri" panose="020F0502020204030204"/>
              </a:rPr>
              <a:t>: 7f45 4c46 0101 0100 0000 0000 0000 0000 </a:t>
            </a:r>
            <a:r>
              <a:rPr lang="en-US" altLang="zh-CN" sz="1400" spc="-25" dirty="0" err="1">
                <a:solidFill>
                  <a:prstClr val="black"/>
                </a:solidFill>
                <a:latin typeface="Calibri" panose="020F0502020204030204"/>
              </a:rPr>
              <a:t>e_ident</a:t>
            </a:r>
            <a:r>
              <a:rPr lang="en-US" altLang="zh-CN" sz="1400" spc="-25" dirty="0">
                <a:solidFill>
                  <a:prstClr val="black"/>
                </a:solidFill>
                <a:latin typeface="Calibri" panose="020F0502020204030204"/>
              </a:rPr>
              <a:t> "\177ELF"</a:t>
            </a:r>
            <a:endParaRPr lang="en-US" altLang="zh-CN" sz="1400" dirty="0">
              <a:solidFill>
                <a:prstClr val="black"/>
              </a:solidFill>
              <a:latin typeface="Calibri" panose="020F0502020204030204"/>
            </a:endParaRP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400" b="1" spc="-25" dirty="0">
                <a:solidFill>
                  <a:prstClr val="black"/>
                </a:solidFill>
                <a:latin typeface="Calibri" panose="020F0502020204030204"/>
              </a:rPr>
              <a:t>00000010</a:t>
            </a:r>
            <a:r>
              <a:rPr lang="en-US" altLang="zh-CN" sz="1400" spc="-25" dirty="0">
                <a:solidFill>
                  <a:prstClr val="black"/>
                </a:solidFill>
                <a:latin typeface="Calibri" panose="020F0502020204030204"/>
              </a:rPr>
              <a:t>:</a:t>
            </a:r>
            <a:endParaRPr lang="en-US" altLang="zh-CN" sz="1400" dirty="0">
              <a:solidFill>
                <a:prstClr val="black"/>
              </a:solidFill>
              <a:latin typeface="Calibri" panose="020F0502020204030204"/>
            </a:endParaRP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400" spc="-25" dirty="0">
                <a:solidFill>
                  <a:prstClr val="black"/>
                </a:solidFill>
                <a:latin typeface="Calibri" panose="020F0502020204030204"/>
              </a:rPr>
              <a:t> 0200     </a:t>
            </a:r>
            <a:r>
              <a:rPr lang="en-US" altLang="zh-CN" sz="1400" spc="-25" dirty="0" err="1">
                <a:solidFill>
                  <a:prstClr val="black"/>
                </a:solidFill>
                <a:latin typeface="Calibri" panose="020F0502020204030204"/>
              </a:rPr>
              <a:t>e_type</a:t>
            </a:r>
            <a:r>
              <a:rPr lang="en-US" altLang="zh-CN" sz="1400" spc="-25" dirty="0">
                <a:solidFill>
                  <a:prstClr val="black"/>
                </a:solidFill>
                <a:latin typeface="Calibri" panose="020F0502020204030204"/>
              </a:rPr>
              <a:t>                    2</a:t>
            </a:r>
            <a:endParaRPr lang="en-US" altLang="zh-CN" sz="1400" dirty="0">
              <a:solidFill>
                <a:prstClr val="black"/>
              </a:solidFill>
              <a:latin typeface="Calibri" panose="020F0502020204030204"/>
            </a:endParaRP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400" spc="-25" dirty="0">
                <a:solidFill>
                  <a:prstClr val="black"/>
                </a:solidFill>
                <a:latin typeface="Calibri" panose="020F0502020204030204"/>
              </a:rPr>
              <a:t> 0300     </a:t>
            </a:r>
            <a:r>
              <a:rPr lang="en-US" altLang="zh-CN" sz="1400" spc="-25" dirty="0" err="1">
                <a:solidFill>
                  <a:prstClr val="black"/>
                </a:solidFill>
                <a:latin typeface="Calibri" panose="020F0502020204030204"/>
              </a:rPr>
              <a:t>e_machine</a:t>
            </a:r>
            <a:r>
              <a:rPr lang="en-US" altLang="zh-CN" sz="1400" spc="-25" dirty="0">
                <a:solidFill>
                  <a:prstClr val="black"/>
                </a:solidFill>
                <a:latin typeface="Calibri" panose="020F0502020204030204"/>
              </a:rPr>
              <a:t>                 3</a:t>
            </a:r>
            <a:endParaRPr lang="en-US" altLang="zh-CN" sz="1400" dirty="0">
              <a:solidFill>
                <a:prstClr val="black"/>
              </a:solidFill>
              <a:latin typeface="Calibri" panose="020F0502020204030204"/>
            </a:endParaRP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400" spc="-25" dirty="0">
                <a:solidFill>
                  <a:prstClr val="black"/>
                </a:solidFill>
                <a:latin typeface="Calibri" panose="020F0502020204030204"/>
              </a:rPr>
              <a:t> 0100 0000 </a:t>
            </a:r>
            <a:r>
              <a:rPr lang="en-US" altLang="zh-CN" sz="1400" spc="-25" dirty="0" err="1">
                <a:solidFill>
                  <a:prstClr val="black"/>
                </a:solidFill>
                <a:latin typeface="Calibri" panose="020F0502020204030204"/>
              </a:rPr>
              <a:t>e_version</a:t>
            </a:r>
            <a:r>
              <a:rPr lang="en-US" altLang="zh-CN" sz="1400" spc="-25" dirty="0">
                <a:solidFill>
                  <a:prstClr val="black"/>
                </a:solidFill>
                <a:latin typeface="Calibri" panose="020F0502020204030204"/>
              </a:rPr>
              <a:t>                 1</a:t>
            </a:r>
            <a:endParaRPr lang="en-US" altLang="zh-CN" sz="1400" dirty="0">
              <a:solidFill>
                <a:prstClr val="black"/>
              </a:solidFill>
              <a:latin typeface="Calibri" panose="020F0502020204030204"/>
            </a:endParaRP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400" spc="-25" dirty="0">
                <a:solidFill>
                  <a:prstClr val="black"/>
                </a:solidFill>
                <a:latin typeface="Calibri" panose="020F0502020204030204"/>
              </a:rPr>
              <a:t> 1083 0408 </a:t>
            </a:r>
            <a:r>
              <a:rPr lang="en-US" altLang="zh-CN" sz="1400" spc="-25" dirty="0" err="1">
                <a:solidFill>
                  <a:prstClr val="black"/>
                </a:solidFill>
                <a:latin typeface="Calibri" panose="020F0502020204030204"/>
              </a:rPr>
              <a:t>e_entry</a:t>
            </a:r>
            <a:r>
              <a:rPr lang="en-US" altLang="zh-CN" sz="1400" spc="-25" dirty="0">
                <a:solidFill>
                  <a:prstClr val="black"/>
                </a:solidFill>
                <a:latin typeface="Calibri" panose="020F0502020204030204"/>
              </a:rPr>
              <a:t>                   0x08048310</a:t>
            </a:r>
            <a:endParaRPr lang="en-US" altLang="zh-CN" sz="1400" dirty="0">
              <a:solidFill>
                <a:prstClr val="black"/>
              </a:solidFill>
              <a:latin typeface="Calibri" panose="020F0502020204030204"/>
            </a:endParaRP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400" spc="-25" dirty="0">
                <a:solidFill>
                  <a:prstClr val="black"/>
                </a:solidFill>
                <a:latin typeface="Calibri" panose="020F0502020204030204"/>
              </a:rPr>
              <a:t> 3400 0000 </a:t>
            </a:r>
            <a:r>
              <a:rPr lang="en-US" altLang="zh-CN" sz="1400" spc="-25" dirty="0" err="1">
                <a:solidFill>
                  <a:prstClr val="black"/>
                </a:solidFill>
                <a:latin typeface="Calibri" panose="020F0502020204030204"/>
              </a:rPr>
              <a:t>e_phoff</a:t>
            </a:r>
            <a:r>
              <a:rPr lang="en-US" altLang="zh-CN" sz="1400" spc="-25" dirty="0">
                <a:solidFill>
                  <a:prstClr val="black"/>
                </a:solidFill>
                <a:latin typeface="Calibri" panose="020F0502020204030204"/>
              </a:rPr>
              <a:t>                   0x34</a:t>
            </a:r>
            <a:endParaRPr lang="en-US" altLang="zh-CN" sz="1400" dirty="0">
              <a:solidFill>
                <a:prstClr val="black"/>
              </a:solidFill>
              <a:latin typeface="Calibri" panose="020F0502020204030204"/>
            </a:endParaRP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400" b="1" spc="-25" dirty="0">
                <a:solidFill>
                  <a:prstClr val="black"/>
                </a:solidFill>
                <a:latin typeface="Calibri" panose="020F0502020204030204"/>
              </a:rPr>
              <a:t>00000020</a:t>
            </a:r>
            <a:r>
              <a:rPr lang="en-US" altLang="zh-CN" sz="1400" spc="-25" dirty="0">
                <a:solidFill>
                  <a:prstClr val="black"/>
                </a:solidFill>
                <a:latin typeface="Calibri" panose="020F0502020204030204"/>
              </a:rPr>
              <a:t>:</a:t>
            </a:r>
            <a:endParaRPr lang="en-US" altLang="zh-CN" sz="1400" dirty="0">
              <a:solidFill>
                <a:prstClr val="black"/>
              </a:solidFill>
              <a:latin typeface="Calibri" panose="020F0502020204030204"/>
            </a:endParaRP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400" spc="-25" dirty="0">
                <a:solidFill>
                  <a:prstClr val="black"/>
                </a:solidFill>
                <a:latin typeface="Calibri" panose="020F0502020204030204"/>
              </a:rPr>
              <a:t> 0c18 0000 </a:t>
            </a:r>
            <a:r>
              <a:rPr lang="en-US" altLang="zh-CN" sz="1400" spc="-25" dirty="0" err="1">
                <a:solidFill>
                  <a:prstClr val="black"/>
                </a:solidFill>
                <a:latin typeface="Calibri" panose="020F0502020204030204"/>
              </a:rPr>
              <a:t>e_shoff</a:t>
            </a:r>
            <a:r>
              <a:rPr lang="en-US" altLang="zh-CN" sz="1400" spc="-25" dirty="0">
                <a:solidFill>
                  <a:prstClr val="black"/>
                </a:solidFill>
                <a:latin typeface="Calibri" panose="020F0502020204030204"/>
              </a:rPr>
              <a:t>                   0x180c</a:t>
            </a:r>
            <a:endParaRPr lang="en-US" altLang="zh-CN" sz="1400" dirty="0">
              <a:solidFill>
                <a:prstClr val="black"/>
              </a:solidFill>
              <a:latin typeface="Calibri" panose="020F0502020204030204"/>
            </a:endParaRP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400" spc="-25" dirty="0">
                <a:solidFill>
                  <a:prstClr val="black"/>
                </a:solidFill>
                <a:latin typeface="Calibri" panose="020F0502020204030204"/>
              </a:rPr>
              <a:t> 0000 0000 </a:t>
            </a:r>
            <a:r>
              <a:rPr lang="en-US" altLang="zh-CN" sz="1400" spc="-25" dirty="0" err="1">
                <a:solidFill>
                  <a:prstClr val="black"/>
                </a:solidFill>
                <a:latin typeface="Calibri" panose="020F0502020204030204"/>
              </a:rPr>
              <a:t>e_flags</a:t>
            </a:r>
            <a:r>
              <a:rPr lang="en-US" altLang="zh-CN" sz="1400" spc="-25" dirty="0">
                <a:solidFill>
                  <a:prstClr val="black"/>
                </a:solidFill>
                <a:latin typeface="Calibri" panose="020F0502020204030204"/>
              </a:rPr>
              <a:t>                   0</a:t>
            </a:r>
            <a:endParaRPr lang="en-US" altLang="zh-CN" sz="1400" dirty="0">
              <a:solidFill>
                <a:prstClr val="black"/>
              </a:solidFill>
              <a:latin typeface="Calibri" panose="020F0502020204030204"/>
            </a:endParaRP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400" spc="-25" dirty="0">
                <a:solidFill>
                  <a:prstClr val="black"/>
                </a:solidFill>
                <a:latin typeface="Calibri" panose="020F0502020204030204"/>
              </a:rPr>
              <a:t> 3400     </a:t>
            </a:r>
            <a:r>
              <a:rPr lang="en-US" altLang="zh-CN" sz="1400" spc="-25" dirty="0" err="1">
                <a:solidFill>
                  <a:prstClr val="black"/>
                </a:solidFill>
                <a:latin typeface="Calibri" panose="020F0502020204030204"/>
              </a:rPr>
              <a:t>e_ehsize</a:t>
            </a:r>
            <a:r>
              <a:rPr lang="en-US" altLang="zh-CN" sz="1400" spc="-25" dirty="0">
                <a:solidFill>
                  <a:prstClr val="black"/>
                </a:solidFill>
                <a:latin typeface="Calibri" panose="020F0502020204030204"/>
              </a:rPr>
              <a:t>                  0x34</a:t>
            </a:r>
            <a:endParaRPr lang="en-US" altLang="zh-CN" sz="1400" dirty="0">
              <a:solidFill>
                <a:prstClr val="black"/>
              </a:solidFill>
              <a:latin typeface="Calibri" panose="020F0502020204030204"/>
            </a:endParaRP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400" spc="-25" dirty="0">
                <a:solidFill>
                  <a:prstClr val="black"/>
                </a:solidFill>
                <a:latin typeface="Calibri" panose="020F0502020204030204"/>
              </a:rPr>
              <a:t> 2000     </a:t>
            </a:r>
            <a:r>
              <a:rPr lang="en-US" altLang="zh-CN" sz="1400" spc="-25" dirty="0" err="1">
                <a:solidFill>
                  <a:prstClr val="black"/>
                </a:solidFill>
                <a:latin typeface="Calibri" panose="020F0502020204030204"/>
              </a:rPr>
              <a:t>e_phentsize</a:t>
            </a:r>
            <a:r>
              <a:rPr lang="en-US" altLang="zh-CN" sz="1400" spc="-25" dirty="0">
                <a:solidFill>
                  <a:prstClr val="black"/>
                </a:solidFill>
                <a:latin typeface="Calibri" panose="020F0502020204030204"/>
              </a:rPr>
              <a:t>               0x20</a:t>
            </a:r>
            <a:endParaRPr lang="en-US" altLang="zh-CN" sz="1400" dirty="0">
              <a:solidFill>
                <a:prstClr val="black"/>
              </a:solidFill>
              <a:latin typeface="Calibri" panose="020F0502020204030204"/>
            </a:endParaRP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400" spc="-25" dirty="0">
                <a:solidFill>
                  <a:prstClr val="black"/>
                </a:solidFill>
                <a:latin typeface="Calibri" panose="020F0502020204030204"/>
              </a:rPr>
              <a:t> 0900     </a:t>
            </a:r>
            <a:r>
              <a:rPr lang="en-US" altLang="zh-CN" sz="1400" spc="-25" dirty="0" err="1">
                <a:solidFill>
                  <a:prstClr val="black"/>
                </a:solidFill>
                <a:latin typeface="Calibri" panose="020F0502020204030204"/>
              </a:rPr>
              <a:t>e_phnum</a:t>
            </a:r>
            <a:r>
              <a:rPr lang="en-US" altLang="zh-CN" sz="1400" spc="-25" dirty="0">
                <a:solidFill>
                  <a:prstClr val="black"/>
                </a:solidFill>
                <a:latin typeface="Calibri" panose="020F0502020204030204"/>
              </a:rPr>
              <a:t>                 0x9</a:t>
            </a:r>
            <a:endParaRPr lang="en-US" altLang="zh-CN" sz="1400" dirty="0">
              <a:solidFill>
                <a:prstClr val="black"/>
              </a:solidFill>
              <a:latin typeface="Calibri" panose="020F0502020204030204"/>
            </a:endParaRP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400" spc="-25" dirty="0">
                <a:solidFill>
                  <a:prstClr val="black"/>
                </a:solidFill>
                <a:latin typeface="Calibri" panose="020F0502020204030204"/>
              </a:rPr>
              <a:t> 2800     </a:t>
            </a:r>
            <a:r>
              <a:rPr lang="en-US" altLang="zh-CN" sz="1400" spc="-25" dirty="0" err="1">
                <a:solidFill>
                  <a:prstClr val="black"/>
                </a:solidFill>
                <a:latin typeface="Calibri" panose="020F0502020204030204"/>
              </a:rPr>
              <a:t>e_shentsize</a:t>
            </a:r>
            <a:r>
              <a:rPr lang="en-US" altLang="zh-CN" sz="1400" spc="-25" dirty="0">
                <a:solidFill>
                  <a:prstClr val="black"/>
                </a:solidFill>
                <a:latin typeface="Calibri" panose="020F0502020204030204"/>
              </a:rPr>
              <a:t>               0x28</a:t>
            </a:r>
            <a:endParaRPr lang="en-US" altLang="zh-CN" sz="1400" dirty="0">
              <a:solidFill>
                <a:prstClr val="black"/>
              </a:solidFill>
              <a:latin typeface="Calibri" panose="020F0502020204030204"/>
            </a:endParaRP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400" b="1" spc="-25" dirty="0">
                <a:solidFill>
                  <a:prstClr val="black"/>
                </a:solidFill>
                <a:latin typeface="Calibri" panose="020F0502020204030204"/>
              </a:rPr>
              <a:t>00000030</a:t>
            </a:r>
            <a:r>
              <a:rPr lang="en-US" altLang="zh-CN" sz="1400" spc="-25" dirty="0">
                <a:solidFill>
                  <a:prstClr val="black"/>
                </a:solidFill>
                <a:latin typeface="Calibri" panose="020F0502020204030204"/>
              </a:rPr>
              <a:t>:</a:t>
            </a:r>
            <a:endParaRPr lang="en-US" altLang="zh-CN" sz="1400" dirty="0">
              <a:solidFill>
                <a:prstClr val="black"/>
              </a:solidFill>
              <a:latin typeface="Calibri" panose="020F0502020204030204"/>
            </a:endParaRP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400" spc="-25" dirty="0">
                <a:solidFill>
                  <a:prstClr val="black"/>
                </a:solidFill>
                <a:latin typeface="Calibri" panose="020F0502020204030204"/>
              </a:rPr>
              <a:t> 1f00     </a:t>
            </a:r>
            <a:r>
              <a:rPr lang="en-US" altLang="zh-CN" sz="1400" spc="-25" dirty="0" err="1">
                <a:solidFill>
                  <a:prstClr val="black"/>
                </a:solidFill>
                <a:latin typeface="Calibri" panose="020F0502020204030204"/>
              </a:rPr>
              <a:t>e_shnum</a:t>
            </a:r>
            <a:r>
              <a:rPr lang="en-US" altLang="zh-CN" sz="1400" spc="-25" dirty="0">
                <a:solidFill>
                  <a:prstClr val="black"/>
                </a:solidFill>
                <a:latin typeface="Calibri" panose="020F0502020204030204"/>
              </a:rPr>
              <a:t>                  0x1f</a:t>
            </a:r>
            <a:endParaRPr lang="en-US" altLang="zh-CN" sz="1400" dirty="0">
              <a:solidFill>
                <a:prstClr val="black"/>
              </a:solidFill>
              <a:latin typeface="Calibri" panose="020F0502020204030204"/>
            </a:endParaRP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400" spc="-25" dirty="0">
                <a:solidFill>
                  <a:prstClr val="black"/>
                </a:solidFill>
                <a:latin typeface="Calibri" panose="020F0502020204030204"/>
              </a:rPr>
              <a:t> 1c00     </a:t>
            </a:r>
            <a:r>
              <a:rPr lang="en-US" altLang="zh-CN" sz="1400" spc="-25" dirty="0" err="1">
                <a:solidFill>
                  <a:prstClr val="black"/>
                </a:solidFill>
                <a:latin typeface="Calibri" panose="020F0502020204030204"/>
              </a:rPr>
              <a:t>e_shstrndx</a:t>
            </a:r>
            <a:r>
              <a:rPr lang="en-US" altLang="zh-CN" sz="1400" spc="-25" dirty="0">
                <a:solidFill>
                  <a:prstClr val="black"/>
                </a:solidFill>
                <a:latin typeface="Calibri" panose="020F0502020204030204"/>
              </a:rPr>
              <a:t>                0x1c</a:t>
            </a:r>
            <a:endParaRPr lang="en-US" altLang="zh-CN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58E8250-F5EC-4447-BCE2-289E902BC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514618"/>
              </p:ext>
            </p:extLst>
          </p:nvPr>
        </p:nvGraphicFramePr>
        <p:xfrm>
          <a:off x="5550920" y="1457471"/>
          <a:ext cx="5997613" cy="4738408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5997613">
                  <a:extLst>
                    <a:ext uri="{9D8B030D-6E8A-4147-A177-3AD203B41FA5}">
                      <a16:colId xmlns:a16="http://schemas.microsoft.com/office/drawing/2014/main" val="2005607843"/>
                    </a:ext>
                  </a:extLst>
                </a:gridCol>
              </a:tblGrid>
              <a:tr h="4361892">
                <a:tc>
                  <a:txBody>
                    <a:bodyPr/>
                    <a:lstStyle/>
                    <a:p>
                      <a:pPr marL="0" marR="0" lvl="0" indent="0" algn="just" defTabSz="914400" rtl="0" eaLnBrk="1" fontAlgn="t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1" i="0" u="none" strike="noStrike" kern="1200" cap="none" spc="-25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ELF Header:</a:t>
                      </a:r>
                      <a:endParaRPr kumimoji="0" lang="en-US" altLang="zh-CN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t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1" i="0" u="none" strike="noStrike" kern="1200" cap="none" spc="-25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Magic:   7f 45 4c 46 01 01 01 00 00 00 00 00 00 00 00 00 </a:t>
                      </a:r>
                      <a:endParaRPr kumimoji="0" lang="en-US" altLang="zh-CN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t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1" i="0" u="none" strike="noStrike" kern="1200" cap="none" spc="-25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Class:                             ELF32</a:t>
                      </a:r>
                      <a:endParaRPr kumimoji="0" lang="en-US" altLang="zh-CN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t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1" i="0" u="none" strike="noStrike" kern="1200" cap="none" spc="-25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Data:                              2's complement, little endian</a:t>
                      </a:r>
                      <a:endParaRPr kumimoji="0" lang="en-US" altLang="zh-CN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t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1" i="0" u="none" strike="noStrike" kern="1200" cap="none" spc="-25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Version:                           1 (current)</a:t>
                      </a:r>
                      <a:endParaRPr kumimoji="0" lang="en-US" altLang="zh-CN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t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1" i="0" u="none" strike="noStrike" kern="1200" cap="none" spc="-25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OS/ABI:                            UNIX - System V</a:t>
                      </a:r>
                      <a:endParaRPr kumimoji="0" lang="en-US" altLang="zh-CN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t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1" i="0" u="none" strike="noStrike" kern="1200" cap="none" spc="-25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ABI Version:                       0</a:t>
                      </a:r>
                      <a:endParaRPr kumimoji="0" lang="en-US" altLang="zh-CN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t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1" i="0" u="none" strike="noStrike" kern="1200" cap="none" spc="-25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Type:                              EXEC (Executable file)</a:t>
                      </a:r>
                      <a:endParaRPr kumimoji="0" lang="en-US" altLang="zh-CN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t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1" i="0" u="none" strike="noStrike" kern="1200" cap="none" spc="-25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Machine:                           Intel 80386</a:t>
                      </a:r>
                      <a:endParaRPr kumimoji="0" lang="en-US" altLang="zh-CN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t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1" i="0" u="none" strike="noStrike" kern="1200" cap="none" spc="-25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Version:                           0x1</a:t>
                      </a:r>
                      <a:endParaRPr kumimoji="0" lang="en-US" altLang="zh-CN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t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1" i="0" u="none" strike="noStrike" kern="1200" cap="none" spc="-25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Entry point address:               0x8048310</a:t>
                      </a:r>
                      <a:endParaRPr kumimoji="0" lang="en-US" altLang="zh-CN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t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1" i="0" u="none" strike="noStrike" kern="1200" cap="none" spc="-25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Start of program headers:          52 (bytes into file)</a:t>
                      </a:r>
                      <a:endParaRPr kumimoji="0" lang="en-US" altLang="zh-CN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t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1" i="0" u="none" strike="noStrike" kern="1200" cap="none" spc="-25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Start of section headers:          6156 (bytes into file)</a:t>
                      </a:r>
                      <a:endParaRPr kumimoji="0" lang="en-US" altLang="zh-CN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t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1" i="0" u="none" strike="noStrike" kern="1200" cap="none" spc="-25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Flags:                             0x0</a:t>
                      </a:r>
                      <a:endParaRPr kumimoji="0" lang="en-US" altLang="zh-CN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t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1" i="0" u="none" strike="noStrike" kern="1200" cap="none" spc="-25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Size of this header:               52 (bytes)</a:t>
                      </a:r>
                      <a:endParaRPr kumimoji="0" lang="en-US" altLang="zh-CN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t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1" i="0" u="none" strike="noStrike" kern="1200" cap="none" spc="-25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Size of program headers:           32 (bytes)</a:t>
                      </a:r>
                      <a:endParaRPr kumimoji="0" lang="en-US" altLang="zh-CN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t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1" i="0" u="none" strike="noStrike" kern="1200" cap="none" spc="-25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Number of program headers:         9</a:t>
                      </a:r>
                      <a:endParaRPr kumimoji="0" lang="en-US" altLang="zh-CN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t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1" i="0" u="none" strike="noStrike" kern="1200" cap="none" spc="-25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Size of section headers:           40 (bytes)</a:t>
                      </a:r>
                      <a:endParaRPr kumimoji="0" lang="en-US" altLang="zh-CN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t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1" i="0" u="none" strike="noStrike" kern="1200" cap="none" spc="-25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Number of section headers:         31</a:t>
                      </a:r>
                      <a:endParaRPr kumimoji="0" lang="en-US" altLang="zh-CN" sz="12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t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1" i="0" u="none" strike="noStrike" kern="1200" cap="none" spc="-25" normalizeH="0" baseline="0" noProof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Section header string table index: 28</a:t>
                      </a:r>
                      <a:endParaRPr kumimoji="0" lang="en-US" altLang="zh-CN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138675" marR="83204" marT="83204" marB="83204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416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861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A90B1-7CD9-48D1-949F-D89EFAA7B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elf</a:t>
            </a:r>
            <a:r>
              <a:rPr lang="zh-CN" altLang="en-US" dirty="0"/>
              <a:t>文件的格式</a:t>
            </a:r>
            <a:endParaRPr lang="en-US" dirty="0"/>
          </a:p>
        </p:txBody>
      </p:sp>
      <p:sp>
        <p:nvSpPr>
          <p:cNvPr id="60" name="Rectangle 34">
            <a:extLst>
              <a:ext uri="{FF2B5EF4-FFF2-40B4-BE49-F238E27FC236}">
                <a16:creationId xmlns:a16="http://schemas.microsoft.com/office/drawing/2014/main" id="{22805FB7-184D-4678-9583-215315AB203B}"/>
              </a:ext>
            </a:extLst>
          </p:cNvPr>
          <p:cNvSpPr/>
          <p:nvPr/>
        </p:nvSpPr>
        <p:spPr>
          <a:xfrm>
            <a:off x="2856389" y="1690688"/>
            <a:ext cx="2641600" cy="659206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header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1" name="Straight Connector 35">
            <a:extLst>
              <a:ext uri="{FF2B5EF4-FFF2-40B4-BE49-F238E27FC236}">
                <a16:creationId xmlns:a16="http://schemas.microsoft.com/office/drawing/2014/main" id="{99EF5C5E-6AC8-4034-99B8-2C5442F56B70}"/>
              </a:ext>
            </a:extLst>
          </p:cNvPr>
          <p:cNvCxnSpPr/>
          <p:nvPr/>
        </p:nvCxnSpPr>
        <p:spPr>
          <a:xfrm>
            <a:off x="5497989" y="1690688"/>
            <a:ext cx="2275840" cy="0"/>
          </a:xfrm>
          <a:prstGeom prst="line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</p:cxnSp>
      <p:cxnSp>
        <p:nvCxnSpPr>
          <p:cNvPr id="62" name="Straight Connector 36">
            <a:extLst>
              <a:ext uri="{FF2B5EF4-FFF2-40B4-BE49-F238E27FC236}">
                <a16:creationId xmlns:a16="http://schemas.microsoft.com/office/drawing/2014/main" id="{86FCB481-EE62-4ABB-A262-64AF2D6830D4}"/>
              </a:ext>
            </a:extLst>
          </p:cNvPr>
          <p:cNvCxnSpPr/>
          <p:nvPr/>
        </p:nvCxnSpPr>
        <p:spPr>
          <a:xfrm>
            <a:off x="5501575" y="2357663"/>
            <a:ext cx="2275840" cy="0"/>
          </a:xfrm>
          <a:prstGeom prst="line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</p:cxnSp>
      <p:sp>
        <p:nvSpPr>
          <p:cNvPr id="63" name="TextBox 37">
            <a:extLst>
              <a:ext uri="{FF2B5EF4-FFF2-40B4-BE49-F238E27FC236}">
                <a16:creationId xmlns:a16="http://schemas.microsoft.com/office/drawing/2014/main" id="{16F36D65-9E5A-454D-B89F-0401A1CE6650}"/>
              </a:ext>
            </a:extLst>
          </p:cNvPr>
          <p:cNvSpPr txBox="1"/>
          <p:nvPr/>
        </p:nvSpPr>
        <p:spPr>
          <a:xfrm>
            <a:off x="6062168" y="1835625"/>
            <a:ext cx="1147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0 - 0x34</a:t>
            </a:r>
          </a:p>
        </p:txBody>
      </p:sp>
      <p:sp>
        <p:nvSpPr>
          <p:cNvPr id="64" name="Rectangle 38">
            <a:extLst>
              <a:ext uri="{FF2B5EF4-FFF2-40B4-BE49-F238E27FC236}">
                <a16:creationId xmlns:a16="http://schemas.microsoft.com/office/drawing/2014/main" id="{64C40137-6613-4592-A2E6-3294A1CC065B}"/>
              </a:ext>
            </a:extLst>
          </p:cNvPr>
          <p:cNvSpPr/>
          <p:nvPr/>
        </p:nvSpPr>
        <p:spPr>
          <a:xfrm>
            <a:off x="2856389" y="2357663"/>
            <a:ext cx="2641600" cy="459241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PH 0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Rectangle 39">
            <a:extLst>
              <a:ext uri="{FF2B5EF4-FFF2-40B4-BE49-F238E27FC236}">
                <a16:creationId xmlns:a16="http://schemas.microsoft.com/office/drawing/2014/main" id="{1A3E3DB5-3158-4575-B56F-D859C82B41AD}"/>
              </a:ext>
            </a:extLst>
          </p:cNvPr>
          <p:cNvSpPr/>
          <p:nvPr/>
        </p:nvSpPr>
        <p:spPr>
          <a:xfrm>
            <a:off x="2856389" y="2824673"/>
            <a:ext cx="2641600" cy="459241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66" name="Rectangle 40">
            <a:extLst>
              <a:ext uri="{FF2B5EF4-FFF2-40B4-BE49-F238E27FC236}">
                <a16:creationId xmlns:a16="http://schemas.microsoft.com/office/drawing/2014/main" id="{DB80F31E-143E-4F7E-8BCC-10769276B021}"/>
              </a:ext>
            </a:extLst>
          </p:cNvPr>
          <p:cNvSpPr/>
          <p:nvPr/>
        </p:nvSpPr>
        <p:spPr>
          <a:xfrm>
            <a:off x="2856389" y="3291683"/>
            <a:ext cx="2641600" cy="459241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PH 8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7" name="Straight Connector 41">
            <a:extLst>
              <a:ext uri="{FF2B5EF4-FFF2-40B4-BE49-F238E27FC236}">
                <a16:creationId xmlns:a16="http://schemas.microsoft.com/office/drawing/2014/main" id="{4CC7D7E6-9E89-4BB9-8C32-17776FE2DCD7}"/>
              </a:ext>
            </a:extLst>
          </p:cNvPr>
          <p:cNvCxnSpPr/>
          <p:nvPr/>
        </p:nvCxnSpPr>
        <p:spPr>
          <a:xfrm>
            <a:off x="5497989" y="3750924"/>
            <a:ext cx="2275840" cy="0"/>
          </a:xfrm>
          <a:prstGeom prst="line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</p:cxnSp>
      <p:sp>
        <p:nvSpPr>
          <p:cNvPr id="68" name="TextBox 42">
            <a:extLst>
              <a:ext uri="{FF2B5EF4-FFF2-40B4-BE49-F238E27FC236}">
                <a16:creationId xmlns:a16="http://schemas.microsoft.com/office/drawing/2014/main" id="{22341753-04FC-44CF-BF77-24C85EDD0B02}"/>
              </a:ext>
            </a:extLst>
          </p:cNvPr>
          <p:cNvSpPr txBox="1"/>
          <p:nvPr/>
        </p:nvSpPr>
        <p:spPr>
          <a:xfrm>
            <a:off x="6062167" y="2731128"/>
            <a:ext cx="1430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0x34 - 0x154</a:t>
            </a:r>
          </a:p>
          <a:p>
            <a:r>
              <a:rPr lang="en-US" b="1" dirty="0">
                <a:solidFill>
                  <a:prstClr val="black"/>
                </a:solidFill>
                <a:latin typeface="Calibri" panose="020F0502020204030204"/>
              </a:rPr>
              <a:t>PH Table</a:t>
            </a:r>
          </a:p>
        </p:txBody>
      </p:sp>
      <p:sp>
        <p:nvSpPr>
          <p:cNvPr id="69" name="Rectangle 43">
            <a:extLst>
              <a:ext uri="{FF2B5EF4-FFF2-40B4-BE49-F238E27FC236}">
                <a16:creationId xmlns:a16="http://schemas.microsoft.com/office/drawing/2014/main" id="{38CCB712-E8B1-4206-A228-3283E5C914D5}"/>
              </a:ext>
            </a:extLst>
          </p:cNvPr>
          <p:cNvSpPr/>
          <p:nvPr/>
        </p:nvSpPr>
        <p:spPr>
          <a:xfrm>
            <a:off x="2856389" y="3758693"/>
            <a:ext cx="2641600" cy="459241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Section 0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Rectangle 44">
            <a:extLst>
              <a:ext uri="{FF2B5EF4-FFF2-40B4-BE49-F238E27FC236}">
                <a16:creationId xmlns:a16="http://schemas.microsoft.com/office/drawing/2014/main" id="{8D4F8E98-B6DE-4780-A7ED-48185A209C99}"/>
              </a:ext>
            </a:extLst>
          </p:cNvPr>
          <p:cNvSpPr/>
          <p:nvPr/>
        </p:nvSpPr>
        <p:spPr>
          <a:xfrm>
            <a:off x="2856389" y="4225703"/>
            <a:ext cx="2641600" cy="459241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71" name="Rectangle 45">
            <a:extLst>
              <a:ext uri="{FF2B5EF4-FFF2-40B4-BE49-F238E27FC236}">
                <a16:creationId xmlns:a16="http://schemas.microsoft.com/office/drawing/2014/main" id="{719B4005-6F5B-4137-B584-C385D3C45FEC}"/>
              </a:ext>
            </a:extLst>
          </p:cNvPr>
          <p:cNvSpPr/>
          <p:nvPr/>
        </p:nvSpPr>
        <p:spPr>
          <a:xfrm>
            <a:off x="2856389" y="4692713"/>
            <a:ext cx="2641600" cy="459241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Section 30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2" name="Straight Connector 46">
            <a:extLst>
              <a:ext uri="{FF2B5EF4-FFF2-40B4-BE49-F238E27FC236}">
                <a16:creationId xmlns:a16="http://schemas.microsoft.com/office/drawing/2014/main" id="{22EC75C6-1CEA-4F1A-9067-AD85EE303606}"/>
              </a:ext>
            </a:extLst>
          </p:cNvPr>
          <p:cNvCxnSpPr/>
          <p:nvPr/>
        </p:nvCxnSpPr>
        <p:spPr>
          <a:xfrm>
            <a:off x="5497989" y="5151954"/>
            <a:ext cx="2275840" cy="0"/>
          </a:xfrm>
          <a:prstGeom prst="line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</p:cxnSp>
      <p:sp>
        <p:nvSpPr>
          <p:cNvPr id="73" name="TextBox 47">
            <a:extLst>
              <a:ext uri="{FF2B5EF4-FFF2-40B4-BE49-F238E27FC236}">
                <a16:creationId xmlns:a16="http://schemas.microsoft.com/office/drawing/2014/main" id="{3936AA22-6BB9-43DC-96B3-7F9CB8C70A8B}"/>
              </a:ext>
            </a:extLst>
          </p:cNvPr>
          <p:cNvSpPr txBox="1"/>
          <p:nvPr/>
        </p:nvSpPr>
        <p:spPr>
          <a:xfrm>
            <a:off x="6062167" y="4109137"/>
            <a:ext cx="1565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0x154-0x180c</a:t>
            </a:r>
          </a:p>
          <a:p>
            <a:r>
              <a:rPr lang="en-US" b="1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Sections</a:t>
            </a:r>
            <a:endParaRPr lang="en-US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Rectangle 48">
            <a:extLst>
              <a:ext uri="{FF2B5EF4-FFF2-40B4-BE49-F238E27FC236}">
                <a16:creationId xmlns:a16="http://schemas.microsoft.com/office/drawing/2014/main" id="{06B3A7B6-1CA7-481C-AC67-A51C7441C6E8}"/>
              </a:ext>
            </a:extLst>
          </p:cNvPr>
          <p:cNvSpPr/>
          <p:nvPr/>
        </p:nvSpPr>
        <p:spPr>
          <a:xfrm>
            <a:off x="2856389" y="5158844"/>
            <a:ext cx="2641600" cy="459241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SH 0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49">
            <a:extLst>
              <a:ext uri="{FF2B5EF4-FFF2-40B4-BE49-F238E27FC236}">
                <a16:creationId xmlns:a16="http://schemas.microsoft.com/office/drawing/2014/main" id="{1E76D873-D26B-4926-8DDF-223C22C361AE}"/>
              </a:ext>
            </a:extLst>
          </p:cNvPr>
          <p:cNvSpPr/>
          <p:nvPr/>
        </p:nvSpPr>
        <p:spPr>
          <a:xfrm>
            <a:off x="2856389" y="5625854"/>
            <a:ext cx="2641600" cy="459241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EC918433-B821-4522-B76F-C99DC42AE451}"/>
              </a:ext>
            </a:extLst>
          </p:cNvPr>
          <p:cNvSpPr/>
          <p:nvPr/>
        </p:nvSpPr>
        <p:spPr>
          <a:xfrm>
            <a:off x="2856389" y="6092864"/>
            <a:ext cx="2641600" cy="459241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SH 30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7" name="Straight Connector 51">
            <a:extLst>
              <a:ext uri="{FF2B5EF4-FFF2-40B4-BE49-F238E27FC236}">
                <a16:creationId xmlns:a16="http://schemas.microsoft.com/office/drawing/2014/main" id="{75C6705D-49DE-460F-A42E-02AE2F2EFA9F}"/>
              </a:ext>
            </a:extLst>
          </p:cNvPr>
          <p:cNvCxnSpPr/>
          <p:nvPr/>
        </p:nvCxnSpPr>
        <p:spPr>
          <a:xfrm>
            <a:off x="5497989" y="6552105"/>
            <a:ext cx="2275840" cy="0"/>
          </a:xfrm>
          <a:prstGeom prst="line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</p:cxnSp>
      <p:sp>
        <p:nvSpPr>
          <p:cNvPr id="78" name="TextBox 52">
            <a:extLst>
              <a:ext uri="{FF2B5EF4-FFF2-40B4-BE49-F238E27FC236}">
                <a16:creationId xmlns:a16="http://schemas.microsoft.com/office/drawing/2014/main" id="{192F801F-98BE-44AD-A47C-B563CA335F4D}"/>
              </a:ext>
            </a:extLst>
          </p:cNvPr>
          <p:cNvSpPr txBox="1"/>
          <p:nvPr/>
        </p:nvSpPr>
        <p:spPr>
          <a:xfrm>
            <a:off x="6062166" y="5519448"/>
            <a:ext cx="1645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0x180c- 0x1ce4</a:t>
            </a:r>
          </a:p>
          <a:p>
            <a:r>
              <a:rPr lang="en-US" b="1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SH Table</a:t>
            </a:r>
            <a:endParaRPr lang="en-US" b="1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8645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A90B1-7CD9-48D1-949F-D89EFAA7B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CN" sz="3600" dirty="0">
                <a:solidFill>
                  <a:srgbClr val="FFFFFF"/>
                </a:solidFill>
              </a:rPr>
              <a:t>Section</a:t>
            </a:r>
            <a:r>
              <a:rPr lang="en-US" altLang="zh-CN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header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154FE70-74C0-44C6-8458-7A7E8E8A958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795246" y="1574019"/>
          <a:ext cx="6780701" cy="3798503"/>
        </p:xfrm>
        <a:graphic>
          <a:graphicData uri="http://schemas.openxmlformats.org/drawingml/2006/table">
            <a:tbl>
              <a:tblPr firstRow="1" firstCol="1" bandRow="1"/>
              <a:tblGrid>
                <a:gridCol w="1241028">
                  <a:extLst>
                    <a:ext uri="{9D8B030D-6E8A-4147-A177-3AD203B41FA5}">
                      <a16:colId xmlns:a16="http://schemas.microsoft.com/office/drawing/2014/main" val="850855903"/>
                    </a:ext>
                  </a:extLst>
                </a:gridCol>
                <a:gridCol w="1715888">
                  <a:extLst>
                    <a:ext uri="{9D8B030D-6E8A-4147-A177-3AD203B41FA5}">
                      <a16:colId xmlns:a16="http://schemas.microsoft.com/office/drawing/2014/main" val="784231396"/>
                    </a:ext>
                  </a:extLst>
                </a:gridCol>
                <a:gridCol w="3823785">
                  <a:extLst>
                    <a:ext uri="{9D8B030D-6E8A-4147-A177-3AD203B41FA5}">
                      <a16:colId xmlns:a16="http://schemas.microsoft.com/office/drawing/2014/main" val="902423587"/>
                    </a:ext>
                  </a:extLst>
                </a:gridCol>
              </a:tblGrid>
              <a:tr h="332843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ja-JP" altLang="en-US" sz="1500" b="0" i="0" u="none" strike="noStrike" spc="-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字段</a:t>
                      </a:r>
                      <a:endParaRPr lang="ja-JP" altLang="en-US" sz="2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8625" marR="98625" marT="1369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D9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ja-JP" altLang="en-US" sz="1500" b="0" i="0" u="none" strike="noStrike" spc="-25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类型</a:t>
                      </a:r>
                      <a:endParaRPr lang="ja-JP" alt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8625" marR="98625" marT="1369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D9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ja-JP" altLang="en-US" sz="1500" b="0" i="0" u="none" strike="noStrike" spc="-25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描述</a:t>
                      </a:r>
                      <a:endParaRPr lang="ja-JP" altLang="en-US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8625" marR="98625" marT="13697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D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543950"/>
                  </a:ext>
                </a:extLst>
              </a:tr>
              <a:tr h="33284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cap="none" spc="0" dirty="0" err="1">
                          <a:solidFill>
                            <a:schemeClr val="tx1"/>
                          </a:solidFill>
                          <a:effectLst/>
                        </a:rPr>
                        <a:t>sh_name</a:t>
                      </a:r>
                      <a:endParaRPr lang="en-US" sz="1800" kern="1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562" marR="88016" marT="117355" marB="1173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cap="none" spc="0" dirty="0">
                          <a:solidFill>
                            <a:schemeClr val="tx1"/>
                          </a:solidFill>
                          <a:effectLst/>
                        </a:rPr>
                        <a:t>Elf32_Word</a:t>
                      </a:r>
                      <a:endParaRPr lang="en-US" sz="1800" kern="1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562" marR="88016" marT="117355" marB="1173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cap="none" spc="0">
                          <a:solidFill>
                            <a:schemeClr val="tx1"/>
                          </a:solidFill>
                          <a:effectLst/>
                        </a:rPr>
                        <a:t>名字，偏移量</a:t>
                      </a:r>
                      <a:endParaRPr lang="en-US" sz="18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562" marR="88016" marT="117355" marB="1173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9205134"/>
                  </a:ext>
                </a:extLst>
              </a:tr>
              <a:tr h="33284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cap="none" spc="0">
                          <a:solidFill>
                            <a:schemeClr val="tx1"/>
                          </a:solidFill>
                          <a:effectLst/>
                        </a:rPr>
                        <a:t>sh_type</a:t>
                      </a:r>
                      <a:endParaRPr lang="en-US" sz="18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562" marR="88016" marT="117355" marB="1173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cap="none" spc="0">
                          <a:solidFill>
                            <a:schemeClr val="tx1"/>
                          </a:solidFill>
                          <a:effectLst/>
                        </a:rPr>
                        <a:t>Elf32_Word</a:t>
                      </a:r>
                      <a:endParaRPr lang="en-US" sz="18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562" marR="88016" marT="117355" marB="1173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cap="none" spc="0" dirty="0" err="1">
                          <a:solidFill>
                            <a:schemeClr val="tx1"/>
                          </a:solidFill>
                          <a:effectLst/>
                        </a:rPr>
                        <a:t>类型</a:t>
                      </a:r>
                      <a:endParaRPr lang="en-US" sz="1800" kern="1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562" marR="88016" marT="117355" marB="1173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1238430"/>
                  </a:ext>
                </a:extLst>
              </a:tr>
              <a:tr h="33284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cap="none" spc="0">
                          <a:solidFill>
                            <a:schemeClr val="tx1"/>
                          </a:solidFill>
                          <a:effectLst/>
                        </a:rPr>
                        <a:t>sh_flags</a:t>
                      </a:r>
                      <a:endParaRPr lang="en-US" sz="18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562" marR="88016" marT="117355" marB="1173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cap="none" spc="0" dirty="0">
                          <a:solidFill>
                            <a:schemeClr val="tx1"/>
                          </a:solidFill>
                          <a:effectLst/>
                        </a:rPr>
                        <a:t>Elf32_Word</a:t>
                      </a:r>
                      <a:endParaRPr lang="en-US" sz="1800" kern="1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562" marR="88016" marT="117355" marB="1173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cap="none" spc="0" dirty="0" err="1">
                          <a:solidFill>
                            <a:schemeClr val="tx1"/>
                          </a:solidFill>
                          <a:effectLst/>
                        </a:rPr>
                        <a:t>标志</a:t>
                      </a:r>
                      <a:endParaRPr lang="en-US" sz="1800" kern="1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562" marR="88016" marT="117355" marB="1173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5925344"/>
                  </a:ext>
                </a:extLst>
              </a:tr>
              <a:tr h="33284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cap="none" spc="0">
                          <a:solidFill>
                            <a:schemeClr val="tx1"/>
                          </a:solidFill>
                          <a:effectLst/>
                        </a:rPr>
                        <a:t>sh_addr</a:t>
                      </a:r>
                      <a:endParaRPr lang="en-US" sz="18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562" marR="88016" marT="117355" marB="1173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cap="none" spc="0">
                          <a:solidFill>
                            <a:schemeClr val="tx1"/>
                          </a:solidFill>
                          <a:effectLst/>
                        </a:rPr>
                        <a:t>Elf32_Addr</a:t>
                      </a:r>
                      <a:endParaRPr lang="en-US" sz="18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562" marR="88016" marT="117355" marB="1173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cap="none" spc="0" dirty="0" err="1">
                          <a:solidFill>
                            <a:schemeClr val="tx1"/>
                          </a:solidFill>
                          <a:effectLst/>
                        </a:rPr>
                        <a:t>section的虚拟地址</a:t>
                      </a:r>
                      <a:endParaRPr lang="en-US" sz="1800" kern="1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562" marR="88016" marT="117355" marB="1173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9491580"/>
                  </a:ext>
                </a:extLst>
              </a:tr>
              <a:tr h="33284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cap="none" spc="0">
                          <a:solidFill>
                            <a:schemeClr val="tx1"/>
                          </a:solidFill>
                          <a:effectLst/>
                        </a:rPr>
                        <a:t>sh_offset</a:t>
                      </a:r>
                      <a:endParaRPr lang="en-US" sz="18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562" marR="88016" marT="117355" marB="1173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cap="none" spc="0">
                          <a:solidFill>
                            <a:schemeClr val="tx1"/>
                          </a:solidFill>
                          <a:effectLst/>
                        </a:rPr>
                        <a:t>Elf32_Off</a:t>
                      </a:r>
                      <a:endParaRPr lang="en-US" sz="18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562" marR="88016" marT="117355" marB="1173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cap="none" spc="0" dirty="0" err="1">
                          <a:solidFill>
                            <a:schemeClr val="tx1"/>
                          </a:solidFill>
                          <a:effectLst/>
                        </a:rPr>
                        <a:t>偏移量</a:t>
                      </a:r>
                      <a:endParaRPr lang="en-US" sz="1800" kern="1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562" marR="88016" marT="117355" marB="1173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0609408"/>
                  </a:ext>
                </a:extLst>
              </a:tr>
              <a:tr h="33284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cap="none" spc="0">
                          <a:solidFill>
                            <a:schemeClr val="tx1"/>
                          </a:solidFill>
                          <a:effectLst/>
                        </a:rPr>
                        <a:t>sh_size</a:t>
                      </a:r>
                      <a:endParaRPr lang="en-US" sz="1800" kern="1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562" marR="88016" marT="117355" marB="1173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cap="none" spc="0" dirty="0">
                          <a:solidFill>
                            <a:schemeClr val="tx1"/>
                          </a:solidFill>
                          <a:effectLst/>
                        </a:rPr>
                        <a:t>Elf32_Word</a:t>
                      </a:r>
                      <a:endParaRPr lang="en-US" sz="1800" kern="1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562" marR="88016" marT="117355" marB="1173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cap="none" spc="0" dirty="0" err="1">
                          <a:solidFill>
                            <a:schemeClr val="tx1"/>
                          </a:solidFill>
                          <a:effectLst/>
                        </a:rPr>
                        <a:t>大小</a:t>
                      </a:r>
                      <a:endParaRPr lang="en-US" sz="1800" kern="100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562" marR="88016" marT="117355" marB="11735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052461"/>
                  </a:ext>
                </a:extLst>
              </a:tr>
            </a:tbl>
          </a:graphicData>
        </a:graphic>
      </p:graphicFrame>
      <p:sp>
        <p:nvSpPr>
          <p:cNvPr id="5" name="五边形 4"/>
          <p:cNvSpPr/>
          <p:nvPr/>
        </p:nvSpPr>
        <p:spPr>
          <a:xfrm>
            <a:off x="785191" y="2156791"/>
            <a:ext cx="3399183" cy="2256183"/>
          </a:xfrm>
          <a:prstGeom prst="homePlat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dirty="0" smtClean="0"/>
              <a:t>Section Header</a:t>
            </a: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310007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3651D-B379-4089-AB59-736E09A20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Sections</a:t>
            </a:r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3084C302-86AB-4201-9CAF-F3B6F3CF62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369815"/>
              </p:ext>
            </p:extLst>
          </p:nvPr>
        </p:nvGraphicFramePr>
        <p:xfrm>
          <a:off x="838200" y="1690688"/>
          <a:ext cx="7222435" cy="3708400"/>
        </p:xfrm>
        <a:graphic>
          <a:graphicData uri="http://schemas.openxmlformats.org/drawingml/2006/table">
            <a:tbl>
              <a:tblPr firstRow="1" bandRow="1"/>
              <a:tblGrid>
                <a:gridCol w="7222435">
                  <a:extLst>
                    <a:ext uri="{9D8B030D-6E8A-4147-A177-3AD203B41FA5}">
                      <a16:colId xmlns:a16="http://schemas.microsoft.com/office/drawing/2014/main" val="2034851111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[</a:t>
                      </a:r>
                      <a:r>
                        <a:rPr lang="en-US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Nr</a:t>
                      </a: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] Name       Type              </a:t>
                      </a:r>
                      <a:r>
                        <a:rPr lang="en-US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Addr</a:t>
                      </a: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        Off         Size        ES </a:t>
                      </a:r>
                      <a:r>
                        <a:rPr lang="en-US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Flg</a:t>
                      </a: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Lk </a:t>
                      </a:r>
                      <a:r>
                        <a:rPr lang="en-US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Inf</a:t>
                      </a: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Al</a:t>
                      </a:r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809547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572247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[ 1] .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interp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      PROGBITS      08048154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000154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000013 00   A  0   0  1</a:t>
                      </a:r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313409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26105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[14] .text        PROGBITS      08048310 000310 0001b2 00  AX  0   0 16</a:t>
                      </a:r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1221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32680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[25] .data       PROGBITS       0804a014 001014 00000c 00  WA  0   0  4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4002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[26] .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bss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         NOBITS          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0804a020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001020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000008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00  WA  0   0  4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43321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[27] .comment   PROGBITS     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00000000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001020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000034 01  MS  0   0  1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04037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339948"/>
                  </a:ext>
                </a:extLst>
              </a:tr>
            </a:tbl>
          </a:graphicData>
        </a:graphic>
      </p:graphicFrame>
      <p:sp>
        <p:nvSpPr>
          <p:cNvPr id="9" name="TextBox 5">
            <a:extLst>
              <a:ext uri="{FF2B5EF4-FFF2-40B4-BE49-F238E27FC236}">
                <a16:creationId xmlns:a16="http://schemas.microsoft.com/office/drawing/2014/main" id="{A2675407-5E20-42EF-B0D4-1540ED50EDB1}"/>
              </a:ext>
            </a:extLst>
          </p:cNvPr>
          <p:cNvSpPr txBox="1"/>
          <p:nvPr/>
        </p:nvSpPr>
        <p:spPr>
          <a:xfrm>
            <a:off x="8118507" y="2132323"/>
            <a:ext cx="317742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highlight>
                  <a:srgbClr val="00FF00"/>
                </a:highlight>
                <a:latin typeface="Calibri" panose="020F0502020204030204"/>
              </a:rPr>
              <a:t>00000154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:                  </a:t>
            </a:r>
          </a:p>
          <a:p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    2f6c 6962 2f6c 642d 6c69 6e75  /lib/</a:t>
            </a:r>
            <a:r>
              <a:rPr lang="en-US" sz="1200" dirty="0" err="1">
                <a:solidFill>
                  <a:prstClr val="black"/>
                </a:solidFill>
                <a:latin typeface="Calibri" panose="020F0502020204030204"/>
              </a:rPr>
              <a:t>ld-linu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00000160: </a:t>
            </a:r>
          </a:p>
          <a:p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    782e 736f 2e32 00                         x.so.2.</a:t>
            </a:r>
          </a:p>
          <a:p>
            <a:r>
              <a:rPr lang="en-US" altLang="zh-CN" sz="1200" dirty="0" err="1">
                <a:solidFill>
                  <a:prstClr val="black"/>
                </a:solidFill>
                <a:latin typeface="Calibri" panose="020F0502020204030204"/>
              </a:rPr>
              <a:t>interp</a:t>
            </a: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</a:rPr>
              <a:t>解释器，负责加载程序需要的库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46060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DA831-7065-4561-8604-D162EA93D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prstClr val="black"/>
                </a:solidFill>
                <a:latin typeface="Calibri Light" panose="020F0302020204030204"/>
              </a:rPr>
              <a:t>Section </a:t>
            </a:r>
            <a:r>
              <a:rPr lang="en-US" altLang="zh-CN" dirty="0" smtClean="0">
                <a:solidFill>
                  <a:prstClr val="black"/>
                </a:solidFill>
                <a:latin typeface="Calibri Light" panose="020F0302020204030204"/>
              </a:rPr>
              <a:t>Name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DFFA3-FC04-48C2-8D27-B797A2677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85881"/>
          </a:xfrm>
        </p:spPr>
        <p:txBody>
          <a:bodyPr/>
          <a:lstStyle/>
          <a:p>
            <a:pPr lvl="0"/>
            <a:r>
              <a:rPr lang="en-US" altLang="zh-CN" kern="0" dirty="0" err="1">
                <a:solidFill>
                  <a:prstClr val="black"/>
                </a:solidFill>
                <a:latin typeface="Calibri" panose="020F0502020204030204"/>
              </a:rPr>
              <a:t>sh_name</a:t>
            </a:r>
            <a:r>
              <a:rPr lang="zh-CN" altLang="en-US" kern="0" dirty="0">
                <a:solidFill>
                  <a:prstClr val="black"/>
                </a:solidFill>
                <a:latin typeface="Calibri" panose="020F0502020204030204"/>
              </a:rPr>
              <a:t>不是字符串，而是在</a:t>
            </a:r>
            <a:r>
              <a:rPr lang="en-US" altLang="zh-CN" kern="0" dirty="0">
                <a:solidFill>
                  <a:prstClr val="black"/>
                </a:solidFill>
                <a:latin typeface="Calibri" panose="020F0502020204030204"/>
              </a:rPr>
              <a:t>.</a:t>
            </a:r>
            <a:r>
              <a:rPr lang="en-US" altLang="zh-CN" kern="0" dirty="0" err="1">
                <a:solidFill>
                  <a:prstClr val="black"/>
                </a:solidFill>
                <a:latin typeface="Calibri" panose="020F0502020204030204"/>
              </a:rPr>
              <a:t>shstrtab</a:t>
            </a:r>
            <a:r>
              <a:rPr lang="en-US" altLang="zh-CN" kern="0" dirty="0">
                <a:solidFill>
                  <a:prstClr val="black"/>
                </a:solidFill>
                <a:latin typeface="Calibri" panose="020F0502020204030204"/>
              </a:rPr>
              <a:t> section</a:t>
            </a:r>
            <a:r>
              <a:rPr lang="zh-CN" altLang="en-US" kern="0" dirty="0">
                <a:solidFill>
                  <a:prstClr val="black"/>
                </a:solidFill>
                <a:latin typeface="Calibri" panose="020F0502020204030204"/>
              </a:rPr>
              <a:t>内的</a:t>
            </a:r>
            <a:r>
              <a:rPr lang="en-US" altLang="zh-CN" kern="0" dirty="0">
                <a:solidFill>
                  <a:prstClr val="black"/>
                </a:solidFill>
                <a:latin typeface="Calibri" panose="020F0502020204030204"/>
              </a:rPr>
              <a:t>offset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E5470172-54BE-49AF-B80E-603E179B3E03}"/>
              </a:ext>
            </a:extLst>
          </p:cNvPr>
          <p:cNvSpPr/>
          <p:nvPr/>
        </p:nvSpPr>
        <p:spPr>
          <a:xfrm>
            <a:off x="1156447" y="2725271"/>
            <a:ext cx="2241177" cy="824753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elf32_hdr.e_shstrndx </a:t>
            </a:r>
          </a:p>
        </p:txBody>
      </p:sp>
      <p:sp>
        <p:nvSpPr>
          <p:cNvPr id="31" name="Rectangle 4">
            <a:extLst>
              <a:ext uri="{FF2B5EF4-FFF2-40B4-BE49-F238E27FC236}">
                <a16:creationId xmlns:a16="http://schemas.microsoft.com/office/drawing/2014/main" id="{415CC093-F51F-467A-B763-BBF42C327312}"/>
              </a:ext>
            </a:extLst>
          </p:cNvPr>
          <p:cNvSpPr/>
          <p:nvPr/>
        </p:nvSpPr>
        <p:spPr>
          <a:xfrm>
            <a:off x="3872753" y="2725271"/>
            <a:ext cx="1586753" cy="824753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 of str section</a:t>
            </a:r>
          </a:p>
        </p:txBody>
      </p:sp>
      <p:sp>
        <p:nvSpPr>
          <p:cNvPr id="32" name="Rectangle 5">
            <a:extLst>
              <a:ext uri="{FF2B5EF4-FFF2-40B4-BE49-F238E27FC236}">
                <a16:creationId xmlns:a16="http://schemas.microsoft.com/office/drawing/2014/main" id="{F7019EDE-9BA0-4D98-9121-F9D5F5550F54}"/>
              </a:ext>
            </a:extLst>
          </p:cNvPr>
          <p:cNvSpPr/>
          <p:nvPr/>
        </p:nvSpPr>
        <p:spPr>
          <a:xfrm>
            <a:off x="5934635" y="2725271"/>
            <a:ext cx="1586753" cy="824753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 section header</a:t>
            </a:r>
          </a:p>
        </p:txBody>
      </p:sp>
      <p:sp>
        <p:nvSpPr>
          <p:cNvPr id="33" name="TextBox 7">
            <a:extLst>
              <a:ext uri="{FF2B5EF4-FFF2-40B4-BE49-F238E27FC236}">
                <a16:creationId xmlns:a16="http://schemas.microsoft.com/office/drawing/2014/main" id="{0D8CD857-D518-456C-BC4F-7FB7E02B7033}"/>
              </a:ext>
            </a:extLst>
          </p:cNvPr>
          <p:cNvSpPr txBox="1"/>
          <p:nvPr/>
        </p:nvSpPr>
        <p:spPr>
          <a:xfrm>
            <a:off x="8068234" y="2635624"/>
            <a:ext cx="2348753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kern="0" spc="-25" dirty="0" err="1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elf_f</a:t>
            </a:r>
            <a:r>
              <a:rPr lang="zh-CN" alt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的第</a:t>
            </a:r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28</a:t>
            </a:r>
            <a:r>
              <a:rPr lang="zh-CN" alt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个</a:t>
            </a:r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section</a:t>
            </a:r>
          </a:p>
          <a:p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0x180c + 40*28 = 1c6c</a:t>
            </a:r>
          </a:p>
          <a:p>
            <a:pPr algn="just">
              <a:lnSpc>
                <a:spcPct val="125000"/>
              </a:lnSpc>
            </a:pPr>
            <a:r>
              <a:rPr lang="en-US" sz="1600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00001c6c:</a:t>
            </a:r>
            <a:endParaRPr lang="en-US" sz="1600" kern="100" dirty="0">
              <a:solidFill>
                <a:prstClr val="black"/>
              </a:solidFill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lang="en-US" sz="1600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1100 0000 </a:t>
            </a:r>
            <a:r>
              <a:rPr lang="en-US" sz="1600" kern="0" spc="-25" dirty="0" err="1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sh_name</a:t>
            </a:r>
            <a:r>
              <a:rPr lang="en-US" sz="1600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sz="1600" kern="0" spc="-25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0x11</a:t>
            </a:r>
            <a:endParaRPr lang="en-US" sz="1600" kern="100" dirty="0">
              <a:solidFill>
                <a:prstClr val="black"/>
              </a:solidFill>
              <a:highlight>
                <a:srgbClr val="FFFF00"/>
              </a:highlight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lang="en-US" sz="1600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00001c70</a:t>
            </a:r>
            <a:r>
              <a:rPr lang="zh-CN" altLang="en-US" sz="1600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：</a:t>
            </a:r>
            <a:endParaRPr lang="en-US" sz="1600" kern="100" dirty="0">
              <a:solidFill>
                <a:prstClr val="black"/>
              </a:solidFill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lang="en-US" sz="1600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0300 0000 </a:t>
            </a:r>
            <a:r>
              <a:rPr lang="en-US" sz="1600" kern="0" spc="-25" dirty="0" err="1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sh_type</a:t>
            </a:r>
            <a:r>
              <a:rPr lang="en-US" sz="1600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3</a:t>
            </a:r>
            <a:endParaRPr lang="en-US" sz="1600" kern="100" dirty="0">
              <a:solidFill>
                <a:prstClr val="black"/>
              </a:solidFill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lang="en-US" sz="1600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0000 0000 </a:t>
            </a:r>
            <a:r>
              <a:rPr lang="en-US" sz="1600" kern="0" spc="-25" dirty="0" err="1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sh_flags</a:t>
            </a:r>
            <a:r>
              <a:rPr lang="en-US" sz="1600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0</a:t>
            </a:r>
            <a:endParaRPr lang="en-US" sz="1600" kern="100" dirty="0">
              <a:solidFill>
                <a:prstClr val="black"/>
              </a:solidFill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lang="en-US" sz="1600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0000 0000 </a:t>
            </a:r>
            <a:r>
              <a:rPr lang="en-US" sz="1600" kern="0" spc="-25" dirty="0" err="1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sh_addr</a:t>
            </a:r>
            <a:r>
              <a:rPr lang="en-US" sz="1600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0</a:t>
            </a:r>
            <a:endParaRPr lang="en-US" sz="1600" kern="100" dirty="0">
              <a:solidFill>
                <a:prstClr val="black"/>
              </a:solidFill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lang="en-US" sz="1600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ff16 0000 </a:t>
            </a:r>
            <a:r>
              <a:rPr lang="en-US" sz="1600" b="1" kern="0" spc="-25" dirty="0" err="1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sh_offset</a:t>
            </a:r>
            <a:r>
              <a:rPr lang="en-US" sz="1600" b="1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sz="1600" b="1" kern="0" spc="-25" dirty="0">
                <a:solidFill>
                  <a:prstClr val="black"/>
                </a:solidFill>
                <a:highlight>
                  <a:srgbClr val="00FF00"/>
                </a:highlight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0x16ff</a:t>
            </a:r>
            <a:endParaRPr lang="en-US" sz="1600" b="1" kern="100" dirty="0">
              <a:solidFill>
                <a:prstClr val="black"/>
              </a:solidFill>
              <a:highlight>
                <a:srgbClr val="00FF00"/>
              </a:highlight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lang="en-US" sz="1600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00001c80:</a:t>
            </a:r>
            <a:endParaRPr lang="en-US" sz="1600" kern="100" dirty="0">
              <a:solidFill>
                <a:prstClr val="black"/>
              </a:solidFill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sz="1600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0a01 0000 </a:t>
            </a:r>
            <a:r>
              <a:rPr lang="en-US" sz="1600" kern="0" spc="-25" dirty="0" err="1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sh_size</a:t>
            </a:r>
            <a:r>
              <a:rPr lang="en-US" sz="1600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0x10a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Rectangle 8">
            <a:extLst>
              <a:ext uri="{FF2B5EF4-FFF2-40B4-BE49-F238E27FC236}">
                <a16:creationId xmlns:a16="http://schemas.microsoft.com/office/drawing/2014/main" id="{517F985F-6B1E-4562-AA6B-856CF80F7D1E}"/>
              </a:ext>
            </a:extLst>
          </p:cNvPr>
          <p:cNvSpPr/>
          <p:nvPr/>
        </p:nvSpPr>
        <p:spPr>
          <a:xfrm>
            <a:off x="5934634" y="3900629"/>
            <a:ext cx="1586753" cy="824753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 offset</a:t>
            </a:r>
          </a:p>
        </p:txBody>
      </p:sp>
      <p:sp>
        <p:nvSpPr>
          <p:cNvPr id="35" name="TextBox 12">
            <a:extLst>
              <a:ext uri="{FF2B5EF4-FFF2-40B4-BE49-F238E27FC236}">
                <a16:creationId xmlns:a16="http://schemas.microsoft.com/office/drawing/2014/main" id="{20D1AA19-E470-4BFB-AFE0-B274B47749DE}"/>
              </a:ext>
            </a:extLst>
          </p:cNvPr>
          <p:cNvSpPr txBox="1"/>
          <p:nvPr/>
        </p:nvSpPr>
        <p:spPr>
          <a:xfrm>
            <a:off x="264458" y="4105836"/>
            <a:ext cx="554467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  <a:highlight>
                  <a:srgbClr val="00FF00"/>
                </a:highlight>
                <a:latin typeface="Calibri" panose="020F0502020204030204"/>
              </a:rPr>
              <a:t>00001700</a:t>
            </a: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: 2e73 796d 7461 6200 2e73 7472 7461 6200  .symtab..</a:t>
            </a:r>
            <a:r>
              <a:rPr lang="en-US" sz="1400" dirty="0" err="1">
                <a:solidFill>
                  <a:prstClr val="black"/>
                </a:solidFill>
                <a:latin typeface="Calibri" panose="020F0502020204030204"/>
              </a:rPr>
              <a:t>strtab</a:t>
            </a: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.</a:t>
            </a:r>
          </a:p>
          <a:p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00001710: 2e73 6873 7472 7461 6200 2e69 6e74 6572  </a:t>
            </a:r>
            <a:r>
              <a:rPr lang="en-US" sz="1400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.shstrtab</a:t>
            </a: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..inter</a:t>
            </a:r>
          </a:p>
          <a:p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00001720: 7000 2e6e 6f74 652e 4142 492d 7461 6700  p..</a:t>
            </a:r>
            <a:r>
              <a:rPr lang="en-US" sz="1400" dirty="0" err="1">
                <a:solidFill>
                  <a:prstClr val="black"/>
                </a:solidFill>
                <a:latin typeface="Calibri" panose="020F0502020204030204"/>
              </a:rPr>
              <a:t>note.ABI</a:t>
            </a: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-tag.</a:t>
            </a:r>
          </a:p>
          <a:p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00001730: 2e6e 6f74 652e 676e 752e 6275 696c 642d  .</a:t>
            </a:r>
            <a:r>
              <a:rPr lang="en-US" sz="1400" dirty="0" err="1">
                <a:solidFill>
                  <a:prstClr val="black"/>
                </a:solidFill>
                <a:latin typeface="Calibri" panose="020F0502020204030204"/>
              </a:rPr>
              <a:t>note.gnu.build</a:t>
            </a: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-</a:t>
            </a:r>
          </a:p>
          <a:p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00001740: 6964 002e 676e 752e 6861 7368 002e 6479  id..gnu.hash..</a:t>
            </a:r>
            <a:r>
              <a:rPr lang="en-US" sz="1400" dirty="0" err="1">
                <a:solidFill>
                  <a:prstClr val="black"/>
                </a:solidFill>
                <a:latin typeface="Calibri" panose="020F0502020204030204"/>
              </a:rPr>
              <a:t>dy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00001750: 6e73 796d 002e 6479 6e73 7472 002e 676e  nsym..dynstr..</a:t>
            </a:r>
            <a:r>
              <a:rPr lang="en-US" sz="1400" dirty="0" err="1">
                <a:solidFill>
                  <a:prstClr val="black"/>
                </a:solidFill>
                <a:latin typeface="Calibri" panose="020F0502020204030204"/>
              </a:rPr>
              <a:t>gn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00001760: 752e 7665 7273 696f 6e00 2e67 6e75 2e76  u.version..</a:t>
            </a:r>
            <a:r>
              <a:rPr lang="en-US" sz="1400" dirty="0" err="1">
                <a:solidFill>
                  <a:prstClr val="black"/>
                </a:solidFill>
                <a:latin typeface="Calibri" panose="020F0502020204030204"/>
              </a:rPr>
              <a:t>gnu.v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00001770: 6572 7369 6f6e 5f72 002e 7265 6c2e 6479  ersion_r..</a:t>
            </a:r>
            <a:r>
              <a:rPr lang="en-US" sz="1400" dirty="0" err="1">
                <a:solidFill>
                  <a:prstClr val="black"/>
                </a:solidFill>
                <a:latin typeface="Calibri" panose="020F0502020204030204"/>
              </a:rPr>
              <a:t>rel.dy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00001780: 6e00 2e72 656c 2e70 6c74 002e 696e 6974  n..rel.</a:t>
            </a:r>
            <a:r>
              <a:rPr lang="en-US" sz="1400" dirty="0" err="1">
                <a:solidFill>
                  <a:prstClr val="black"/>
                </a:solidFill>
                <a:latin typeface="Calibri" panose="020F0502020204030204"/>
              </a:rPr>
              <a:t>plt</a:t>
            </a: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..</a:t>
            </a:r>
            <a:r>
              <a:rPr lang="en-US" sz="1400" dirty="0" err="1">
                <a:solidFill>
                  <a:prstClr val="black"/>
                </a:solidFill>
                <a:latin typeface="Calibri" panose="020F0502020204030204"/>
              </a:rPr>
              <a:t>init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…</a:t>
            </a:r>
          </a:p>
        </p:txBody>
      </p:sp>
      <p:cxnSp>
        <p:nvCxnSpPr>
          <p:cNvPr id="36" name="Straight Arrow Connector 14">
            <a:extLst>
              <a:ext uri="{FF2B5EF4-FFF2-40B4-BE49-F238E27FC236}">
                <a16:creationId xmlns:a16="http://schemas.microsoft.com/office/drawing/2014/main" id="{AACA041D-63B8-48EE-8713-37A1970B30BB}"/>
              </a:ext>
            </a:extLst>
          </p:cNvPr>
          <p:cNvCxnSpPr>
            <a:stCxn id="30" idx="3"/>
            <a:endCxn id="31" idx="1"/>
          </p:cNvCxnSpPr>
          <p:nvPr/>
        </p:nvCxnSpPr>
        <p:spPr>
          <a:xfrm>
            <a:off x="3397624" y="3137648"/>
            <a:ext cx="475129" cy="0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7" name="Straight Arrow Connector 15">
            <a:extLst>
              <a:ext uri="{FF2B5EF4-FFF2-40B4-BE49-F238E27FC236}">
                <a16:creationId xmlns:a16="http://schemas.microsoft.com/office/drawing/2014/main" id="{270FDC22-28B0-4A2E-BF0B-1B3F34248E34}"/>
              </a:ext>
            </a:extLst>
          </p:cNvPr>
          <p:cNvCxnSpPr/>
          <p:nvPr/>
        </p:nvCxnSpPr>
        <p:spPr>
          <a:xfrm>
            <a:off x="5459505" y="3137648"/>
            <a:ext cx="475129" cy="0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8" name="Straight Arrow Connector 16">
            <a:extLst>
              <a:ext uri="{FF2B5EF4-FFF2-40B4-BE49-F238E27FC236}">
                <a16:creationId xmlns:a16="http://schemas.microsoft.com/office/drawing/2014/main" id="{D0800863-EF40-46A7-B665-C3DC5EBF4E6B}"/>
              </a:ext>
            </a:extLst>
          </p:cNvPr>
          <p:cNvCxnSpPr>
            <a:cxnSpLocks/>
            <a:stCxn id="32" idx="2"/>
            <a:endCxn id="34" idx="0"/>
          </p:cNvCxnSpPr>
          <p:nvPr/>
        </p:nvCxnSpPr>
        <p:spPr>
          <a:xfrm flipH="1">
            <a:off x="6728011" y="3550024"/>
            <a:ext cx="1" cy="350605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" name="Straight Arrow Connector 20">
            <a:extLst>
              <a:ext uri="{FF2B5EF4-FFF2-40B4-BE49-F238E27FC236}">
                <a16:creationId xmlns:a16="http://schemas.microsoft.com/office/drawing/2014/main" id="{C0451040-941D-4F64-BF2C-59E6CE8C3624}"/>
              </a:ext>
            </a:extLst>
          </p:cNvPr>
          <p:cNvCxnSpPr>
            <a:endCxn id="35" idx="3"/>
          </p:cNvCxnSpPr>
          <p:nvPr/>
        </p:nvCxnSpPr>
        <p:spPr>
          <a:xfrm flipH="1">
            <a:off x="5809129" y="4383741"/>
            <a:ext cx="125506" cy="845480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0" name="Straight Connector 9">
            <a:extLst>
              <a:ext uri="{FF2B5EF4-FFF2-40B4-BE49-F238E27FC236}">
                <a16:creationId xmlns:a16="http://schemas.microsoft.com/office/drawing/2014/main" id="{F6D61CEF-E611-40E6-A658-D3553A418A97}"/>
              </a:ext>
            </a:extLst>
          </p:cNvPr>
          <p:cNvCxnSpPr>
            <a:stCxn id="32" idx="3"/>
            <a:endCxn id="33" idx="1"/>
          </p:cNvCxnSpPr>
          <p:nvPr/>
        </p:nvCxnSpPr>
        <p:spPr>
          <a:xfrm>
            <a:off x="7521388" y="3137648"/>
            <a:ext cx="546846" cy="1175359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dash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557558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E4282-4DF4-405E-8A15-ED56FEE17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data&amp;bss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941CF891-7DF5-4192-8BCC-F910242DF578}"/>
              </a:ext>
            </a:extLst>
          </p:cNvPr>
          <p:cNvSpPr txBox="1"/>
          <p:nvPr/>
        </p:nvSpPr>
        <p:spPr>
          <a:xfrm>
            <a:off x="950258" y="2282896"/>
            <a:ext cx="5470420" cy="2100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$</a:t>
            </a:r>
            <a:r>
              <a:rPr lang="en-US" kern="0" spc="-25" dirty="0" err="1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objdump</a:t>
            </a:r>
            <a:endParaRPr lang="en-US" kern="0" spc="-25" dirty="0">
              <a:solidFill>
                <a:prstClr val="black"/>
              </a:solidFill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25000"/>
              </a:lnSpc>
            </a:pPr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804841c:	c7 05 24 a0 04 08 02 </a:t>
            </a:r>
            <a:r>
              <a:rPr lang="en-US" kern="0" spc="-25" dirty="0" err="1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movl</a:t>
            </a:r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  $0x2,</a:t>
            </a:r>
            <a:r>
              <a:rPr lang="en-US" kern="0" spc="-25" dirty="0">
                <a:solidFill>
                  <a:prstClr val="black"/>
                </a:solidFill>
                <a:highlight>
                  <a:srgbClr val="00FF00"/>
                </a:highlight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0x804a024</a:t>
            </a:r>
            <a:endParaRPr lang="en-US" kern="100" dirty="0">
              <a:solidFill>
                <a:prstClr val="black"/>
              </a:solidFill>
              <a:highlight>
                <a:srgbClr val="00FF00"/>
              </a:highlight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8048423:	00 00 00 </a:t>
            </a:r>
            <a:endParaRPr lang="en-US" kern="100" dirty="0">
              <a:solidFill>
                <a:prstClr val="black"/>
              </a:solidFill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8048426:	8b 15 1c a0 04 08    	mov    </a:t>
            </a:r>
            <a:r>
              <a:rPr lang="en-US" kern="0" spc="-25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0x804a01c</a:t>
            </a:r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,%edx</a:t>
            </a:r>
            <a:endParaRPr lang="en-US" kern="100" dirty="0">
              <a:solidFill>
                <a:prstClr val="black"/>
              </a:solidFill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804842c:	a1 24 a0 04 08       	mov    0x804a024,%eax</a:t>
            </a:r>
            <a:endParaRPr lang="en-US" kern="100" dirty="0">
              <a:solidFill>
                <a:prstClr val="black"/>
              </a:solidFill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8048431:	01 d0                	add    %</a:t>
            </a:r>
            <a:r>
              <a:rPr lang="en-US" kern="0" spc="-25" dirty="0" err="1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edx</a:t>
            </a:r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,%</a:t>
            </a:r>
            <a:r>
              <a:rPr lang="en-US" kern="0" spc="-25" dirty="0" err="1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eax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78775158-A2A8-46C7-9AB2-470764E081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564770"/>
              </p:ext>
            </p:extLst>
          </p:nvPr>
        </p:nvGraphicFramePr>
        <p:xfrm>
          <a:off x="6491345" y="1816194"/>
          <a:ext cx="3667594" cy="3017520"/>
        </p:xfrm>
        <a:graphic>
          <a:graphicData uri="http://schemas.openxmlformats.org/drawingml/2006/table">
            <a:tbl>
              <a:tblPr firstRow="1" bandRow="1"/>
              <a:tblGrid>
                <a:gridCol w="3667594">
                  <a:extLst>
                    <a:ext uri="{9D8B030D-6E8A-4147-A177-3AD203B41FA5}">
                      <a16:colId xmlns:a16="http://schemas.microsoft.com/office/drawing/2014/main" val="3125646414"/>
                    </a:ext>
                  </a:extLst>
                </a:gridCol>
              </a:tblGrid>
              <a:tr h="27916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//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elf_f.c</a:t>
                      </a:r>
                      <a:endParaRPr lang="en-US" sz="16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#include &lt;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stdio.h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init_data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 1;</a:t>
                      </a:r>
                    </a:p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u_init_data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main(){</a:t>
                      </a:r>
                    </a:p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u_init_data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2;</a:t>
                      </a:r>
                    </a:p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printf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("%d\n", 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init_data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 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u_init_data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return 0;</a:t>
                      </a:r>
                    </a:p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8923"/>
                  </a:ext>
                </a:extLst>
              </a:tr>
            </a:tbl>
          </a:graphicData>
        </a:graphic>
      </p:graphicFrame>
      <p:graphicFrame>
        <p:nvGraphicFramePr>
          <p:cNvPr id="13" name="Table 9">
            <a:extLst>
              <a:ext uri="{FF2B5EF4-FFF2-40B4-BE49-F238E27FC236}">
                <a16:creationId xmlns:a16="http://schemas.microsoft.com/office/drawing/2014/main" id="{A30128E7-E998-4BCB-B539-FD72F4786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308325"/>
              </p:ext>
            </p:extLst>
          </p:nvPr>
        </p:nvGraphicFramePr>
        <p:xfrm>
          <a:off x="1689848" y="5200067"/>
          <a:ext cx="6269530" cy="1280160"/>
        </p:xfrm>
        <a:graphic>
          <a:graphicData uri="http://schemas.openxmlformats.org/drawingml/2006/table">
            <a:tbl>
              <a:tblPr firstRow="1" bandRow="1"/>
              <a:tblGrid>
                <a:gridCol w="6269530">
                  <a:extLst>
                    <a:ext uri="{9D8B030D-6E8A-4147-A177-3AD203B41FA5}">
                      <a16:colId xmlns:a16="http://schemas.microsoft.com/office/drawing/2014/main" val="2714113857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[25] .data       PROGBITS      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0804a014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001014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00000c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00  WA  0   0  4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59072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[26] .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bss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NOBITS          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0804a020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001020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000008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00  WA  0   0  4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191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5972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64CE5-206D-49E8-BCCA-BA31AF09C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951" y="3355130"/>
            <a:ext cx="2669407" cy="2427333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文件由内核加载执行，内核不是以</a:t>
            </a:r>
            <a:r>
              <a:rPr lang="en-US" altLang="zh-CN" sz="1800" dirty="0"/>
              <a:t>section</a:t>
            </a:r>
            <a:r>
              <a:rPr lang="zh-CN" altLang="en-US" sz="1800" dirty="0"/>
              <a:t>为单位加载的文件内容的，而是以</a:t>
            </a:r>
            <a:r>
              <a:rPr lang="en-US" altLang="zh-CN" sz="1800" dirty="0"/>
              <a:t>segment</a:t>
            </a:r>
            <a:r>
              <a:rPr lang="zh-CN" altLang="en-US" sz="1800" dirty="0"/>
              <a:t>为单位。一个</a:t>
            </a:r>
            <a:r>
              <a:rPr lang="en-US" altLang="zh-CN" sz="1800" dirty="0"/>
              <a:t>segment</a:t>
            </a:r>
            <a:r>
              <a:rPr lang="zh-CN" altLang="en-US" sz="1800" dirty="0"/>
              <a:t>可以包含</a:t>
            </a:r>
            <a:r>
              <a:rPr lang="en-US" altLang="zh-CN" sz="1800" dirty="0"/>
              <a:t>0</a:t>
            </a:r>
            <a:r>
              <a:rPr lang="zh-CN" altLang="en-US" sz="1800" dirty="0"/>
              <a:t>或多个</a:t>
            </a:r>
            <a:r>
              <a:rPr lang="en-US" altLang="zh-CN" sz="1800" dirty="0"/>
              <a:t>section</a:t>
            </a:r>
            <a:r>
              <a:rPr lang="zh-CN" altLang="en-US" sz="1800" dirty="0"/>
              <a:t>，由</a:t>
            </a:r>
            <a:r>
              <a:rPr lang="en-US" altLang="zh-CN" sz="1800" dirty="0" err="1"/>
              <a:t>ph</a:t>
            </a:r>
            <a:r>
              <a:rPr lang="zh-CN" altLang="en-US" sz="1800" dirty="0"/>
              <a:t>描述</a:t>
            </a:r>
            <a:endParaRPr lang="en-US" sz="18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AD75398-4B76-4796-9593-DC6C0F2A2A6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662102" y="1065977"/>
          <a:ext cx="6903724" cy="4949561"/>
        </p:xfrm>
        <a:graphic>
          <a:graphicData uri="http://schemas.openxmlformats.org/drawingml/2006/table">
            <a:tbl>
              <a:tblPr firstRow="1" firstCol="1" bandRow="1"/>
              <a:tblGrid>
                <a:gridCol w="1539220">
                  <a:extLst>
                    <a:ext uri="{9D8B030D-6E8A-4147-A177-3AD203B41FA5}">
                      <a16:colId xmlns:a16="http://schemas.microsoft.com/office/drawing/2014/main" val="4000957515"/>
                    </a:ext>
                  </a:extLst>
                </a:gridCol>
                <a:gridCol w="2307838">
                  <a:extLst>
                    <a:ext uri="{9D8B030D-6E8A-4147-A177-3AD203B41FA5}">
                      <a16:colId xmlns:a16="http://schemas.microsoft.com/office/drawing/2014/main" val="431580027"/>
                    </a:ext>
                  </a:extLst>
                </a:gridCol>
                <a:gridCol w="3056666">
                  <a:extLst>
                    <a:ext uri="{9D8B030D-6E8A-4147-A177-3AD203B41FA5}">
                      <a16:colId xmlns:a16="http://schemas.microsoft.com/office/drawing/2014/main" val="2394623067"/>
                    </a:ext>
                  </a:extLst>
                </a:gridCol>
              </a:tblGrid>
              <a:tr h="511446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ja-JP" altLang="en-US" sz="2200" b="0" i="0" u="none" strike="noStrike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字段</a:t>
                      </a:r>
                      <a:endParaRPr lang="ja-JP" altLang="en-US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08" marR="142508" marT="1979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D9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ja-JP" altLang="en-US" sz="2200" b="0" i="0" u="none" strike="noStrike" spc="-25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类型</a:t>
                      </a:r>
                      <a:endParaRPr lang="ja-JP" altLang="en-US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08" marR="142508" marT="1979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D9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ja-JP" altLang="en-US" sz="2200" b="0" i="0" u="none" strike="noStrike" spc="-25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描述</a:t>
                      </a:r>
                      <a:endParaRPr lang="ja-JP" altLang="en-US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08" marR="142508" marT="1979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D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790621"/>
                  </a:ext>
                </a:extLst>
              </a:tr>
              <a:tr h="511446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spc="-25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p_type</a:t>
                      </a:r>
                      <a:endParaRPr lang="en-US" sz="3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08" marR="142508" marT="1979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Elf32_Word 4</a:t>
                      </a:r>
                      <a:r>
                        <a:rPr lang="ja-JP" altLang="en-US" sz="22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字节</a:t>
                      </a:r>
                      <a:endParaRPr lang="ja-JP" altLang="en-US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08" marR="142508" marT="1979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ja-JP" altLang="en-US" sz="2200" b="0" i="0" u="none" strike="noStrike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类型</a:t>
                      </a:r>
                      <a:endParaRPr lang="ja-JP" altLang="en-US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08" marR="142508" marT="1979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0240516"/>
                  </a:ext>
                </a:extLst>
              </a:tr>
              <a:tr h="511446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p_offset</a:t>
                      </a:r>
                      <a:endParaRPr lang="en-US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08" marR="142508" marT="1979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Elf32_Off 4</a:t>
                      </a:r>
                      <a:r>
                        <a:rPr lang="ja-JP" altLang="en-US" sz="22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字节</a:t>
                      </a:r>
                      <a:endParaRPr lang="ja-JP" altLang="en-US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08" marR="142508" marT="1979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ja-JP" altLang="en-US" sz="2200" b="0" i="0" u="none" strike="noStrike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偏移量</a:t>
                      </a:r>
                      <a:endParaRPr lang="ja-JP" altLang="en-US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08" marR="142508" marT="1979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8448200"/>
                  </a:ext>
                </a:extLst>
              </a:tr>
              <a:tr h="511446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p_vaddr</a:t>
                      </a:r>
                      <a:endParaRPr lang="en-US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08" marR="142508" marT="1979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Elf32_Addr 4</a:t>
                      </a:r>
                      <a:r>
                        <a:rPr lang="ja-JP" altLang="en-US" sz="22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字节</a:t>
                      </a:r>
                      <a:endParaRPr lang="ja-JP" altLang="en-US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08" marR="142508" marT="1979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ja-JP" altLang="en-US" sz="2200" b="0" i="0" u="none" strike="noStrike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虚拟地址</a:t>
                      </a:r>
                      <a:endParaRPr lang="ja-JP" altLang="en-US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08" marR="142508" marT="1979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4700617"/>
                  </a:ext>
                </a:extLst>
              </a:tr>
              <a:tr h="511446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p_paddr</a:t>
                      </a:r>
                      <a:endParaRPr lang="en-US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08" marR="142508" marT="1979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Elf32_Addr</a:t>
                      </a:r>
                      <a:endParaRPr lang="en-US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08" marR="142508" marT="1979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ja-JP" altLang="en-US" sz="2200" b="0" i="0" u="none" strike="noStrike" spc="-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物理地址</a:t>
                      </a:r>
                      <a:r>
                        <a:rPr lang="zh-CN" altLang="en-US" sz="2200" b="0" i="0" u="none" strike="noStrike" spc="-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，</a:t>
                      </a:r>
                      <a:r>
                        <a:rPr lang="en-US" altLang="zh-CN" sz="2200" b="0" i="0" u="none" strike="noStrike" spc="-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x86</a:t>
                      </a:r>
                      <a:r>
                        <a:rPr lang="zh-CN" altLang="en-US" sz="2200" b="0" i="0" u="none" strike="noStrike" spc="-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不用</a:t>
                      </a:r>
                      <a:endParaRPr lang="ja-JP" altLang="en-US" sz="3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08" marR="142508" marT="1979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6792203"/>
                  </a:ext>
                </a:extLst>
              </a:tr>
              <a:tr h="511446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spc="-25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p_filesz</a:t>
                      </a:r>
                      <a:endParaRPr lang="en-US" sz="3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08" marR="142508" marT="1979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Elf32_Word</a:t>
                      </a:r>
                      <a:endParaRPr lang="en-US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08" marR="142508" marT="1979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segment</a:t>
                      </a:r>
                      <a:r>
                        <a:rPr lang="ja-JP" altLang="en-US" sz="22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的大小</a:t>
                      </a:r>
                      <a:endParaRPr lang="ja-JP" altLang="en-US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08" marR="142508" marT="1979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8504017"/>
                  </a:ext>
                </a:extLst>
              </a:tr>
              <a:tr h="511446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spc="-25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p_memsz</a:t>
                      </a:r>
                      <a:endParaRPr lang="en-US" sz="3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08" marR="142508" marT="1979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Elf32_Word</a:t>
                      </a:r>
                      <a:endParaRPr lang="en-US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08" marR="142508" marT="1979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segment</a:t>
                      </a:r>
                      <a:r>
                        <a:rPr lang="ja-JP" altLang="en-US" sz="22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占内存的大小</a:t>
                      </a:r>
                      <a:endParaRPr lang="ja-JP" altLang="en-US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08" marR="142508" marT="1979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8976693"/>
                  </a:ext>
                </a:extLst>
              </a:tr>
              <a:tr h="511446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p_flags</a:t>
                      </a:r>
                      <a:endParaRPr lang="en-US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08" marR="142508" marT="1979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Elf32_Word</a:t>
                      </a:r>
                      <a:endParaRPr lang="en-US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08" marR="142508" marT="1979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ja-JP" altLang="en-US" sz="2200" b="0" i="0" u="none" strike="noStrike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读写执行标志</a:t>
                      </a:r>
                      <a:endParaRPr lang="ja-JP" altLang="en-US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08" marR="142508" marT="1979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2693286"/>
                  </a:ext>
                </a:extLst>
              </a:tr>
              <a:tr h="511446"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p_align</a:t>
                      </a:r>
                      <a:endParaRPr lang="en-US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08" marR="142508" marT="1979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spc="-25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Elf32_Word</a:t>
                      </a:r>
                      <a:endParaRPr lang="en-US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08" marR="142508" marT="1979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 fontAlgn="t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ja-JP" altLang="en-US" sz="2200" b="0" i="0" u="none" strike="noStrike" spc="-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对齐</a:t>
                      </a:r>
                      <a:endParaRPr lang="ja-JP" altLang="en-US" sz="3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08" marR="142508" marT="1979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7683794"/>
                  </a:ext>
                </a:extLst>
              </a:tr>
            </a:tbl>
          </a:graphicData>
        </a:graphic>
      </p:graphicFrame>
      <p:sp>
        <p:nvSpPr>
          <p:cNvPr id="8" name="五边形 7"/>
          <p:cNvSpPr/>
          <p:nvPr/>
        </p:nvSpPr>
        <p:spPr>
          <a:xfrm>
            <a:off x="966951" y="745434"/>
            <a:ext cx="3399183" cy="2256183"/>
          </a:xfrm>
          <a:prstGeom prst="homePlat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dirty="0" smtClean="0"/>
              <a:t>Program Header</a:t>
            </a: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1108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3651D-B379-4089-AB59-736E09A20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 Light" panose="020F0302020204030204" pitchFamily="34" charset="0"/>
                <a:cs typeface="Calibri Light" panose="020F0302020204030204" pitchFamily="34" charset="0"/>
              </a:rPr>
              <a:t>PHs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3084C302-86AB-4201-9CAF-F3B6F3CF62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13116"/>
              </p:ext>
            </p:extLst>
          </p:nvPr>
        </p:nvGraphicFramePr>
        <p:xfrm>
          <a:off x="838200" y="1848404"/>
          <a:ext cx="7741024" cy="3235960"/>
        </p:xfrm>
        <a:graphic>
          <a:graphicData uri="http://schemas.openxmlformats.org/drawingml/2006/table">
            <a:tbl>
              <a:tblPr firstRow="1" bandRow="1"/>
              <a:tblGrid>
                <a:gridCol w="7741024">
                  <a:extLst>
                    <a:ext uri="{9D8B030D-6E8A-4147-A177-3AD203B41FA5}">
                      <a16:colId xmlns:a16="http://schemas.microsoft.com/office/drawing/2014/main" val="2034851111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Type           Offset      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VirtAddr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    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PhysAddr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    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FileSiz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  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MemSiz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Flg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Align</a:t>
                      </a:r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809547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572247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INTERP     0x000154 0x08048154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0x08048154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0x00013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0x00013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R   0x1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     [Requesting program interpreter: /lib/ld-linux.so.2]</a:t>
                      </a:r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313409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26105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LOAD        0x000000 0x08048000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0x08048000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0x005dc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0x005dc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R E 0x1000</a:t>
                      </a:r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1221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32680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LOAD        0x000f08 0x08049f08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0x08049f08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0x00118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0x00120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RW  0x1000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4002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339948"/>
                  </a:ext>
                </a:extLst>
              </a:tr>
            </a:tbl>
          </a:graphicData>
        </a:graphic>
      </p:graphicFrame>
      <p:sp>
        <p:nvSpPr>
          <p:cNvPr id="14" name="Left Brace 2">
            <a:extLst>
              <a:ext uri="{FF2B5EF4-FFF2-40B4-BE49-F238E27FC236}">
                <a16:creationId xmlns:a16="http://schemas.microsoft.com/office/drawing/2014/main" id="{D5F77C4B-5B97-4371-B884-D4E042D54499}"/>
              </a:ext>
            </a:extLst>
          </p:cNvPr>
          <p:cNvSpPr/>
          <p:nvPr/>
        </p:nvSpPr>
        <p:spPr>
          <a:xfrm>
            <a:off x="8579224" y="3429000"/>
            <a:ext cx="475129" cy="2218765"/>
          </a:xfrm>
          <a:prstGeom prst="leftBrace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92D22754-EDB9-4103-92A9-A88B25BF6763}"/>
              </a:ext>
            </a:extLst>
          </p:cNvPr>
          <p:cNvSpPr txBox="1"/>
          <p:nvPr/>
        </p:nvSpPr>
        <p:spPr>
          <a:xfrm>
            <a:off x="9054353" y="3384220"/>
            <a:ext cx="130222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.</a:t>
            </a:r>
            <a:r>
              <a:rPr lang="en-US" kern="0" spc="-25" dirty="0" err="1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init_array</a:t>
            </a:r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.</a:t>
            </a:r>
            <a:r>
              <a:rPr lang="en-US" kern="0" spc="-25" dirty="0" err="1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fini_array</a:t>
            </a:r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.</a:t>
            </a:r>
            <a:r>
              <a:rPr lang="en-US" kern="0" spc="-25" dirty="0" err="1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jcr</a:t>
            </a:r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.dynamic </a:t>
            </a:r>
          </a:p>
          <a:p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.got </a:t>
            </a:r>
          </a:p>
          <a:p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.</a:t>
            </a:r>
            <a:r>
              <a:rPr lang="en-US" kern="0" spc="-25" dirty="0" err="1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got.plt</a:t>
            </a:r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.data </a:t>
            </a:r>
          </a:p>
          <a:p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.</a:t>
            </a:r>
            <a:r>
              <a:rPr lang="en-US" kern="0" spc="-25" dirty="0" err="1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bss</a:t>
            </a:r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7DC9C6A3-E09E-448A-A41B-DE5C47793185}"/>
              </a:ext>
            </a:extLst>
          </p:cNvPr>
          <p:cNvSpPr txBox="1"/>
          <p:nvPr/>
        </p:nvSpPr>
        <p:spPr>
          <a:xfrm>
            <a:off x="8733661" y="2901952"/>
            <a:ext cx="1814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[0xf08, 0x1020)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32866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2D7A9-2238-42DB-81EB-EE47791D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加载执行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1928E-1B6B-4B41-BA9D-B8119667E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62399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栈设置</a:t>
            </a:r>
            <a:endParaRPr lang="en-US" altLang="zh-CN" dirty="0"/>
          </a:p>
          <a:p>
            <a:r>
              <a:rPr lang="zh-CN" altLang="en-US" dirty="0"/>
              <a:t>加载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77" name="Rectangle 3">
            <a:extLst>
              <a:ext uri="{FF2B5EF4-FFF2-40B4-BE49-F238E27FC236}">
                <a16:creationId xmlns:a16="http://schemas.microsoft.com/office/drawing/2014/main" id="{0E8EA48E-E46E-4D3D-B348-8EA2C55C16D1}"/>
              </a:ext>
            </a:extLst>
          </p:cNvPr>
          <p:cNvSpPr/>
          <p:nvPr/>
        </p:nvSpPr>
        <p:spPr>
          <a:xfrm>
            <a:off x="3722458" y="1703734"/>
            <a:ext cx="2641600" cy="659206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8" name="Straight Connector 4">
            <a:extLst>
              <a:ext uri="{FF2B5EF4-FFF2-40B4-BE49-F238E27FC236}">
                <a16:creationId xmlns:a16="http://schemas.microsoft.com/office/drawing/2014/main" id="{06987668-ED98-4131-B987-827B2C3DA55D}"/>
              </a:ext>
            </a:extLst>
          </p:cNvPr>
          <p:cNvCxnSpPr/>
          <p:nvPr/>
        </p:nvCxnSpPr>
        <p:spPr>
          <a:xfrm>
            <a:off x="6364058" y="1703734"/>
            <a:ext cx="2275840" cy="0"/>
          </a:xfrm>
          <a:prstGeom prst="line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</p:cxnSp>
      <p:cxnSp>
        <p:nvCxnSpPr>
          <p:cNvPr id="79" name="Straight Connector 5">
            <a:extLst>
              <a:ext uri="{FF2B5EF4-FFF2-40B4-BE49-F238E27FC236}">
                <a16:creationId xmlns:a16="http://schemas.microsoft.com/office/drawing/2014/main" id="{2409BF87-D599-40B5-9C39-83007E5FCDCC}"/>
              </a:ext>
            </a:extLst>
          </p:cNvPr>
          <p:cNvCxnSpPr/>
          <p:nvPr/>
        </p:nvCxnSpPr>
        <p:spPr>
          <a:xfrm>
            <a:off x="6367644" y="2370709"/>
            <a:ext cx="2275840" cy="0"/>
          </a:xfrm>
          <a:prstGeom prst="line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</p:cxnSp>
      <p:sp>
        <p:nvSpPr>
          <p:cNvPr id="80" name="TextBox 6">
            <a:extLst>
              <a:ext uri="{FF2B5EF4-FFF2-40B4-BE49-F238E27FC236}">
                <a16:creationId xmlns:a16="http://schemas.microsoft.com/office/drawing/2014/main" id="{84837AD6-25C3-4390-9F99-A0135347788B}"/>
              </a:ext>
            </a:extLst>
          </p:cNvPr>
          <p:cNvSpPr txBox="1"/>
          <p:nvPr/>
        </p:nvSpPr>
        <p:spPr>
          <a:xfrm>
            <a:off x="8634819" y="1513508"/>
            <a:ext cx="1147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3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</a:rPr>
              <a:t>G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1" name="Rectangle 7">
            <a:extLst>
              <a:ext uri="{FF2B5EF4-FFF2-40B4-BE49-F238E27FC236}">
                <a16:creationId xmlns:a16="http://schemas.microsoft.com/office/drawing/2014/main" id="{1461D03A-9921-4E1C-8842-FE4C8E5003EE}"/>
              </a:ext>
            </a:extLst>
          </p:cNvPr>
          <p:cNvSpPr/>
          <p:nvPr/>
        </p:nvSpPr>
        <p:spPr>
          <a:xfrm>
            <a:off x="3722458" y="3677123"/>
            <a:ext cx="2641600" cy="459241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bss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Rectangle 9">
            <a:extLst>
              <a:ext uri="{FF2B5EF4-FFF2-40B4-BE49-F238E27FC236}">
                <a16:creationId xmlns:a16="http://schemas.microsoft.com/office/drawing/2014/main" id="{7F873410-3961-437A-9E46-B54B2894AB82}"/>
              </a:ext>
            </a:extLst>
          </p:cNvPr>
          <p:cNvSpPr/>
          <p:nvPr/>
        </p:nvSpPr>
        <p:spPr>
          <a:xfrm>
            <a:off x="3722458" y="4128595"/>
            <a:ext cx="2641600" cy="558748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LOAD           0x000f08 0x08049f08 0x00118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3" name="Straight Connector 10">
            <a:extLst>
              <a:ext uri="{FF2B5EF4-FFF2-40B4-BE49-F238E27FC236}">
                <a16:creationId xmlns:a16="http://schemas.microsoft.com/office/drawing/2014/main" id="{16ECDCBC-77D6-4E13-BD72-09255CF50054}"/>
              </a:ext>
            </a:extLst>
          </p:cNvPr>
          <p:cNvCxnSpPr/>
          <p:nvPr/>
        </p:nvCxnSpPr>
        <p:spPr>
          <a:xfrm>
            <a:off x="6364058" y="4687342"/>
            <a:ext cx="2275840" cy="0"/>
          </a:xfrm>
          <a:prstGeom prst="line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</p:cxnSp>
      <p:sp>
        <p:nvSpPr>
          <p:cNvPr id="84" name="Rectangle 12">
            <a:extLst>
              <a:ext uri="{FF2B5EF4-FFF2-40B4-BE49-F238E27FC236}">
                <a16:creationId xmlns:a16="http://schemas.microsoft.com/office/drawing/2014/main" id="{04C6A5D2-F558-4DD2-A431-9C913745137E}"/>
              </a:ext>
            </a:extLst>
          </p:cNvPr>
          <p:cNvSpPr/>
          <p:nvPr/>
        </p:nvSpPr>
        <p:spPr>
          <a:xfrm>
            <a:off x="3722458" y="4688490"/>
            <a:ext cx="2641600" cy="400663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…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Rectangle 14">
            <a:extLst>
              <a:ext uri="{FF2B5EF4-FFF2-40B4-BE49-F238E27FC236}">
                <a16:creationId xmlns:a16="http://schemas.microsoft.com/office/drawing/2014/main" id="{E4F2D424-2688-47C3-A7EF-90796063C07A}"/>
              </a:ext>
            </a:extLst>
          </p:cNvPr>
          <p:cNvSpPr/>
          <p:nvPr/>
        </p:nvSpPr>
        <p:spPr>
          <a:xfrm>
            <a:off x="3722458" y="5096044"/>
            <a:ext cx="2641600" cy="544090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LOAD           0x000000 0x08048000  0x005dc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6" name="Straight Connector 15">
            <a:extLst>
              <a:ext uri="{FF2B5EF4-FFF2-40B4-BE49-F238E27FC236}">
                <a16:creationId xmlns:a16="http://schemas.microsoft.com/office/drawing/2014/main" id="{F800C7CB-0934-4183-A4F0-B4E137A5B304}"/>
              </a:ext>
            </a:extLst>
          </p:cNvPr>
          <p:cNvCxnSpPr/>
          <p:nvPr/>
        </p:nvCxnSpPr>
        <p:spPr>
          <a:xfrm>
            <a:off x="6364058" y="5640133"/>
            <a:ext cx="2275840" cy="0"/>
          </a:xfrm>
          <a:prstGeom prst="line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</p:cxnSp>
      <p:sp>
        <p:nvSpPr>
          <p:cNvPr id="87" name="Rectangle 17">
            <a:extLst>
              <a:ext uri="{FF2B5EF4-FFF2-40B4-BE49-F238E27FC236}">
                <a16:creationId xmlns:a16="http://schemas.microsoft.com/office/drawing/2014/main" id="{542DB541-3D13-456B-8094-ACA4C870E426}"/>
              </a:ext>
            </a:extLst>
          </p:cNvPr>
          <p:cNvSpPr/>
          <p:nvPr/>
        </p:nvSpPr>
        <p:spPr>
          <a:xfrm>
            <a:off x="3722458" y="5645552"/>
            <a:ext cx="2641600" cy="450773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…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8" name="Straight Connector 20">
            <a:extLst>
              <a:ext uri="{FF2B5EF4-FFF2-40B4-BE49-F238E27FC236}">
                <a16:creationId xmlns:a16="http://schemas.microsoft.com/office/drawing/2014/main" id="{9737A8C4-96F7-43E7-B54F-9A00E5D4C759}"/>
              </a:ext>
            </a:extLst>
          </p:cNvPr>
          <p:cNvCxnSpPr/>
          <p:nvPr/>
        </p:nvCxnSpPr>
        <p:spPr>
          <a:xfrm>
            <a:off x="6367644" y="6106264"/>
            <a:ext cx="2275840" cy="0"/>
          </a:xfrm>
          <a:prstGeom prst="line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</p:cxnSp>
      <p:sp>
        <p:nvSpPr>
          <p:cNvPr id="89" name="TextBox 22">
            <a:extLst>
              <a:ext uri="{FF2B5EF4-FFF2-40B4-BE49-F238E27FC236}">
                <a16:creationId xmlns:a16="http://schemas.microsoft.com/office/drawing/2014/main" id="{F0D70466-2066-4A3E-98B5-B661204F61BA}"/>
              </a:ext>
            </a:extLst>
          </p:cNvPr>
          <p:cNvSpPr txBox="1"/>
          <p:nvPr/>
        </p:nvSpPr>
        <p:spPr>
          <a:xfrm>
            <a:off x="8634819" y="2186043"/>
            <a:ext cx="1147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stack_top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0" name="TextBox 23">
            <a:extLst>
              <a:ext uri="{FF2B5EF4-FFF2-40B4-BE49-F238E27FC236}">
                <a16:creationId xmlns:a16="http://schemas.microsoft.com/office/drawing/2014/main" id="{0B9233C1-1FE0-4503-B3D2-B6F6827EA7B5}"/>
              </a:ext>
            </a:extLst>
          </p:cNvPr>
          <p:cNvSpPr txBox="1"/>
          <p:nvPr/>
        </p:nvSpPr>
        <p:spPr>
          <a:xfrm>
            <a:off x="6928237" y="1882114"/>
            <a:ext cx="1147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~8M</a:t>
            </a:r>
          </a:p>
        </p:txBody>
      </p:sp>
      <p:sp>
        <p:nvSpPr>
          <p:cNvPr id="91" name="TextBox 25">
            <a:extLst>
              <a:ext uri="{FF2B5EF4-FFF2-40B4-BE49-F238E27FC236}">
                <a16:creationId xmlns:a16="http://schemas.microsoft.com/office/drawing/2014/main" id="{68272948-31CD-48D5-A097-2ACCA66364CC}"/>
              </a:ext>
            </a:extLst>
          </p:cNvPr>
          <p:cNvSpPr txBox="1"/>
          <p:nvPr/>
        </p:nvSpPr>
        <p:spPr>
          <a:xfrm>
            <a:off x="8634819" y="5455467"/>
            <a:ext cx="12102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0x0804800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92" name="Straight Connector 26">
            <a:extLst>
              <a:ext uri="{FF2B5EF4-FFF2-40B4-BE49-F238E27FC236}">
                <a16:creationId xmlns:a16="http://schemas.microsoft.com/office/drawing/2014/main" id="{0C151436-401F-4099-9EC8-9634CE712360}"/>
              </a:ext>
            </a:extLst>
          </p:cNvPr>
          <p:cNvCxnSpPr/>
          <p:nvPr/>
        </p:nvCxnSpPr>
        <p:spPr>
          <a:xfrm>
            <a:off x="6364058" y="5089154"/>
            <a:ext cx="2275840" cy="0"/>
          </a:xfrm>
          <a:prstGeom prst="line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</p:cxnSp>
      <p:sp>
        <p:nvSpPr>
          <p:cNvPr id="93" name="TextBox 28">
            <a:extLst>
              <a:ext uri="{FF2B5EF4-FFF2-40B4-BE49-F238E27FC236}">
                <a16:creationId xmlns:a16="http://schemas.microsoft.com/office/drawing/2014/main" id="{C0406E6B-7E79-45D1-85CD-853AC4DC1F9D}"/>
              </a:ext>
            </a:extLst>
          </p:cNvPr>
          <p:cNvSpPr txBox="1"/>
          <p:nvPr/>
        </p:nvSpPr>
        <p:spPr>
          <a:xfrm>
            <a:off x="8634819" y="4502676"/>
            <a:ext cx="12909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0x08049f08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4" name="TextBox 30">
            <a:extLst>
              <a:ext uri="{FF2B5EF4-FFF2-40B4-BE49-F238E27FC236}">
                <a16:creationId xmlns:a16="http://schemas.microsoft.com/office/drawing/2014/main" id="{DD904A74-8663-4D6A-A8B1-FC5B370C33B0}"/>
              </a:ext>
            </a:extLst>
          </p:cNvPr>
          <p:cNvSpPr txBox="1"/>
          <p:nvPr/>
        </p:nvSpPr>
        <p:spPr>
          <a:xfrm>
            <a:off x="6928237" y="5186000"/>
            <a:ext cx="977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0x005dc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95" name="Straight Connector 31">
            <a:extLst>
              <a:ext uri="{FF2B5EF4-FFF2-40B4-BE49-F238E27FC236}">
                <a16:creationId xmlns:a16="http://schemas.microsoft.com/office/drawing/2014/main" id="{C1EF62A7-A6C0-493B-A81D-09AB893CE9BB}"/>
              </a:ext>
            </a:extLst>
          </p:cNvPr>
          <p:cNvCxnSpPr/>
          <p:nvPr/>
        </p:nvCxnSpPr>
        <p:spPr>
          <a:xfrm>
            <a:off x="6314753" y="4128595"/>
            <a:ext cx="2275840" cy="0"/>
          </a:xfrm>
          <a:prstGeom prst="line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</p:cxnSp>
      <p:sp>
        <p:nvSpPr>
          <p:cNvPr id="96" name="TextBox 33">
            <a:extLst>
              <a:ext uri="{FF2B5EF4-FFF2-40B4-BE49-F238E27FC236}">
                <a16:creationId xmlns:a16="http://schemas.microsoft.com/office/drawing/2014/main" id="{4CEB1247-15A0-4BDF-93A2-63E905C825A5}"/>
              </a:ext>
            </a:extLst>
          </p:cNvPr>
          <p:cNvSpPr txBox="1"/>
          <p:nvPr/>
        </p:nvSpPr>
        <p:spPr>
          <a:xfrm>
            <a:off x="6928237" y="4214126"/>
            <a:ext cx="977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0x00118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7" name="TextBox 34">
            <a:extLst>
              <a:ext uri="{FF2B5EF4-FFF2-40B4-BE49-F238E27FC236}">
                <a16:creationId xmlns:a16="http://schemas.microsoft.com/office/drawing/2014/main" id="{9F4764B0-6D79-4612-822D-1A92726D3C95}"/>
              </a:ext>
            </a:extLst>
          </p:cNvPr>
          <p:cNvSpPr txBox="1"/>
          <p:nvPr/>
        </p:nvSpPr>
        <p:spPr>
          <a:xfrm>
            <a:off x="8643484" y="3959467"/>
            <a:ext cx="1884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kern="0" spc="-25" dirty="0" err="1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end_data</a:t>
            </a:r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/</a:t>
            </a:r>
            <a:r>
              <a:rPr lang="en-US" kern="0" spc="-25" dirty="0" err="1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elf_bss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98" name="Straight Connector 35">
            <a:extLst>
              <a:ext uri="{FF2B5EF4-FFF2-40B4-BE49-F238E27FC236}">
                <a16:creationId xmlns:a16="http://schemas.microsoft.com/office/drawing/2014/main" id="{1854261B-4CB2-400F-B56E-10A272141F8A}"/>
              </a:ext>
            </a:extLst>
          </p:cNvPr>
          <p:cNvCxnSpPr>
            <a:cxnSpLocks/>
          </p:cNvCxnSpPr>
          <p:nvPr/>
        </p:nvCxnSpPr>
        <p:spPr>
          <a:xfrm flipV="1">
            <a:off x="6296823" y="3660431"/>
            <a:ext cx="2293770" cy="8617"/>
          </a:xfrm>
          <a:prstGeom prst="line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</p:cxnSp>
      <p:sp>
        <p:nvSpPr>
          <p:cNvPr id="99" name="TextBox 36">
            <a:extLst>
              <a:ext uri="{FF2B5EF4-FFF2-40B4-BE49-F238E27FC236}">
                <a16:creationId xmlns:a16="http://schemas.microsoft.com/office/drawing/2014/main" id="{62D04412-19BD-4B6A-A052-84DB9546AACA}"/>
              </a:ext>
            </a:extLst>
          </p:cNvPr>
          <p:cNvSpPr txBox="1"/>
          <p:nvPr/>
        </p:nvSpPr>
        <p:spPr>
          <a:xfrm>
            <a:off x="6928236" y="3730028"/>
            <a:ext cx="977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8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0" name="Rectangle 37">
            <a:extLst>
              <a:ext uri="{FF2B5EF4-FFF2-40B4-BE49-F238E27FC236}">
                <a16:creationId xmlns:a16="http://schemas.microsoft.com/office/drawing/2014/main" id="{920A2D3E-3979-422B-AC4F-50ECE5BBB424}"/>
              </a:ext>
            </a:extLst>
          </p:cNvPr>
          <p:cNvSpPr/>
          <p:nvPr/>
        </p:nvSpPr>
        <p:spPr>
          <a:xfrm>
            <a:off x="3722458" y="3210203"/>
            <a:ext cx="2641600" cy="459241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1" name="Straight Connector 38">
            <a:extLst>
              <a:ext uri="{FF2B5EF4-FFF2-40B4-BE49-F238E27FC236}">
                <a16:creationId xmlns:a16="http://schemas.microsoft.com/office/drawing/2014/main" id="{4E5C0E6F-B5B8-49AA-A0E4-DFB626AA6510}"/>
              </a:ext>
            </a:extLst>
          </p:cNvPr>
          <p:cNvCxnSpPr>
            <a:cxnSpLocks/>
          </p:cNvCxnSpPr>
          <p:nvPr/>
        </p:nvCxnSpPr>
        <p:spPr>
          <a:xfrm>
            <a:off x="6210762" y="3210203"/>
            <a:ext cx="2379831" cy="0"/>
          </a:xfrm>
          <a:prstGeom prst="line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</p:cxnSp>
      <p:sp>
        <p:nvSpPr>
          <p:cNvPr id="102" name="TextBox 42">
            <a:extLst>
              <a:ext uri="{FF2B5EF4-FFF2-40B4-BE49-F238E27FC236}">
                <a16:creationId xmlns:a16="http://schemas.microsoft.com/office/drawing/2014/main" id="{09BDEE34-5FE0-4043-A714-5941B4893F50}"/>
              </a:ext>
            </a:extLst>
          </p:cNvPr>
          <p:cNvSpPr txBox="1"/>
          <p:nvPr/>
        </p:nvSpPr>
        <p:spPr>
          <a:xfrm>
            <a:off x="8643484" y="3015197"/>
            <a:ext cx="12909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brk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3" name="Rectangle 43">
            <a:extLst>
              <a:ext uri="{FF2B5EF4-FFF2-40B4-BE49-F238E27FC236}">
                <a16:creationId xmlns:a16="http://schemas.microsoft.com/office/drawing/2014/main" id="{B03A0431-18B6-4469-8B4F-43103924861B}"/>
              </a:ext>
            </a:extLst>
          </p:cNvPr>
          <p:cNvSpPr/>
          <p:nvPr/>
        </p:nvSpPr>
        <p:spPr>
          <a:xfrm>
            <a:off x="3722458" y="2368277"/>
            <a:ext cx="2641600" cy="839494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4" name="Straight Arrow Connector 45">
            <a:extLst>
              <a:ext uri="{FF2B5EF4-FFF2-40B4-BE49-F238E27FC236}">
                <a16:creationId xmlns:a16="http://schemas.microsoft.com/office/drawing/2014/main" id="{DFE2F328-A551-483E-8C87-2FDF4C6AA945}"/>
              </a:ext>
            </a:extLst>
          </p:cNvPr>
          <p:cNvCxnSpPr/>
          <p:nvPr/>
        </p:nvCxnSpPr>
        <p:spPr>
          <a:xfrm>
            <a:off x="7077050" y="2370709"/>
            <a:ext cx="0" cy="430361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5" name="TextBox 46">
            <a:extLst>
              <a:ext uri="{FF2B5EF4-FFF2-40B4-BE49-F238E27FC236}">
                <a16:creationId xmlns:a16="http://schemas.microsoft.com/office/drawing/2014/main" id="{D3D9D563-9342-426C-9731-62DA4C03D761}"/>
              </a:ext>
            </a:extLst>
          </p:cNvPr>
          <p:cNvSpPr txBox="1"/>
          <p:nvPr/>
        </p:nvSpPr>
        <p:spPr>
          <a:xfrm>
            <a:off x="7134427" y="2361210"/>
            <a:ext cx="7058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stack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06" name="Straight Arrow Connector 48">
            <a:extLst>
              <a:ext uri="{FF2B5EF4-FFF2-40B4-BE49-F238E27FC236}">
                <a16:creationId xmlns:a16="http://schemas.microsoft.com/office/drawing/2014/main" id="{62C1AE1D-3A9B-4335-930B-70FDA71A09D1}"/>
              </a:ext>
            </a:extLst>
          </p:cNvPr>
          <p:cNvCxnSpPr/>
          <p:nvPr/>
        </p:nvCxnSpPr>
        <p:spPr>
          <a:xfrm flipV="1">
            <a:off x="7905389" y="2788024"/>
            <a:ext cx="0" cy="419747"/>
          </a:xfrm>
          <a:prstGeom prst="straightConnector1">
            <a:avLst/>
          </a:prstGeom>
          <a:noFill/>
          <a:ln w="1270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107" name="TextBox 49">
            <a:extLst>
              <a:ext uri="{FF2B5EF4-FFF2-40B4-BE49-F238E27FC236}">
                <a16:creationId xmlns:a16="http://schemas.microsoft.com/office/drawing/2014/main" id="{943CACD9-CAD9-4FAC-88EA-47C3C9477888}"/>
              </a:ext>
            </a:extLst>
          </p:cNvPr>
          <p:cNvSpPr txBox="1"/>
          <p:nvPr/>
        </p:nvSpPr>
        <p:spPr>
          <a:xfrm>
            <a:off x="7996682" y="2863849"/>
            <a:ext cx="7058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 spc="-25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heap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17959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SPECIAL</a:t>
            </a:r>
            <a:endParaRPr lang="zh-CN" alt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Set UID GID</a:t>
            </a:r>
          </a:p>
          <a:p>
            <a:r>
              <a:rPr lang="en-US" altLang="zh-CN" dirty="0" smtClean="0"/>
              <a:t>Memory Space Change</a:t>
            </a:r>
            <a:endParaRPr lang="zh-CN" alt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A9BE7ED-1367-48B1-9475-6CBA828A0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479921"/>
              </p:ext>
            </p:extLst>
          </p:nvPr>
        </p:nvGraphicFramePr>
        <p:xfrm>
          <a:off x="2467338" y="2989580"/>
          <a:ext cx="8017782" cy="2921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17782">
                  <a:extLst>
                    <a:ext uri="{9D8B030D-6E8A-4147-A177-3AD203B41FA5}">
                      <a16:colId xmlns:a16="http://schemas.microsoft.com/office/drawing/2014/main" val="3125646414"/>
                    </a:ext>
                  </a:extLst>
                </a:gridCol>
              </a:tblGrid>
              <a:tr h="2921036">
                <a:tc>
                  <a:txBody>
                    <a:bodyPr/>
                    <a:lstStyle/>
                    <a:p>
                      <a:r>
                        <a:rPr lang="en-US" altLang="zh-CN" sz="1800" b="0" u="none" dirty="0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   </a:t>
                      </a:r>
                      <a:r>
                        <a:rPr lang="en-US" altLang="zh-CN" sz="1800" b="0" u="none" dirty="0" smtClean="0">
                          <a:solidFill>
                            <a:srgbClr val="C586C0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zh-CN" sz="1800" b="0" u="none" dirty="0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(</a:t>
                      </a:r>
                      <a:r>
                        <a:rPr lang="en-US" altLang="zh-CN" sz="1800" b="0" u="none" dirty="0" smtClean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mode</a:t>
                      </a:r>
                      <a:r>
                        <a:rPr lang="en-US" altLang="zh-CN" sz="1800" b="0" u="none" dirty="0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&amp; </a:t>
                      </a:r>
                      <a:r>
                        <a:rPr lang="en-US" altLang="zh-CN" sz="1800" b="0" u="none" dirty="0" smtClean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S_ISUID</a:t>
                      </a:r>
                      <a:r>
                        <a:rPr lang="en-US" altLang="zh-CN" sz="1800" b="0" u="none" dirty="0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) {</a:t>
                      </a:r>
                    </a:p>
                    <a:p>
                      <a:r>
                        <a:rPr lang="en-US" altLang="zh-CN" sz="1800" b="0" u="none" dirty="0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       </a:t>
                      </a:r>
                      <a:r>
                        <a:rPr lang="en-US" altLang="zh-CN" sz="1800" b="0" u="none" dirty="0" err="1" smtClean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bprm</a:t>
                      </a:r>
                      <a:r>
                        <a:rPr lang="en-US" altLang="zh-CN" sz="1800" b="0" u="none" dirty="0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-&gt;</a:t>
                      </a:r>
                      <a:r>
                        <a:rPr lang="en-US" altLang="zh-CN" sz="1800" b="0" u="none" dirty="0" smtClean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cred</a:t>
                      </a:r>
                      <a:r>
                        <a:rPr lang="en-US" altLang="zh-CN" sz="1800" b="0" u="none" dirty="0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-&gt;</a:t>
                      </a:r>
                      <a:r>
                        <a:rPr lang="en-US" altLang="zh-CN" sz="1800" b="0" u="none" dirty="0" err="1" smtClean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euid</a:t>
                      </a:r>
                      <a:r>
                        <a:rPr lang="en-US" altLang="zh-CN" sz="1800" b="0" u="none" dirty="0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= </a:t>
                      </a:r>
                      <a:r>
                        <a:rPr lang="en-US" altLang="zh-CN" sz="1800" b="0" u="none" dirty="0" err="1" smtClean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uid</a:t>
                      </a:r>
                      <a:r>
                        <a:rPr lang="en-US" altLang="zh-CN" sz="1800" b="0" u="none" dirty="0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altLang="zh-CN" sz="1800" b="0" u="none" dirty="0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   }</a:t>
                      </a:r>
                    </a:p>
                    <a:p>
                      <a:r>
                        <a:rPr lang="en-US" altLang="zh-CN" sz="1800" b="0" u="none" dirty="0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/>
                      </a:r>
                      <a:br>
                        <a:rPr lang="en-US" altLang="zh-CN" sz="1800" b="0" u="none" dirty="0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altLang="zh-CN" sz="1800" b="0" u="none" dirty="0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   </a:t>
                      </a:r>
                      <a:r>
                        <a:rPr lang="en-US" altLang="zh-CN" sz="1800" b="0" u="none" dirty="0" smtClean="0">
                          <a:solidFill>
                            <a:srgbClr val="C586C0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zh-CN" sz="1800" b="0" u="none" dirty="0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((</a:t>
                      </a:r>
                      <a:r>
                        <a:rPr lang="en-US" altLang="zh-CN" sz="1800" b="0" u="none" dirty="0" smtClean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mode</a:t>
                      </a:r>
                      <a:r>
                        <a:rPr lang="en-US" altLang="zh-CN" sz="1800" b="0" u="none" dirty="0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&amp; (</a:t>
                      </a:r>
                      <a:r>
                        <a:rPr lang="en-US" altLang="zh-CN" sz="1800" b="0" u="none" dirty="0" smtClean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S_ISGID</a:t>
                      </a:r>
                      <a:r>
                        <a:rPr lang="en-US" altLang="zh-CN" sz="1800" b="0" u="none" dirty="0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| </a:t>
                      </a:r>
                      <a:r>
                        <a:rPr lang="en-US" altLang="zh-CN" sz="1800" b="0" u="none" dirty="0" smtClean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S_IXGRP</a:t>
                      </a:r>
                      <a:r>
                        <a:rPr lang="en-US" altLang="zh-CN" sz="1800" b="0" u="none" dirty="0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)) == (</a:t>
                      </a:r>
                      <a:r>
                        <a:rPr lang="en-US" altLang="zh-CN" sz="1800" b="0" u="none" dirty="0" smtClean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S_ISGID</a:t>
                      </a:r>
                      <a:r>
                        <a:rPr lang="en-US" altLang="zh-CN" sz="1800" b="0" u="none" dirty="0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| </a:t>
                      </a:r>
                      <a:r>
                        <a:rPr lang="en-US" altLang="zh-CN" sz="1800" b="0" u="none" dirty="0" smtClean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S_IXGRP</a:t>
                      </a:r>
                      <a:r>
                        <a:rPr lang="en-US" altLang="zh-CN" sz="1800" b="0" u="none" dirty="0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)) {</a:t>
                      </a:r>
                    </a:p>
                    <a:p>
                      <a:r>
                        <a:rPr lang="en-US" altLang="zh-CN" sz="1800" b="0" u="none" dirty="0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       </a:t>
                      </a:r>
                      <a:r>
                        <a:rPr lang="en-US" altLang="zh-CN" sz="1800" b="0" u="none" dirty="0" err="1" smtClean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bprm</a:t>
                      </a:r>
                      <a:r>
                        <a:rPr lang="en-US" altLang="zh-CN" sz="1800" b="0" u="none" dirty="0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-&gt;</a:t>
                      </a:r>
                      <a:r>
                        <a:rPr lang="en-US" altLang="zh-CN" sz="1800" b="0" u="none" dirty="0" smtClean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cred</a:t>
                      </a:r>
                      <a:r>
                        <a:rPr lang="en-US" altLang="zh-CN" sz="1800" b="0" u="none" dirty="0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-&gt;</a:t>
                      </a:r>
                      <a:r>
                        <a:rPr lang="en-US" altLang="zh-CN" sz="1800" b="0" u="none" dirty="0" err="1" smtClean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egid</a:t>
                      </a:r>
                      <a:r>
                        <a:rPr lang="en-US" altLang="zh-CN" sz="1800" b="0" u="none" dirty="0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= </a:t>
                      </a:r>
                      <a:r>
                        <a:rPr lang="en-US" altLang="zh-CN" sz="1800" b="0" u="none" dirty="0" err="1" smtClean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gid</a:t>
                      </a:r>
                      <a:r>
                        <a:rPr lang="en-US" altLang="zh-CN" sz="1800" b="0" u="none" dirty="0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altLang="zh-CN" sz="1800" b="0" u="none" dirty="0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   }</a:t>
                      </a:r>
                    </a:p>
                    <a:p>
                      <a:r>
                        <a:rPr lang="en-US" altLang="zh-CN" sz="1800" b="0" dirty="0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$ls /</a:t>
                      </a:r>
                      <a:r>
                        <a:rPr lang="en-US" altLang="zh-CN" sz="1800" b="0" dirty="0" err="1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usr</a:t>
                      </a:r>
                      <a:r>
                        <a:rPr lang="en-US" altLang="zh-CN" sz="1800" b="0" dirty="0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/bin/</a:t>
                      </a:r>
                      <a:r>
                        <a:rPr lang="en-US" altLang="zh-CN" sz="1800" b="0" dirty="0" err="1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passwd</a:t>
                      </a:r>
                      <a:r>
                        <a:rPr lang="en-US" altLang="zh-CN" sz="1800" b="0" dirty="0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 -l</a:t>
                      </a:r>
                    </a:p>
                    <a:p>
                      <a:r>
                        <a:rPr lang="en-US" altLang="zh-CN" sz="1800" b="0" dirty="0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-</a:t>
                      </a:r>
                      <a:r>
                        <a:rPr lang="en-US" altLang="zh-CN" sz="1800" b="0" dirty="0" err="1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rw</a:t>
                      </a:r>
                      <a:r>
                        <a:rPr lang="en-US" altLang="zh-CN" sz="3200" b="0" dirty="0" err="1" smtClean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s</a:t>
                      </a:r>
                      <a:r>
                        <a:rPr lang="en-US" altLang="zh-CN" sz="1800" b="0" dirty="0" err="1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</a:t>
                      </a:r>
                      <a:r>
                        <a:rPr lang="en-US" altLang="zh-CN" sz="1800" b="0" dirty="0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-</a:t>
                      </a:r>
                      <a:r>
                        <a:rPr lang="en-US" altLang="zh-CN" sz="1800" b="0" dirty="0" err="1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xr</a:t>
                      </a:r>
                      <a:r>
                        <a:rPr lang="en-US" altLang="zh-CN" sz="1800" b="0" dirty="0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-x 1 root </a:t>
                      </a:r>
                      <a:r>
                        <a:rPr lang="en-US" altLang="zh-CN" sz="1800" b="0" dirty="0" err="1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root</a:t>
                      </a:r>
                      <a:r>
                        <a:rPr lang="en-US" altLang="zh-CN" sz="1800" b="0" dirty="0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59640 3</a:t>
                      </a:r>
                      <a:r>
                        <a:rPr lang="zh-CN" altLang="en-US" sz="1800" b="0" dirty="0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月  </a:t>
                      </a:r>
                      <a:r>
                        <a:rPr lang="en-US" altLang="zh-CN" sz="1800" b="0" dirty="0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23  2019 /</a:t>
                      </a:r>
                      <a:r>
                        <a:rPr lang="en-US" altLang="zh-CN" sz="1800" b="0" dirty="0" err="1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usr</a:t>
                      </a:r>
                      <a:r>
                        <a:rPr lang="en-US" altLang="zh-CN" sz="1800" b="0" dirty="0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/bin/</a:t>
                      </a:r>
                      <a:r>
                        <a:rPr lang="en-US" altLang="zh-CN" sz="1800" b="0" dirty="0" err="1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passwd</a:t>
                      </a:r>
                      <a:endParaRPr lang="en-US" altLang="zh-CN" sz="18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8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29175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D4405-27C1-41FA-AF9B-A44B67E89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 Light" panose="020F0302020204030204" pitchFamily="34" charset="0"/>
                <a:cs typeface="Calibri Light" panose="020F0302020204030204" pitchFamily="34" charset="0"/>
              </a:rPr>
              <a:t>heap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79" name="Straight Connector 11">
            <a:extLst>
              <a:ext uri="{FF2B5EF4-FFF2-40B4-BE49-F238E27FC236}">
                <a16:creationId xmlns:a16="http://schemas.microsoft.com/office/drawing/2014/main" id="{465816B2-CDBE-4C43-9E86-CADB54EEC37F}"/>
              </a:ext>
            </a:extLst>
          </p:cNvPr>
          <p:cNvCxnSpPr>
            <a:cxnSpLocks/>
          </p:cNvCxnSpPr>
          <p:nvPr/>
        </p:nvCxnSpPr>
        <p:spPr>
          <a:xfrm>
            <a:off x="4200834" y="1959548"/>
            <a:ext cx="16236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13">
            <a:extLst>
              <a:ext uri="{FF2B5EF4-FFF2-40B4-BE49-F238E27FC236}">
                <a16:creationId xmlns:a16="http://schemas.microsoft.com/office/drawing/2014/main" id="{D4F5F063-050A-42A8-AAE8-9F4E439F6BA7}"/>
              </a:ext>
            </a:extLst>
          </p:cNvPr>
          <p:cNvCxnSpPr>
            <a:cxnSpLocks/>
          </p:cNvCxnSpPr>
          <p:nvPr/>
        </p:nvCxnSpPr>
        <p:spPr>
          <a:xfrm flipV="1">
            <a:off x="4130014" y="4266212"/>
            <a:ext cx="169448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15">
            <a:extLst>
              <a:ext uri="{FF2B5EF4-FFF2-40B4-BE49-F238E27FC236}">
                <a16:creationId xmlns:a16="http://schemas.microsoft.com/office/drawing/2014/main" id="{86F963C5-748D-4067-A393-B758B265919D}"/>
              </a:ext>
            </a:extLst>
          </p:cNvPr>
          <p:cNvSpPr/>
          <p:nvPr/>
        </p:nvSpPr>
        <p:spPr>
          <a:xfrm>
            <a:off x="2719267" y="3805805"/>
            <a:ext cx="1477982" cy="460801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2" name="Straight Connector 16">
            <a:extLst>
              <a:ext uri="{FF2B5EF4-FFF2-40B4-BE49-F238E27FC236}">
                <a16:creationId xmlns:a16="http://schemas.microsoft.com/office/drawing/2014/main" id="{4322114A-3E5C-4065-BD97-9438CB891FAC}"/>
              </a:ext>
            </a:extLst>
          </p:cNvPr>
          <p:cNvCxnSpPr>
            <a:cxnSpLocks/>
          </p:cNvCxnSpPr>
          <p:nvPr/>
        </p:nvCxnSpPr>
        <p:spPr>
          <a:xfrm>
            <a:off x="4043953" y="3808674"/>
            <a:ext cx="1780541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17">
            <a:extLst>
              <a:ext uri="{FF2B5EF4-FFF2-40B4-BE49-F238E27FC236}">
                <a16:creationId xmlns:a16="http://schemas.microsoft.com/office/drawing/2014/main" id="{40F31E75-9FBE-45EB-BEA4-53719E3FAE37}"/>
              </a:ext>
            </a:extLst>
          </p:cNvPr>
          <p:cNvSpPr txBox="1"/>
          <p:nvPr/>
        </p:nvSpPr>
        <p:spPr>
          <a:xfrm>
            <a:off x="5798576" y="3612359"/>
            <a:ext cx="5522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0" spc="-25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brk</a:t>
            </a:r>
            <a:endParaRPr lang="en-US" dirty="0"/>
          </a:p>
        </p:txBody>
      </p:sp>
      <p:sp>
        <p:nvSpPr>
          <p:cNvPr id="84" name="Rectangle 18">
            <a:extLst>
              <a:ext uri="{FF2B5EF4-FFF2-40B4-BE49-F238E27FC236}">
                <a16:creationId xmlns:a16="http://schemas.microsoft.com/office/drawing/2014/main" id="{25628CE7-1E71-42DE-9D1D-ECB90F78823C}"/>
              </a:ext>
            </a:extLst>
          </p:cNvPr>
          <p:cNvSpPr/>
          <p:nvPr/>
        </p:nvSpPr>
        <p:spPr>
          <a:xfrm>
            <a:off x="2722853" y="1959548"/>
            <a:ext cx="1474396" cy="184538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TextBox 22">
            <a:extLst>
              <a:ext uri="{FF2B5EF4-FFF2-40B4-BE49-F238E27FC236}">
                <a16:creationId xmlns:a16="http://schemas.microsoft.com/office/drawing/2014/main" id="{127B43B3-C8DF-4600-A5BE-0114C3CA9C95}"/>
              </a:ext>
            </a:extLst>
          </p:cNvPr>
          <p:cNvSpPr txBox="1"/>
          <p:nvPr/>
        </p:nvSpPr>
        <p:spPr>
          <a:xfrm>
            <a:off x="5100405" y="3452046"/>
            <a:ext cx="7058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 spc="-25" dirty="0"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heap</a:t>
            </a:r>
            <a:endParaRPr lang="en-US" dirty="0"/>
          </a:p>
        </p:txBody>
      </p:sp>
      <p:sp>
        <p:nvSpPr>
          <p:cNvPr id="86" name="TextBox 23">
            <a:extLst>
              <a:ext uri="{FF2B5EF4-FFF2-40B4-BE49-F238E27FC236}">
                <a16:creationId xmlns:a16="http://schemas.microsoft.com/office/drawing/2014/main" id="{D5FCE6F0-3994-4391-841A-21F3204AD83E}"/>
              </a:ext>
            </a:extLst>
          </p:cNvPr>
          <p:cNvSpPr txBox="1"/>
          <p:nvPr/>
        </p:nvSpPr>
        <p:spPr>
          <a:xfrm>
            <a:off x="4238150" y="4354686"/>
            <a:ext cx="12909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 spc="-25" dirty="0" err="1"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bss</a:t>
            </a:r>
            <a:endParaRPr lang="en-US" dirty="0"/>
          </a:p>
        </p:txBody>
      </p:sp>
      <p:sp>
        <p:nvSpPr>
          <p:cNvPr id="87" name="TextBox 24">
            <a:extLst>
              <a:ext uri="{FF2B5EF4-FFF2-40B4-BE49-F238E27FC236}">
                <a16:creationId xmlns:a16="http://schemas.microsoft.com/office/drawing/2014/main" id="{928B9ACF-F31B-444E-84A4-E1AAD1B90661}"/>
              </a:ext>
            </a:extLst>
          </p:cNvPr>
          <p:cNvSpPr txBox="1"/>
          <p:nvPr/>
        </p:nvSpPr>
        <p:spPr>
          <a:xfrm>
            <a:off x="4238150" y="3852915"/>
            <a:ext cx="12909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 spc="-25" dirty="0"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page align</a:t>
            </a:r>
            <a:endParaRPr lang="en-US" dirty="0"/>
          </a:p>
        </p:txBody>
      </p:sp>
      <p:cxnSp>
        <p:nvCxnSpPr>
          <p:cNvPr id="88" name="Straight Arrow Connector 30">
            <a:extLst>
              <a:ext uri="{FF2B5EF4-FFF2-40B4-BE49-F238E27FC236}">
                <a16:creationId xmlns:a16="http://schemas.microsoft.com/office/drawing/2014/main" id="{19FBF148-4081-471E-844A-D9A895F5B613}"/>
              </a:ext>
            </a:extLst>
          </p:cNvPr>
          <p:cNvCxnSpPr/>
          <p:nvPr/>
        </p:nvCxnSpPr>
        <p:spPr>
          <a:xfrm flipV="1">
            <a:off x="5095026" y="3385187"/>
            <a:ext cx="0" cy="419747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31">
            <a:extLst>
              <a:ext uri="{FF2B5EF4-FFF2-40B4-BE49-F238E27FC236}">
                <a16:creationId xmlns:a16="http://schemas.microsoft.com/office/drawing/2014/main" id="{694CD9C5-A17C-46D1-A8B9-73FEF30B54D1}"/>
              </a:ext>
            </a:extLst>
          </p:cNvPr>
          <p:cNvCxnSpPr>
            <a:cxnSpLocks/>
          </p:cNvCxnSpPr>
          <p:nvPr/>
        </p:nvCxnSpPr>
        <p:spPr>
          <a:xfrm>
            <a:off x="4197249" y="2635343"/>
            <a:ext cx="1627245" cy="0"/>
          </a:xfrm>
          <a:prstGeom prst="line">
            <a:avLst/>
          </a:prstGeom>
          <a:ln w="158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32">
            <a:extLst>
              <a:ext uri="{FF2B5EF4-FFF2-40B4-BE49-F238E27FC236}">
                <a16:creationId xmlns:a16="http://schemas.microsoft.com/office/drawing/2014/main" id="{135A1904-CAA2-40B8-9562-850737C1C2A4}"/>
              </a:ext>
            </a:extLst>
          </p:cNvPr>
          <p:cNvSpPr txBox="1"/>
          <p:nvPr/>
        </p:nvSpPr>
        <p:spPr>
          <a:xfrm>
            <a:off x="5764660" y="2635343"/>
            <a:ext cx="10089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 spc="-25" dirty="0"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new</a:t>
            </a:r>
          </a:p>
          <a:p>
            <a:r>
              <a:rPr lang="en-US" kern="0" spc="-25" dirty="0"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brk</a:t>
            </a:r>
            <a:endParaRPr lang="en-US" dirty="0"/>
          </a:p>
        </p:txBody>
      </p:sp>
      <p:sp>
        <p:nvSpPr>
          <p:cNvPr id="91" name="Rectangle 33">
            <a:extLst>
              <a:ext uri="{FF2B5EF4-FFF2-40B4-BE49-F238E27FC236}">
                <a16:creationId xmlns:a16="http://schemas.microsoft.com/office/drawing/2014/main" id="{A890582A-422A-4CF5-94A6-241D8F01A2BB}"/>
              </a:ext>
            </a:extLst>
          </p:cNvPr>
          <p:cNvSpPr/>
          <p:nvPr/>
        </p:nvSpPr>
        <p:spPr>
          <a:xfrm>
            <a:off x="6676970" y="3089720"/>
            <a:ext cx="1477982" cy="4608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glibc</a:t>
            </a:r>
          </a:p>
        </p:txBody>
      </p:sp>
      <p:sp>
        <p:nvSpPr>
          <p:cNvPr id="92" name="Rectangle 34">
            <a:extLst>
              <a:ext uri="{FF2B5EF4-FFF2-40B4-BE49-F238E27FC236}">
                <a16:creationId xmlns:a16="http://schemas.microsoft.com/office/drawing/2014/main" id="{BC6B980C-FBFF-4356-BFB3-8DF379DB13ED}"/>
              </a:ext>
            </a:extLst>
          </p:cNvPr>
          <p:cNvSpPr/>
          <p:nvPr/>
        </p:nvSpPr>
        <p:spPr>
          <a:xfrm>
            <a:off x="6676970" y="1912046"/>
            <a:ext cx="1477982" cy="63125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brk </a:t>
            </a: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syscall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" name="Right Brace 35">
            <a:extLst>
              <a:ext uri="{FF2B5EF4-FFF2-40B4-BE49-F238E27FC236}">
                <a16:creationId xmlns:a16="http://schemas.microsoft.com/office/drawing/2014/main" id="{F782EA28-6212-4502-A2DD-79DE386A3881}"/>
              </a:ext>
            </a:extLst>
          </p:cNvPr>
          <p:cNvSpPr/>
          <p:nvPr/>
        </p:nvSpPr>
        <p:spPr>
          <a:xfrm>
            <a:off x="6302547" y="2820009"/>
            <a:ext cx="306740" cy="98492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4" name="Straight Arrow Connector 37">
            <a:extLst>
              <a:ext uri="{FF2B5EF4-FFF2-40B4-BE49-F238E27FC236}">
                <a16:creationId xmlns:a16="http://schemas.microsoft.com/office/drawing/2014/main" id="{AF76C139-6362-438B-95FC-2D4D9EA0C79D}"/>
              </a:ext>
            </a:extLst>
          </p:cNvPr>
          <p:cNvCxnSpPr>
            <a:cxnSpLocks/>
            <a:stCxn id="92" idx="2"/>
            <a:endCxn id="91" idx="0"/>
          </p:cNvCxnSpPr>
          <p:nvPr/>
        </p:nvCxnSpPr>
        <p:spPr>
          <a:xfrm>
            <a:off x="7415961" y="2543298"/>
            <a:ext cx="0" cy="546422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39">
            <a:extLst>
              <a:ext uri="{FF2B5EF4-FFF2-40B4-BE49-F238E27FC236}">
                <a16:creationId xmlns:a16="http://schemas.microsoft.com/office/drawing/2014/main" id="{D64B2B5E-30D8-4EB0-89FF-2FE9294DE030}"/>
              </a:ext>
            </a:extLst>
          </p:cNvPr>
          <p:cNvSpPr/>
          <p:nvPr/>
        </p:nvSpPr>
        <p:spPr>
          <a:xfrm>
            <a:off x="6676970" y="4096942"/>
            <a:ext cx="1477982" cy="59260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new/delete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malloc/free</a:t>
            </a:r>
          </a:p>
        </p:txBody>
      </p:sp>
      <p:cxnSp>
        <p:nvCxnSpPr>
          <p:cNvPr id="96" name="Straight Arrow Connector 40">
            <a:extLst>
              <a:ext uri="{FF2B5EF4-FFF2-40B4-BE49-F238E27FC236}">
                <a16:creationId xmlns:a16="http://schemas.microsoft.com/office/drawing/2014/main" id="{CC412E9A-B483-44CB-90CF-4D79C7FB9F81}"/>
              </a:ext>
            </a:extLst>
          </p:cNvPr>
          <p:cNvCxnSpPr>
            <a:cxnSpLocks/>
            <a:stCxn id="91" idx="2"/>
            <a:endCxn id="95" idx="0"/>
          </p:cNvCxnSpPr>
          <p:nvPr/>
        </p:nvCxnSpPr>
        <p:spPr>
          <a:xfrm>
            <a:off x="7415961" y="3550521"/>
            <a:ext cx="0" cy="546421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44">
            <a:extLst>
              <a:ext uri="{FF2B5EF4-FFF2-40B4-BE49-F238E27FC236}">
                <a16:creationId xmlns:a16="http://schemas.microsoft.com/office/drawing/2014/main" id="{EF2A209D-DD84-4D70-B124-E33270869209}"/>
              </a:ext>
            </a:extLst>
          </p:cNvPr>
          <p:cNvCxnSpPr>
            <a:cxnSpLocks/>
          </p:cNvCxnSpPr>
          <p:nvPr/>
        </p:nvCxnSpPr>
        <p:spPr>
          <a:xfrm flipV="1">
            <a:off x="4197249" y="2813023"/>
            <a:ext cx="1627245" cy="6986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51">
            <a:extLst>
              <a:ext uri="{FF2B5EF4-FFF2-40B4-BE49-F238E27FC236}">
                <a16:creationId xmlns:a16="http://schemas.microsoft.com/office/drawing/2014/main" id="{1B1E2687-9C08-4E81-9E12-12F5C21358CD}"/>
              </a:ext>
            </a:extLst>
          </p:cNvPr>
          <p:cNvCxnSpPr>
            <a:stCxn id="92" idx="1"/>
          </p:cNvCxnSpPr>
          <p:nvPr/>
        </p:nvCxnSpPr>
        <p:spPr>
          <a:xfrm flipH="1">
            <a:off x="5809475" y="2227672"/>
            <a:ext cx="867495" cy="407671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3">
            <a:extLst>
              <a:ext uri="{FF2B5EF4-FFF2-40B4-BE49-F238E27FC236}">
                <a16:creationId xmlns:a16="http://schemas.microsoft.com/office/drawing/2014/main" id="{C8EA00C0-C012-4FBC-985D-6839DD234C55}"/>
              </a:ext>
            </a:extLst>
          </p:cNvPr>
          <p:cNvCxnSpPr>
            <a:cxnSpLocks/>
            <a:endCxn id="95" idx="2"/>
          </p:cNvCxnSpPr>
          <p:nvPr/>
        </p:nvCxnSpPr>
        <p:spPr>
          <a:xfrm flipV="1">
            <a:off x="7415961" y="4689545"/>
            <a:ext cx="0" cy="6892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7695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AD3C9-914F-4FDE-94E2-4D819FB19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heap access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F60B82-404C-40B8-BAD6-EEDEC77B4681}"/>
              </a:ext>
            </a:extLst>
          </p:cNvPr>
          <p:cNvSpPr/>
          <p:nvPr/>
        </p:nvSpPr>
        <p:spPr>
          <a:xfrm>
            <a:off x="4043660" y="4021563"/>
            <a:ext cx="1477982" cy="4608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C33F857-2C3D-4BC5-9A29-B569BA6CC9BE}"/>
              </a:ext>
            </a:extLst>
          </p:cNvPr>
          <p:cNvCxnSpPr>
            <a:cxnSpLocks/>
          </p:cNvCxnSpPr>
          <p:nvPr/>
        </p:nvCxnSpPr>
        <p:spPr>
          <a:xfrm>
            <a:off x="2427328" y="4016951"/>
            <a:ext cx="1620022" cy="617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BBBDDAB-8B77-452C-8A5C-1077296788F0}"/>
              </a:ext>
            </a:extLst>
          </p:cNvPr>
          <p:cNvSpPr txBox="1"/>
          <p:nvPr/>
        </p:nvSpPr>
        <p:spPr>
          <a:xfrm>
            <a:off x="1865158" y="3832285"/>
            <a:ext cx="5522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0" spc="-25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brk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65A97C-A3C4-4CD3-8205-C2A7BBC684D6}"/>
              </a:ext>
            </a:extLst>
          </p:cNvPr>
          <p:cNvSpPr/>
          <p:nvPr/>
        </p:nvSpPr>
        <p:spPr>
          <a:xfrm>
            <a:off x="4048220" y="2175306"/>
            <a:ext cx="1474396" cy="184538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DCE69B-EB0E-45A7-B0EE-3696A2C80AC9}"/>
              </a:ext>
            </a:extLst>
          </p:cNvPr>
          <p:cNvSpPr txBox="1"/>
          <p:nvPr/>
        </p:nvSpPr>
        <p:spPr>
          <a:xfrm>
            <a:off x="2794232" y="3664063"/>
            <a:ext cx="7058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 spc="-25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heap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965E961-6844-45C2-BF4F-C4288D72E2BA}"/>
              </a:ext>
            </a:extLst>
          </p:cNvPr>
          <p:cNvCxnSpPr/>
          <p:nvPr/>
        </p:nvCxnSpPr>
        <p:spPr>
          <a:xfrm flipV="1">
            <a:off x="2788853" y="3597204"/>
            <a:ext cx="0" cy="419747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E4A29FC-624B-475D-B9CA-7289B13AFC3E}"/>
              </a:ext>
            </a:extLst>
          </p:cNvPr>
          <p:cNvCxnSpPr>
            <a:cxnSpLocks/>
          </p:cNvCxnSpPr>
          <p:nvPr/>
        </p:nvCxnSpPr>
        <p:spPr>
          <a:xfrm>
            <a:off x="2399800" y="2197269"/>
            <a:ext cx="1716752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5481E11-8ED4-456D-B709-4ED5BF4233A8}"/>
              </a:ext>
            </a:extLst>
          </p:cNvPr>
          <p:cNvSpPr/>
          <p:nvPr/>
        </p:nvSpPr>
        <p:spPr>
          <a:xfrm>
            <a:off x="4045169" y="3267953"/>
            <a:ext cx="1477982" cy="23040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4F67794-6461-4B0C-A1DD-F386A3899204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5523151" y="2999093"/>
            <a:ext cx="405038" cy="384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1887852A-BD6E-4E80-8516-5D9DCF9845E0}"/>
              </a:ext>
            </a:extLst>
          </p:cNvPr>
          <p:cNvSpPr/>
          <p:nvPr/>
        </p:nvSpPr>
        <p:spPr>
          <a:xfrm>
            <a:off x="5928189" y="2360684"/>
            <a:ext cx="1477982" cy="63125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read/write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8D564F-6B7D-48E1-B2B4-B0BD8782E4D4}"/>
              </a:ext>
            </a:extLst>
          </p:cNvPr>
          <p:cNvSpPr/>
          <p:nvPr/>
        </p:nvSpPr>
        <p:spPr>
          <a:xfrm>
            <a:off x="8175556" y="3352980"/>
            <a:ext cx="1477982" cy="4608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page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2ACCA5-68FF-44AB-B389-3F31CCF9EE0E}"/>
              </a:ext>
            </a:extLst>
          </p:cNvPr>
          <p:cNvSpPr/>
          <p:nvPr/>
        </p:nvSpPr>
        <p:spPr>
          <a:xfrm>
            <a:off x="8175556" y="2175306"/>
            <a:ext cx="1477982" cy="63125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page fault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25A1C89-68EE-49D7-AF0D-E582A87E0FC7}"/>
              </a:ext>
            </a:extLst>
          </p:cNvPr>
          <p:cNvCxnSpPr>
            <a:cxnSpLocks/>
            <a:stCxn id="24" idx="2"/>
            <a:endCxn id="23" idx="0"/>
          </p:cNvCxnSpPr>
          <p:nvPr/>
        </p:nvCxnSpPr>
        <p:spPr>
          <a:xfrm>
            <a:off x="8914547" y="2806558"/>
            <a:ext cx="0" cy="546422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A272C177-AE45-43A2-A7BB-FD53F9669485}"/>
              </a:ext>
            </a:extLst>
          </p:cNvPr>
          <p:cNvSpPr/>
          <p:nvPr/>
        </p:nvSpPr>
        <p:spPr>
          <a:xfrm>
            <a:off x="8175556" y="4360202"/>
            <a:ext cx="1477982" cy="59260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F5470F6-FEF7-4982-BD7F-5C46BD0D7F75}"/>
              </a:ext>
            </a:extLst>
          </p:cNvPr>
          <p:cNvCxnSpPr>
            <a:cxnSpLocks/>
            <a:stCxn id="23" idx="2"/>
            <a:endCxn id="26" idx="0"/>
          </p:cNvCxnSpPr>
          <p:nvPr/>
        </p:nvCxnSpPr>
        <p:spPr>
          <a:xfrm>
            <a:off x="8914547" y="3813781"/>
            <a:ext cx="0" cy="546421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5F700A2-7BE6-4888-B2BB-0DED1C3D0ADC}"/>
              </a:ext>
            </a:extLst>
          </p:cNvPr>
          <p:cNvCxnSpPr>
            <a:stCxn id="22" idx="3"/>
            <a:endCxn id="24" idx="1"/>
          </p:cNvCxnSpPr>
          <p:nvPr/>
        </p:nvCxnSpPr>
        <p:spPr>
          <a:xfrm flipV="1">
            <a:off x="7406171" y="2490932"/>
            <a:ext cx="769385" cy="185378"/>
          </a:xfrm>
          <a:prstGeom prst="line">
            <a:avLst/>
          </a:prstGeom>
          <a:ln w="158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8528670-C396-4E84-A630-17D81AF83651}"/>
              </a:ext>
            </a:extLst>
          </p:cNvPr>
          <p:cNvCxnSpPr>
            <a:cxnSpLocks/>
            <a:stCxn id="26" idx="1"/>
            <a:endCxn id="22" idx="2"/>
          </p:cNvCxnSpPr>
          <p:nvPr/>
        </p:nvCxnSpPr>
        <p:spPr>
          <a:xfrm flipH="1" flipV="1">
            <a:off x="6667180" y="2991936"/>
            <a:ext cx="1508376" cy="1664568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7B264EE-45E8-4CBD-85F2-F8B4B5129A50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6667180" y="1867482"/>
            <a:ext cx="0" cy="4932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3967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1393</Words>
  <Application>Microsoft Office PowerPoint</Application>
  <PresentationFormat>宽屏</PresentationFormat>
  <Paragraphs>323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Microsoft YaHei Light</vt:lpstr>
      <vt:lpstr>游ゴシック</vt:lpstr>
      <vt:lpstr>等线</vt:lpstr>
      <vt:lpstr>等线 Light</vt:lpstr>
      <vt:lpstr>SimSun</vt:lpstr>
      <vt:lpstr>微软雅黑</vt:lpstr>
      <vt:lpstr>Arial</vt:lpstr>
      <vt:lpstr>Calibri</vt:lpstr>
      <vt:lpstr>Calibri Light</vt:lpstr>
      <vt:lpstr>Consolas</vt:lpstr>
      <vt:lpstr>Times New Roman</vt:lpstr>
      <vt:lpstr>Office 主题​​</vt:lpstr>
      <vt:lpstr>自定义设计方案</vt:lpstr>
      <vt:lpstr>程序的执行</vt:lpstr>
      <vt:lpstr>elf文件</vt:lpstr>
      <vt:lpstr>示例程序</vt:lpstr>
      <vt:lpstr>编译</vt:lpstr>
      <vt:lpstr>elf文件的格式</vt:lpstr>
      <vt:lpstr>elf header</vt:lpstr>
      <vt:lpstr>elf header</vt:lpstr>
      <vt:lpstr>elf header</vt:lpstr>
      <vt:lpstr>elf文件的格式</vt:lpstr>
      <vt:lpstr>Section header</vt:lpstr>
      <vt:lpstr>Sections</vt:lpstr>
      <vt:lpstr>Section Name</vt:lpstr>
      <vt:lpstr>data&amp;bss</vt:lpstr>
      <vt:lpstr>PowerPoint 演示文稿</vt:lpstr>
      <vt:lpstr>PHs</vt:lpstr>
      <vt:lpstr>加载执行</vt:lpstr>
      <vt:lpstr>SPECIAL</vt:lpstr>
      <vt:lpstr>heap</vt:lpstr>
      <vt:lpstr>heap access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程序的执行</dc:title>
  <dc:creator>Yahuajiang(姜亚华)</dc:creator>
  <cp:lastModifiedBy>Yahuajiang(姜亚华)</cp:lastModifiedBy>
  <cp:revision>34</cp:revision>
  <dcterms:created xsi:type="dcterms:W3CDTF">2020-12-07T02:39:13Z</dcterms:created>
  <dcterms:modified xsi:type="dcterms:W3CDTF">2020-12-07T08:19:33Z</dcterms:modified>
</cp:coreProperties>
</file>