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3"/>
  </p:notesMasterIdLst>
  <p:sldIdLst>
    <p:sldId id="256" r:id="rId3"/>
    <p:sldId id="315" r:id="rId4"/>
    <p:sldId id="334" r:id="rId5"/>
    <p:sldId id="335" r:id="rId6"/>
    <p:sldId id="336" r:id="rId7"/>
    <p:sldId id="337" r:id="rId8"/>
    <p:sldId id="338" r:id="rId9"/>
    <p:sldId id="339" r:id="rId10"/>
    <p:sldId id="352" r:id="rId11"/>
    <p:sldId id="340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1" r:id="rId21"/>
    <p:sldId id="31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995" autoAdjust="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628D3-1FF9-49B5-888E-DEE94CF1FB3B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65D42-9E6F-4BED-A128-2B6A6861F4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2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665D42-9E6F-4BED-A128-2B6A6861F4D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254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4029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99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FC5D7D1-8984-4689-8EAC-485FB1251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694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7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55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60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92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0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97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0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563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82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372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881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45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869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86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30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337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669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454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925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31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162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28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B79B8-AE8A-4BFF-AFEA-84EF1BB3B2FA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19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6BD37-4C08-428F-92B6-89865318F690}" type="datetimeFigureOut">
              <a:rPr lang="zh-CN" altLang="en-US" smtClean="0"/>
              <a:t>2021/1/11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0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内存管理之</a:t>
            </a:r>
            <a:r>
              <a:rPr lang="en-US" altLang="zh-CN" dirty="0" smtClean="0"/>
              <a:t>page fault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 smtClean="0"/>
              <a:t>mmap</a:t>
            </a:r>
            <a:endParaRPr lang="en-US" altLang="zh-CN" b="1" dirty="0" smtClean="0"/>
          </a:p>
          <a:p>
            <a:r>
              <a:rPr lang="en-US" altLang="zh-CN" dirty="0" smtClean="0"/>
              <a:t>page fault</a:t>
            </a:r>
          </a:p>
        </p:txBody>
      </p:sp>
    </p:spTree>
    <p:extLst>
      <p:ext uri="{BB962C8B-B14F-4D97-AF65-F5344CB8AC3E}">
        <p14:creationId xmlns:p14="http://schemas.microsoft.com/office/powerpoint/2010/main" val="96023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mmap</a:t>
            </a:r>
            <a:endParaRPr lang="zh-CN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75360" y="1484701"/>
            <a:ext cx="478536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0784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void *mmap(void *</a:t>
            </a:r>
            <a:r>
              <a:rPr kumimoji="0" lang="zh-CN" altLang="zh-CN" sz="2800" b="0" i="1" u="none" strike="noStrike" cap="none" normalizeH="0" baseline="0" dirty="0" smtClean="0">
                <a:ln>
                  <a:noFill/>
                </a:ln>
                <a:solidFill>
                  <a:srgbClr val="006000"/>
                </a:solidFill>
                <a:effectLst/>
                <a:latin typeface="Arial Unicode MS"/>
                <a:ea typeface="Courier New" panose="02070309020205020404" pitchFamily="49" charset="0"/>
              </a:rPr>
              <a:t>addr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, 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rgbClr val="502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size_t </a:t>
            </a:r>
            <a:r>
              <a:rPr kumimoji="0" lang="zh-CN" altLang="zh-CN" sz="2800" b="0" i="1" u="none" strike="noStrike" cap="none" normalizeH="0" baseline="0" dirty="0" smtClean="0">
                <a:ln>
                  <a:noFill/>
                </a:ln>
                <a:solidFill>
                  <a:srgbClr val="006000"/>
                </a:solidFill>
                <a:effectLst/>
                <a:latin typeface="Arial Unicode MS"/>
                <a:ea typeface="Courier New" panose="02070309020205020404" pitchFamily="49" charset="0"/>
              </a:rPr>
              <a:t>length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, 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rgbClr val="502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int </a:t>
            </a:r>
            <a:r>
              <a:rPr kumimoji="0" lang="zh-CN" altLang="zh-CN" sz="2800" b="0" i="1" u="none" strike="noStrike" cap="none" normalizeH="0" baseline="0" dirty="0" smtClean="0">
                <a:ln>
                  <a:noFill/>
                </a:ln>
                <a:solidFill>
                  <a:srgbClr val="006000"/>
                </a:solidFill>
                <a:effectLst/>
                <a:latin typeface="Arial Unicode MS"/>
                <a:ea typeface="Courier New" panose="02070309020205020404" pitchFamily="49" charset="0"/>
              </a:rPr>
              <a:t>prot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, 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rgbClr val="502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int </a:t>
            </a:r>
            <a:r>
              <a:rPr kumimoji="0" lang="zh-CN" altLang="zh-CN" sz="2800" b="0" i="1" u="none" strike="noStrike" cap="none" normalizeH="0" baseline="0" dirty="0" smtClean="0">
                <a:ln>
                  <a:noFill/>
                </a:ln>
                <a:solidFill>
                  <a:srgbClr val="006000"/>
                </a:solidFill>
                <a:effectLst/>
                <a:latin typeface="Arial Unicode MS"/>
                <a:ea typeface="Courier New" panose="02070309020205020404" pitchFamily="49" charset="0"/>
              </a:rPr>
              <a:t>flags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,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rgbClr val="181818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int </a:t>
            </a:r>
            <a:r>
              <a:rPr kumimoji="0" lang="zh-CN" altLang="zh-CN" sz="2800" b="0" i="1" u="none" strike="noStrike" cap="none" normalizeH="0" baseline="0" dirty="0" smtClean="0">
                <a:ln>
                  <a:noFill/>
                </a:ln>
                <a:solidFill>
                  <a:srgbClr val="006000"/>
                </a:solidFill>
                <a:effectLst/>
                <a:latin typeface="Arial Unicode MS"/>
                <a:ea typeface="Courier New" panose="02070309020205020404" pitchFamily="49" charset="0"/>
              </a:rPr>
              <a:t>fd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, 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rgbClr val="502000"/>
              </a:solidFill>
              <a:effectLst/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           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off_t </a:t>
            </a:r>
            <a:r>
              <a:rPr kumimoji="0" lang="zh-CN" altLang="zh-CN" sz="2800" b="0" i="1" u="none" strike="noStrike" cap="none" normalizeH="0" baseline="0" dirty="0" smtClean="0">
                <a:ln>
                  <a:noFill/>
                </a:ln>
                <a:solidFill>
                  <a:srgbClr val="006000"/>
                </a:solidFill>
                <a:effectLst/>
                <a:latin typeface="Arial Unicode MS"/>
                <a:ea typeface="Courier New" panose="02070309020205020404" pitchFamily="49" charset="0"/>
              </a:rPr>
              <a:t>offset</a:t>
            </a: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502000"/>
                </a:solidFill>
                <a:effectLst/>
                <a:latin typeface="Arial Unicode MS"/>
                <a:ea typeface="Courier New" panose="02070309020205020404" pitchFamily="49" charset="0"/>
              </a:rPr>
              <a:t>);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08800" y="1484701"/>
            <a:ext cx="320040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Protection, read/write/exec/none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908800" y="2315698"/>
            <a:ext cx="320040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flags, </a:t>
            </a:r>
          </a:p>
          <a:p>
            <a:r>
              <a:rPr lang="en-US" altLang="zh-CN" sz="2400" dirty="0" smtClean="0"/>
              <a:t>shared/private/anon</a:t>
            </a:r>
            <a:endParaRPr lang="zh-CN" altLang="en-US" sz="2400" dirty="0"/>
          </a:p>
        </p:txBody>
      </p:sp>
      <p:cxnSp>
        <p:nvCxnSpPr>
          <p:cNvPr id="12" name="直接箭头连接符 11"/>
          <p:cNvCxnSpPr>
            <a:endCxn id="7" idx="1"/>
          </p:cNvCxnSpPr>
          <p:nvPr/>
        </p:nvCxnSpPr>
        <p:spPr>
          <a:xfrm flipV="1">
            <a:off x="4511040" y="1900200"/>
            <a:ext cx="2397760" cy="76172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8" idx="1"/>
          </p:cNvCxnSpPr>
          <p:nvPr/>
        </p:nvCxnSpPr>
        <p:spPr>
          <a:xfrm flipV="1">
            <a:off x="4699000" y="2731197"/>
            <a:ext cx="2209800" cy="34622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338320" y="4450936"/>
            <a:ext cx="577088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/>
              <a:t>abcdxxx</a:t>
            </a:r>
            <a:r>
              <a:rPr lang="en-US" altLang="zh-CN" sz="2400" dirty="0" smtClean="0"/>
              <a:t>……………………………………………………xx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908800" y="3435274"/>
            <a:ext cx="60960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file</a:t>
            </a:r>
            <a:endParaRPr lang="zh-CN" altLang="en-US" sz="2400" dirty="0"/>
          </a:p>
        </p:txBody>
      </p:sp>
      <p:cxnSp>
        <p:nvCxnSpPr>
          <p:cNvPr id="22" name="直接箭头连接符 21"/>
          <p:cNvCxnSpPr>
            <a:endCxn id="18" idx="1"/>
          </p:cNvCxnSpPr>
          <p:nvPr/>
        </p:nvCxnSpPr>
        <p:spPr>
          <a:xfrm>
            <a:off x="4226560" y="3484336"/>
            <a:ext cx="2682240" cy="18177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8" idx="2"/>
            <a:endCxn id="17" idx="0"/>
          </p:cNvCxnSpPr>
          <p:nvPr/>
        </p:nvCxnSpPr>
        <p:spPr>
          <a:xfrm>
            <a:off x="7213600" y="3896939"/>
            <a:ext cx="10160" cy="55399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933440" y="4182677"/>
            <a:ext cx="20320" cy="9786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4511040" y="4083052"/>
            <a:ext cx="1422400" cy="251094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878320" y="4192085"/>
            <a:ext cx="20320" cy="9786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左大括号 36"/>
          <p:cNvSpPr/>
          <p:nvPr/>
        </p:nvSpPr>
        <p:spPr>
          <a:xfrm rot="16200000">
            <a:off x="6288031" y="4835667"/>
            <a:ext cx="276340" cy="9448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6045200" y="538584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length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76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mmap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012440" cy="4351338"/>
          </a:xfrm>
        </p:spPr>
        <p:txBody>
          <a:bodyPr/>
          <a:lstStyle/>
          <a:p>
            <a:r>
              <a:rPr lang="zh-CN" altLang="en-US" dirty="0" smtClean="0"/>
              <a:t>查找可用的</a:t>
            </a:r>
            <a:r>
              <a:rPr lang="zh-CN" altLang="en-US" dirty="0"/>
              <a:t>区间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48887"/>
              </p:ext>
            </p:extLst>
          </p:nvPr>
        </p:nvGraphicFramePr>
        <p:xfrm>
          <a:off x="1511300" y="2436656"/>
          <a:ext cx="9177020" cy="3859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4741">
                  <a:extLst>
                    <a:ext uri="{9D8B030D-6E8A-4147-A177-3AD203B41FA5}">
                      <a16:colId xmlns:a16="http://schemas.microsoft.com/office/drawing/2014/main" val="2596374844"/>
                    </a:ext>
                  </a:extLst>
                </a:gridCol>
                <a:gridCol w="2389388">
                  <a:extLst>
                    <a:ext uri="{9D8B030D-6E8A-4147-A177-3AD203B41FA5}">
                      <a16:colId xmlns:a16="http://schemas.microsoft.com/office/drawing/2014/main" val="3484766821"/>
                    </a:ext>
                  </a:extLst>
                </a:gridCol>
                <a:gridCol w="4602891">
                  <a:extLst>
                    <a:ext uri="{9D8B030D-6E8A-4147-A177-3AD203B41FA5}">
                      <a16:colId xmlns:a16="http://schemas.microsoft.com/office/drawing/2014/main" val="495642424"/>
                    </a:ext>
                  </a:extLst>
                </a:gridCol>
              </a:tblGrid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0" spc="-25" dirty="0" err="1" smtClean="0">
                          <a:solidFill>
                            <a:srgbClr val="FF0000"/>
                          </a:solidFill>
                          <a:effectLst/>
                        </a:rPr>
                        <a:t>vm_area_struct</a:t>
                      </a:r>
                      <a:r>
                        <a:rPr lang="zh-CN" altLang="en-US" sz="1600" kern="0" spc="-25" dirty="0" smtClean="0">
                          <a:effectLst/>
                        </a:rPr>
                        <a:t>的</a:t>
                      </a:r>
                      <a:r>
                        <a:rPr lang="zh-CN" sz="1600" kern="0" spc="-25" dirty="0" smtClean="0">
                          <a:effectLst/>
                        </a:rPr>
                        <a:t>字段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类型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描述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2577768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vm_start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unsigned long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线性区间的开始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2264868"/>
                  </a:ext>
                </a:extLst>
              </a:tr>
              <a:tr h="34203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vm_end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>
                          <a:effectLst/>
                        </a:rPr>
                        <a:t>unsigned long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 dirty="0">
                          <a:effectLst/>
                        </a:rPr>
                        <a:t>线性区间的结束，实际的区间为</a:t>
                      </a:r>
                      <a:r>
                        <a:rPr lang="en-US" sz="1600" kern="0" spc="-25" dirty="0">
                          <a:effectLst/>
                        </a:rPr>
                        <a:t>[</a:t>
                      </a:r>
                      <a:r>
                        <a:rPr lang="en-US" sz="1600" kern="0" spc="-25" dirty="0" err="1">
                          <a:effectLst/>
                        </a:rPr>
                        <a:t>vm_start</a:t>
                      </a:r>
                      <a:r>
                        <a:rPr lang="en-US" sz="1600" kern="0" spc="-25" dirty="0">
                          <a:effectLst/>
                        </a:rPr>
                        <a:t>, </a:t>
                      </a:r>
                      <a:r>
                        <a:rPr lang="en-US" sz="1600" kern="0" spc="-25" dirty="0" err="1">
                          <a:effectLst/>
                        </a:rPr>
                        <a:t>vm_end</a:t>
                      </a:r>
                      <a:r>
                        <a:rPr lang="en-US" sz="1600" kern="0" spc="-25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1643466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vm_page_prot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pgprot_t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映射区域的保护方式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8008847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vm_flags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unsigned long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 dirty="0">
                          <a:effectLst/>
                        </a:rPr>
                        <a:t>映射的标志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4676542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vm_ops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vm_operations_struct</a:t>
                      </a:r>
                      <a:r>
                        <a:rPr lang="en-US" sz="1600" kern="0" spc="-25" dirty="0">
                          <a:effectLst/>
                        </a:rPr>
                        <a:t> *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映射的相关操作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602991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vm_file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>
                          <a:effectLst/>
                        </a:rPr>
                        <a:t>file *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映射的文件对应的</a:t>
                      </a:r>
                      <a:r>
                        <a:rPr lang="en-US" sz="1600" kern="0" spc="-25">
                          <a:effectLst/>
                        </a:rPr>
                        <a:t>file</a:t>
                      </a:r>
                      <a:r>
                        <a:rPr lang="zh-CN" sz="1600" kern="0" spc="-25">
                          <a:effectLst/>
                        </a:rPr>
                        <a:t>对象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7521294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vm_pgoff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>
                          <a:effectLst/>
                        </a:rPr>
                        <a:t>unsigned long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在文件内的偏移量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095953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vm_rb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rb_node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>
                          <a:effectLst/>
                        </a:rPr>
                        <a:t>将它插入红黑树中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6132062"/>
                  </a:ext>
                </a:extLst>
              </a:tr>
              <a:tr h="659846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vm_next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vm_prev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 dirty="0" err="1">
                          <a:effectLst/>
                        </a:rPr>
                        <a:t>vm_area_struct</a:t>
                      </a:r>
                      <a:r>
                        <a:rPr lang="en-US" sz="1600" kern="0" spc="-25" dirty="0">
                          <a:effectLst/>
                        </a:rPr>
                        <a:t> *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 dirty="0">
                          <a:effectLst/>
                        </a:rPr>
                        <a:t>将它链接到链表中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1028362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vm_mm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spc="-25">
                          <a:effectLst/>
                        </a:rPr>
                        <a:t>mm_struct *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spc="-25" dirty="0">
                          <a:effectLst/>
                        </a:rPr>
                        <a:t>所属的</a:t>
                      </a:r>
                      <a:r>
                        <a:rPr lang="en-US" sz="1600" kern="0" spc="-25" dirty="0" err="1">
                          <a:effectLst/>
                        </a:rPr>
                        <a:t>mm_struct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200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71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mmap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34160" y="1690688"/>
            <a:ext cx="7386320" cy="92333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file_operations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mmap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vm_area_struct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smtClean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矩形 5"/>
          <p:cNvSpPr/>
          <p:nvPr/>
        </p:nvSpPr>
        <p:spPr>
          <a:xfrm>
            <a:off x="1534160" y="3452336"/>
            <a:ext cx="7701280" cy="120032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call_mmap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vm_area_struct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f_op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mmap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(file,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3169920" y="2286000"/>
            <a:ext cx="1341120" cy="178816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282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file </a:t>
            </a:r>
            <a:r>
              <a:rPr lang="en-US" altLang="zh-CN" dirty="0" err="1" smtClean="0"/>
              <a:t>mmap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9760" y="1936879"/>
            <a:ext cx="7579360" cy="258532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my_mmap1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vm_area_struct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my_dev_data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dev_data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    //</a:t>
            </a:r>
            <a:r>
              <a:rPr lang="zh-CN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省略</a:t>
            </a:r>
            <a:endParaRPr lang="zh-CN" alt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dev_data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private_data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dev_data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io_addr1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    //</a:t>
            </a:r>
            <a:r>
              <a:rPr lang="zh-CN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省略</a:t>
            </a:r>
            <a:endParaRPr lang="zh-CN" alt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vm_iomap_memory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28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file </a:t>
            </a:r>
            <a:r>
              <a:rPr lang="en-US" altLang="zh-CN" dirty="0" err="1" smtClean="0"/>
              <a:t>mmap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584960" y="1977519"/>
            <a:ext cx="8229600" cy="230832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smtClean="0">
                <a:solidFill>
                  <a:srgbClr val="DCDCAA"/>
                </a:solidFill>
                <a:latin typeface="Consolas" panose="020B0609020204030204" pitchFamily="49" charset="0"/>
              </a:rPr>
              <a:t>my_mmap2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 smtClean="0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vm_area_struct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    //</a:t>
            </a:r>
            <a:r>
              <a:rPr lang="zh-CN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省略</a:t>
            </a:r>
            <a:endParaRPr lang="zh-CN" alt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page =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alloc_pages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(flags, order);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remap_pfn_range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vm_start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page_to_pfn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(page), size,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vm_page_prot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ret;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06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file </a:t>
            </a:r>
            <a:r>
              <a:rPr lang="en-US" altLang="zh-CN" dirty="0" err="1" smtClean="0"/>
              <a:t>mmap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63040" y="1690688"/>
            <a:ext cx="8605520" cy="452431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my_mmap_fault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vm_area_struct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area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vm_fault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area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 </a:t>
            </a:r>
            <a:r>
              <a:rPr lang="zh-CN" alt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page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alloc_page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(flag);</a:t>
            </a:r>
          </a:p>
          <a:p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    //do your work here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vm_operations_struct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my_file_mmap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.fault =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my_mmap_fault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my_mmap3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vm_area_struct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vm_ops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&amp;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my_file_mmap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059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brk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00960" y="1690688"/>
            <a:ext cx="6990080" cy="341632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vm_area_alloc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mm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(!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vm_unacct_memory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&gt;&gt;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PAGE_SHIFT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-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ENOMEM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vma_set_anonymous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vm_start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vm_end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+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vm_pgoff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pgoff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vm_flags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flags;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vm_page_prot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vm_get_page_prot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(flags);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9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内存管理之</a:t>
            </a:r>
            <a:r>
              <a:rPr lang="en-US" altLang="zh-CN" dirty="0" smtClean="0"/>
              <a:t>page fault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mmap</a:t>
            </a:r>
            <a:endParaRPr lang="en-US" altLang="zh-CN" dirty="0" smtClean="0"/>
          </a:p>
          <a:p>
            <a:r>
              <a:rPr lang="en-US" altLang="zh-CN" b="1" dirty="0" smtClean="0"/>
              <a:t>page fault</a:t>
            </a:r>
          </a:p>
        </p:txBody>
      </p:sp>
    </p:spTree>
    <p:extLst>
      <p:ext uri="{BB962C8B-B14F-4D97-AF65-F5344CB8AC3E}">
        <p14:creationId xmlns:p14="http://schemas.microsoft.com/office/powerpoint/2010/main" val="89624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page fault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79040" y="2029936"/>
            <a:ext cx="7010400" cy="203132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find_vma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mm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address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unlikely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(!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bad_area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regs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hw_error_code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address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zh-CN" dirty="0" smtClean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 smtClean="0">
                <a:solidFill>
                  <a:srgbClr val="DCDCAA"/>
                </a:solidFill>
                <a:latin typeface="Consolas" panose="020B0609020204030204" pitchFamily="49" charset="0"/>
              </a:rPr>
              <a:t>handle_mm_fault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smtClean="0">
                <a:solidFill>
                  <a:srgbClr val="9CDCFE"/>
                </a:solidFill>
                <a:latin typeface="Consolas" panose="020B0609020204030204" pitchFamily="49" charset="0"/>
              </a:rPr>
              <a:t>address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smtClean="0">
                <a:solidFill>
                  <a:srgbClr val="9CDCFE"/>
                </a:solidFill>
                <a:latin typeface="Consolas" panose="020B0609020204030204" pitchFamily="49" charset="0"/>
              </a:rPr>
              <a:t>flags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422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mapping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752600" cy="4351338"/>
          </a:xfrm>
        </p:spPr>
        <p:txBody>
          <a:bodyPr/>
          <a:lstStyle/>
          <a:p>
            <a:r>
              <a:rPr lang="en-US" altLang="zh-CN" dirty="0" smtClean="0"/>
              <a:t>mmap1</a:t>
            </a:r>
          </a:p>
          <a:p>
            <a:r>
              <a:rPr lang="en-US" altLang="zh-CN" dirty="0" smtClean="0"/>
              <a:t>mmap2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208535"/>
              </p:ext>
            </p:extLst>
          </p:nvPr>
        </p:nvGraphicFramePr>
        <p:xfrm>
          <a:off x="3483428" y="1114696"/>
          <a:ext cx="6920412" cy="5582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Visio" r:id="rId3" imgW="3695877" imgH="2979624" progId="Visio.Drawing.15">
                  <p:embed/>
                </p:oleObj>
              </mc:Choice>
              <mc:Fallback>
                <p:oleObj name="Visio" r:id="rId3" imgW="3695877" imgH="2979624" progId="Visio.Drawing.15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428" y="1114696"/>
                        <a:ext cx="6920412" cy="55825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6578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pte</a:t>
            </a:r>
            <a:r>
              <a:rPr lang="en-US" altLang="zh-CN" dirty="0" smtClean="0"/>
              <a:t> none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935480" cy="4351338"/>
          </a:xfrm>
        </p:spPr>
        <p:txBody>
          <a:bodyPr/>
          <a:lstStyle/>
          <a:p>
            <a:r>
              <a:rPr lang="en-US" altLang="zh-CN" dirty="0" err="1" smtClean="0"/>
              <a:t>pte_none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79" y="1445894"/>
            <a:ext cx="6622369" cy="534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3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pte</a:t>
            </a:r>
            <a:r>
              <a:rPr lang="en-US" altLang="zh-CN" dirty="0" smtClean="0"/>
              <a:t> none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85520" y="1771968"/>
            <a:ext cx="5466080" cy="175432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(!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pte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vma_is_anonymous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do_anonymous_page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do_fault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vmf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6380480" y="1619568"/>
            <a:ext cx="660400" cy="17637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40880" y="1433672"/>
            <a:ext cx="1960880" cy="371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zero page if !write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040880" y="3154502"/>
            <a:ext cx="196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alloc</a:t>
            </a:r>
            <a:r>
              <a:rPr lang="en-US" altLang="zh-CN" dirty="0" smtClean="0"/>
              <a:t> page if write</a:t>
            </a:r>
            <a:endParaRPr lang="zh-CN" altLang="en-US" dirty="0"/>
          </a:p>
        </p:txBody>
      </p:sp>
      <p:sp>
        <p:nvSpPr>
          <p:cNvPr id="9" name="左大括号 8"/>
          <p:cNvSpPr/>
          <p:nvPr/>
        </p:nvSpPr>
        <p:spPr>
          <a:xfrm rot="5400000">
            <a:off x="3523784" y="1380024"/>
            <a:ext cx="785792" cy="45618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20800" y="4053840"/>
            <a:ext cx="675640" cy="37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read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486150" y="4053840"/>
            <a:ext cx="86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shared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796280" y="4064000"/>
            <a:ext cx="86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cow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2708275" y="5022374"/>
            <a:ext cx="241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72A1BA"/>
                </a:solidFill>
                <a:ea typeface="Consolas" panose="020B0609020204030204" pitchFamily="49" charset="0"/>
              </a:rPr>
              <a:t>vma</a:t>
            </a:r>
            <a:r>
              <a:rPr lang="zh-CN" altLang="zh-CN" dirty="0">
                <a:solidFill>
                  <a:srgbClr val="979797"/>
                </a:solidFill>
                <a:ea typeface="Consolas" panose="020B0609020204030204" pitchFamily="49" charset="0"/>
              </a:rPr>
              <a:t>-&gt;</a:t>
            </a:r>
            <a:r>
              <a:rPr lang="zh-CN" altLang="zh-CN" dirty="0">
                <a:solidFill>
                  <a:srgbClr val="72A1BA"/>
                </a:solidFill>
                <a:ea typeface="Consolas" panose="020B0609020204030204" pitchFamily="49" charset="0"/>
              </a:rPr>
              <a:t>vm_ops</a:t>
            </a:r>
            <a:r>
              <a:rPr lang="zh-CN" altLang="zh-CN" dirty="0">
                <a:solidFill>
                  <a:srgbClr val="979797"/>
                </a:solidFill>
                <a:ea typeface="Consolas" panose="020B0609020204030204" pitchFamily="49" charset="0"/>
              </a:rPr>
              <a:t>-&gt;</a:t>
            </a:r>
            <a:r>
              <a:rPr lang="zh-CN" altLang="zh-CN" dirty="0" smtClean="0">
                <a:solidFill>
                  <a:srgbClr val="989875"/>
                </a:solidFill>
                <a:highlight>
                  <a:srgbClr val="FFFF00"/>
                </a:highlight>
                <a:ea typeface="Consolas" panose="020B0609020204030204" pitchFamily="49" charset="0"/>
              </a:rPr>
              <a:t>fault</a:t>
            </a:r>
            <a:r>
              <a:rPr lang="en-US" altLang="zh-CN" dirty="0" smtClean="0">
                <a:solidFill>
                  <a:srgbClr val="989875"/>
                </a:solidFill>
                <a:highlight>
                  <a:srgbClr val="FFFF00"/>
                </a:highlight>
                <a:ea typeface="Consolas" panose="020B0609020204030204" pitchFamily="49" charset="0"/>
              </a:rPr>
              <a:t>()</a:t>
            </a:r>
            <a:endParaRPr lang="zh-CN" altLang="en-US" dirty="0"/>
          </a:p>
        </p:txBody>
      </p:sp>
      <p:cxnSp>
        <p:nvCxnSpPr>
          <p:cNvPr id="15" name="直接箭头连接符 14"/>
          <p:cNvCxnSpPr>
            <a:stCxn id="10" idx="2"/>
            <a:endCxn id="13" idx="0"/>
          </p:cNvCxnSpPr>
          <p:nvPr/>
        </p:nvCxnSpPr>
        <p:spPr>
          <a:xfrm>
            <a:off x="1658620" y="4426406"/>
            <a:ext cx="2258060" cy="595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2"/>
            <a:endCxn id="13" idx="0"/>
          </p:cNvCxnSpPr>
          <p:nvPr/>
        </p:nvCxnSpPr>
        <p:spPr>
          <a:xfrm flipH="1">
            <a:off x="3916680" y="4433332"/>
            <a:ext cx="2310130" cy="589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1" idx="2"/>
            <a:endCxn id="13" idx="0"/>
          </p:cNvCxnSpPr>
          <p:nvPr/>
        </p:nvCxnSpPr>
        <p:spPr>
          <a:xfrm>
            <a:off x="3916680" y="4423172"/>
            <a:ext cx="0" cy="599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710680" y="5027276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cow_page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6710680" y="5670096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copy page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6710680" y="6276956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map </a:t>
            </a:r>
            <a:r>
              <a:rPr lang="en-US" altLang="zh-CN" dirty="0" err="1" smtClean="0"/>
              <a:t>cow_page</a:t>
            </a:r>
            <a:endParaRPr lang="zh-CN" altLang="en-US" dirty="0"/>
          </a:p>
        </p:txBody>
      </p:sp>
      <p:cxnSp>
        <p:nvCxnSpPr>
          <p:cNvPr id="26" name="直接箭头连接符 25"/>
          <p:cNvCxnSpPr>
            <a:stCxn id="12" idx="2"/>
            <a:endCxn id="23" idx="0"/>
          </p:cNvCxnSpPr>
          <p:nvPr/>
        </p:nvCxnSpPr>
        <p:spPr>
          <a:xfrm>
            <a:off x="6226810" y="4433332"/>
            <a:ext cx="1334770" cy="593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3" idx="2"/>
            <a:endCxn id="24" idx="0"/>
          </p:cNvCxnSpPr>
          <p:nvPr/>
        </p:nvCxnSpPr>
        <p:spPr>
          <a:xfrm>
            <a:off x="7561580" y="5396608"/>
            <a:ext cx="0" cy="273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4" idx="2"/>
            <a:endCxn id="25" idx="0"/>
          </p:cNvCxnSpPr>
          <p:nvPr/>
        </p:nvCxnSpPr>
        <p:spPr>
          <a:xfrm>
            <a:off x="7561580" y="6039428"/>
            <a:ext cx="0" cy="23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427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swap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341880" cy="4351338"/>
          </a:xfrm>
        </p:spPr>
        <p:txBody>
          <a:bodyPr/>
          <a:lstStyle/>
          <a:p>
            <a:r>
              <a:rPr lang="zh-CN" altLang="zh-CN" dirty="0"/>
              <a:t>!pte_present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39" y="1161413"/>
            <a:ext cx="7157721" cy="577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14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swap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32480" y="1930400"/>
            <a:ext cx="1544320" cy="2042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page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471920" y="1808480"/>
            <a:ext cx="2641600" cy="76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en-US" altLang="zh-CN" dirty="0" err="1" smtClean="0">
                <a:solidFill>
                  <a:schemeClr val="tx1"/>
                </a:solidFill>
              </a:rPr>
              <a:t>swapfile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71920" y="2570480"/>
            <a:ext cx="2641600" cy="76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71920" y="3332480"/>
            <a:ext cx="2641600" cy="76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4" idx="3"/>
            <a:endCxn id="5" idx="1"/>
          </p:cNvCxnSpPr>
          <p:nvPr/>
        </p:nvCxnSpPr>
        <p:spPr>
          <a:xfrm flipV="1">
            <a:off x="4876800" y="2189480"/>
            <a:ext cx="1595120" cy="76200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257800" y="2189480"/>
            <a:ext cx="68072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write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75640" y="2550160"/>
            <a:ext cx="1427480" cy="20421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alloc</a:t>
            </a:r>
            <a:endParaRPr lang="zh-CN" altLang="en-US" dirty="0"/>
          </a:p>
        </p:txBody>
      </p:sp>
      <p:cxnSp>
        <p:nvCxnSpPr>
          <p:cNvPr id="16" name="直接箭头连接符 15"/>
          <p:cNvCxnSpPr>
            <a:stCxn id="14" idx="3"/>
            <a:endCxn id="4" idx="1"/>
          </p:cNvCxnSpPr>
          <p:nvPr/>
        </p:nvCxnSpPr>
        <p:spPr>
          <a:xfrm flipV="1">
            <a:off x="2103120" y="2951480"/>
            <a:ext cx="1229360" cy="61976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390900" y="4592320"/>
            <a:ext cx="1427480" cy="20421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alloc</a:t>
            </a:r>
            <a:endParaRPr lang="zh-CN" altLang="en-US" dirty="0"/>
          </a:p>
        </p:txBody>
      </p:sp>
      <p:cxnSp>
        <p:nvCxnSpPr>
          <p:cNvPr id="22" name="直接箭头连接符 21"/>
          <p:cNvCxnSpPr>
            <a:stCxn id="4" idx="2"/>
            <a:endCxn id="20" idx="0"/>
          </p:cNvCxnSpPr>
          <p:nvPr/>
        </p:nvCxnSpPr>
        <p:spPr>
          <a:xfrm>
            <a:off x="4104640" y="3972560"/>
            <a:ext cx="0" cy="619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65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swap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559" y="845026"/>
            <a:ext cx="7455578" cy="601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96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579880" cy="4351338"/>
          </a:xfrm>
        </p:spPr>
        <p:txBody>
          <a:bodyPr/>
          <a:lstStyle/>
          <a:p>
            <a:r>
              <a:rPr lang="en-US" altLang="zh-CN" dirty="0" smtClean="0"/>
              <a:t>private</a:t>
            </a:r>
          </a:p>
          <a:p>
            <a:r>
              <a:rPr lang="en-US" altLang="zh-CN" dirty="0" smtClean="0"/>
              <a:t>write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959" y="917574"/>
            <a:ext cx="7264843" cy="585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19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COW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739" y="1416368"/>
            <a:ext cx="7108522" cy="483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38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COW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34" y="1609724"/>
            <a:ext cx="9116685" cy="484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2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67992" y="2583809"/>
            <a:ext cx="38505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 smtClean="0"/>
              <a:t>Thanks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103860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868</Words>
  <Application>Microsoft Office PowerPoint</Application>
  <PresentationFormat>宽屏</PresentationFormat>
  <Paragraphs>157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 Unicode MS</vt:lpstr>
      <vt:lpstr>Microsoft YaHei Light</vt:lpstr>
      <vt:lpstr>等线</vt:lpstr>
      <vt:lpstr>等线 Light</vt:lpstr>
      <vt:lpstr>宋体</vt:lpstr>
      <vt:lpstr>微软雅黑</vt:lpstr>
      <vt:lpstr>Arial</vt:lpstr>
      <vt:lpstr>Calibri</vt:lpstr>
      <vt:lpstr>Consolas</vt:lpstr>
      <vt:lpstr>Courier New</vt:lpstr>
      <vt:lpstr>Times New Roman</vt:lpstr>
      <vt:lpstr>Office 主题​​</vt:lpstr>
      <vt:lpstr>自定义设计方案</vt:lpstr>
      <vt:lpstr>Visio</vt:lpstr>
      <vt:lpstr>内存管理之page fault</vt:lpstr>
      <vt:lpstr>mmap</vt:lpstr>
      <vt:lpstr>mmap</vt:lpstr>
      <vt:lpstr>mmap</vt:lpstr>
      <vt:lpstr>file mmap</vt:lpstr>
      <vt:lpstr>file mmap</vt:lpstr>
      <vt:lpstr>file mmap</vt:lpstr>
      <vt:lpstr>brk</vt:lpstr>
      <vt:lpstr>内存管理之page fault</vt:lpstr>
      <vt:lpstr>page fault</vt:lpstr>
      <vt:lpstr>mapping</vt:lpstr>
      <vt:lpstr>pte none</vt:lpstr>
      <vt:lpstr>pte none</vt:lpstr>
      <vt:lpstr>swap</vt:lpstr>
      <vt:lpstr>swap</vt:lpstr>
      <vt:lpstr>swap</vt:lpstr>
      <vt:lpstr>COW</vt:lpstr>
      <vt:lpstr>COW</vt:lpstr>
      <vt:lpstr>COW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程序的执行</dc:title>
  <dc:creator>Yahuajiang(姜亚华)</dc:creator>
  <cp:lastModifiedBy>Yahua Jiang(姜亚华)</cp:lastModifiedBy>
  <cp:revision>237</cp:revision>
  <dcterms:created xsi:type="dcterms:W3CDTF">2020-12-07T02:39:13Z</dcterms:created>
  <dcterms:modified xsi:type="dcterms:W3CDTF">2021-01-11T03:17:29Z</dcterms:modified>
</cp:coreProperties>
</file>